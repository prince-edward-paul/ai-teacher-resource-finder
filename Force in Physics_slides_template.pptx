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3.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Lst>
  <p:sldSz cx="18288000" cy="10287000"/>
  <p:notesSz cx="6858000" cy="9144000"/>
  <p:embeddedFontLst>
    <p:embeddedFont>
      <p:font typeface="Helvetica World" panose="020B0604020202020204" charset="-128"/>
      <p:regular r:id="rId14"/>
    </p:embeddedFont>
    <p:embeddedFont>
      <p:font typeface="Helvetica World Bold" panose="020B0604020202020204" charset="-128"/>
      <p:regular r:id="rId15"/>
    </p:embeddedFont>
    <p:embeddedFont>
      <p:font typeface="Georgia Pro Condensed" panose="020B0604020202020204" charset="0"/>
      <p:regular r:id="rId16"/>
    </p:embeddedFont>
    <p:embeddedFont>
      <p:font typeface="Calibri" panose="020F0502020204030204" pitchFamily="3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11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png"/><Relationship Id="rId5" Type="http://schemas.openxmlformats.org/officeDocument/2006/relationships/image" Target="../media/image1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eg"/><Relationship Id="rId3" Type="http://schemas.openxmlformats.org/officeDocument/2006/relationships/image" Target="../media/image11.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eg"/><Relationship Id="rId3" Type="http://schemas.openxmlformats.org/officeDocument/2006/relationships/image" Target="../media/image1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eg"/><Relationship Id="rId3" Type="http://schemas.openxmlformats.org/officeDocument/2006/relationships/image" Target="../media/image2.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0" y="-12700"/>
            <a:ext cx="11201400" cy="10299700"/>
            <a:chOff x="0" y="0"/>
            <a:chExt cx="963348" cy="885799"/>
          </a:xfrm>
        </p:grpSpPr>
        <p:sp>
          <p:nvSpPr>
            <p:cNvPr id="3" name="Freeform 3"/>
            <p:cNvSpPr/>
            <p:nvPr/>
          </p:nvSpPr>
          <p:spPr>
            <a:xfrm>
              <a:off x="0" y="0"/>
              <a:ext cx="963348" cy="885799"/>
            </a:xfrm>
            <a:custGeom>
              <a:avLst/>
              <a:gdLst/>
              <a:ahLst/>
              <a:cxnLst/>
              <a:rect l="l" t="t" r="r" b="b"/>
              <a:pathLst>
                <a:path w="963348" h="885799">
                  <a:moveTo>
                    <a:pt x="0" y="0"/>
                  </a:moveTo>
                  <a:lnTo>
                    <a:pt x="963348" y="0"/>
                  </a:lnTo>
                  <a:lnTo>
                    <a:pt x="963348" y="885799"/>
                  </a:lnTo>
                  <a:lnTo>
                    <a:pt x="0" y="885799"/>
                  </a:lnTo>
                  <a:close/>
                </a:path>
              </a:pathLst>
            </a:custGeom>
            <a:solidFill>
              <a:srgbClr val="F4F6F8"/>
            </a:solidFill>
            <a:ln w="12700">
              <a:solidFill>
                <a:srgbClr val="000000"/>
              </a:solidFill>
            </a:ln>
          </p:spPr>
        </p:sp>
      </p:grpSp>
      <p:grpSp>
        <p:nvGrpSpPr>
          <p:cNvPr id="4" name="Group 4"/>
          <p:cNvGrpSpPr/>
          <p:nvPr/>
        </p:nvGrpSpPr>
        <p:grpSpPr>
          <a:xfrm>
            <a:off x="11868150"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666750" y="9001760"/>
            <a:ext cx="6886575" cy="593752"/>
          </a:xfrm>
          <a:prstGeom prst="rect">
            <a:avLst/>
          </a:prstGeom>
        </p:spPr>
        <p:txBody>
          <a:bodyPr lIns="0" tIns="0" rIns="0" bIns="0" rtlCol="0" anchor="t">
            <a:spAutoFit/>
          </a:bodyPr>
          <a:lstStyle/>
          <a:p>
            <a:pPr marL="0" lvl="0" indent="0" algn="l">
              <a:lnSpc>
                <a:spcPts val="4940"/>
              </a:lnSpc>
            </a:pPr>
            <a:r>
              <a:rPr lang="en-US" sz="3800" u="none" strike="noStrike" spc="-57" dirty="0" smtClean="0">
                <a:solidFill>
                  <a:srgbClr val="1C1C1C"/>
                </a:solidFill>
                <a:latin typeface="Helvetica World"/>
                <a:ea typeface="Helvetica World"/>
                <a:cs typeface="Helvetica World"/>
                <a:sym typeface="Helvetica World"/>
              </a:rPr>
              <a:t>by Mr. Edward Paul</a:t>
            </a:r>
            <a:endParaRPr lang="en-US" sz="3800" u="none" strike="noStrike" spc="-57" dirty="0">
              <a:solidFill>
                <a:srgbClr val="1C1C1C"/>
              </a:solidFill>
              <a:latin typeface="Helvetica World"/>
              <a:ea typeface="Helvetica World"/>
              <a:cs typeface="Helvetica World"/>
              <a:sym typeface="Helvetica World"/>
            </a:endParaRPr>
          </a:p>
        </p:txBody>
      </p:sp>
      <p:sp>
        <p:nvSpPr>
          <p:cNvPr id="7" name="TextBox 7"/>
          <p:cNvSpPr txBox="1"/>
          <p:nvPr/>
        </p:nvSpPr>
        <p:spPr>
          <a:xfrm>
            <a:off x="675380" y="975068"/>
            <a:ext cx="9754495" cy="5790084"/>
          </a:xfrm>
          <a:prstGeom prst="rect">
            <a:avLst/>
          </a:prstGeom>
        </p:spPr>
        <p:txBody>
          <a:bodyPr lIns="0" tIns="0" rIns="0" bIns="0" rtlCol="0" anchor="t">
            <a:spAutoFit/>
          </a:bodyPr>
          <a:lstStyle/>
          <a:p>
            <a:pPr marL="0" lvl="0" indent="0" algn="l">
              <a:lnSpc>
                <a:spcPts val="14956"/>
              </a:lnSpc>
            </a:pPr>
            <a:r>
              <a:rPr lang="en-US" sz="14956" u="none" strike="noStrike" spc="-523">
                <a:solidFill>
                  <a:srgbClr val="2A3A66"/>
                </a:solidFill>
                <a:latin typeface="Georgia Pro Condensed"/>
                <a:ea typeface="Georgia Pro Condensed"/>
                <a:cs typeface="Georgia Pro Condensed"/>
                <a:sym typeface="Georgia Pro Condensed"/>
              </a:rPr>
              <a:t>Algorithms: Searching and Sorting</a:t>
            </a:r>
          </a:p>
        </p:txBody>
      </p:sp>
      <p:sp>
        <p:nvSpPr>
          <p:cNvPr id="8" name="Freeform 8"/>
          <p:cNvSpPr/>
          <p:nvPr/>
        </p:nvSpPr>
        <p:spPr>
          <a:xfrm rot="-3117037">
            <a:off x="8947742" y="7656091"/>
            <a:ext cx="2112604" cy="1859092"/>
          </a:xfrm>
          <a:custGeom>
            <a:avLst/>
            <a:gdLst/>
            <a:ahLst/>
            <a:cxnLst/>
            <a:rect l="l" t="t" r="r" b="b"/>
            <a:pathLst>
              <a:path w="2112604" h="1859092">
                <a:moveTo>
                  <a:pt x="0" y="0"/>
                </a:moveTo>
                <a:lnTo>
                  <a:pt x="2112604" y="0"/>
                </a:lnTo>
                <a:lnTo>
                  <a:pt x="2112604" y="1859091"/>
                </a:lnTo>
                <a:lnTo>
                  <a:pt x="0" y="185909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2</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2944475" cy="3581400"/>
            <a:chOff x="0" y="0"/>
            <a:chExt cx="17259300" cy="4775200"/>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Understanding Algorithms</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Their Importance in Computer Science</a:t>
              </a:r>
            </a:p>
          </p:txBody>
        </p:sp>
        <p:sp>
          <p:nvSpPr>
            <p:cNvPr id="9" name="TextBox 9"/>
            <p:cNvSpPr txBox="1"/>
            <p:nvPr/>
          </p:nvSpPr>
          <p:spPr>
            <a:xfrm>
              <a:off x="0" y="3059641"/>
              <a:ext cx="13512134" cy="1715559"/>
            </a:xfrm>
            <a:prstGeom prst="rect">
              <a:avLst/>
            </a:prstGeom>
          </p:spPr>
          <p:txBody>
            <a:bodyPr lIns="0" tIns="0" rIns="0" bIns="0" rtlCol="0" anchor="t">
              <a:spAutoFit/>
            </a:bodyPr>
            <a:lstStyle/>
            <a:p>
              <a:pPr marL="0" lvl="0" indent="0" algn="l">
                <a:lnSpc>
                  <a:spcPts val="3499"/>
                </a:lnSpc>
              </a:pPr>
              <a:r>
                <a:rPr lang="en-US" sz="2499" spc="-37">
                  <a:solidFill>
                    <a:srgbClr val="1C1C1C"/>
                  </a:solidFill>
                  <a:latin typeface="Helvetica World"/>
                  <a:ea typeface="Helvetica World"/>
                  <a:cs typeface="Helvetica World"/>
                  <a:sym typeface="Helvetica World"/>
                </a:rPr>
                <a:t>Algorithms are essential, defined as step-by-step procedures for solving problems. They enable computers to efficiently process information, making them a fundamental aspect of computer science and programming.</a:t>
              </a: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08300"/>
            <a:ext cx="5448300" cy="6711950"/>
            <a:chOff x="0" y="0"/>
            <a:chExt cx="1434943" cy="1767756"/>
          </a:xfrm>
        </p:grpSpPr>
        <p:sp>
          <p:nvSpPr>
            <p:cNvPr id="3" name="Freeform 3"/>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4" name="TextBox 4"/>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5" name="Group 5"/>
          <p:cNvGrpSpPr/>
          <p:nvPr/>
        </p:nvGrpSpPr>
        <p:grpSpPr>
          <a:xfrm>
            <a:off x="6419850" y="2908300"/>
            <a:ext cx="5448300" cy="6711950"/>
            <a:chOff x="0" y="0"/>
            <a:chExt cx="1434943" cy="1767756"/>
          </a:xfrm>
        </p:grpSpPr>
        <p:sp>
          <p:nvSpPr>
            <p:cNvPr id="6" name="Freeform 6"/>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7" name="TextBox 7"/>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8" name="Group 8"/>
          <p:cNvGrpSpPr/>
          <p:nvPr/>
        </p:nvGrpSpPr>
        <p:grpSpPr>
          <a:xfrm>
            <a:off x="12172950" y="2908300"/>
            <a:ext cx="5448300" cy="6711950"/>
            <a:chOff x="0" y="0"/>
            <a:chExt cx="1434943" cy="1767756"/>
          </a:xfrm>
        </p:grpSpPr>
        <p:sp>
          <p:nvSpPr>
            <p:cNvPr id="9" name="Freeform 9"/>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10" name="TextBox 10"/>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11" name="Group 11"/>
          <p:cNvGrpSpPr/>
          <p:nvPr/>
        </p:nvGrpSpPr>
        <p:grpSpPr>
          <a:xfrm>
            <a:off x="1066053" y="4248150"/>
            <a:ext cx="4649694" cy="3581400"/>
            <a:chOff x="0" y="0"/>
            <a:chExt cx="1259398" cy="970044"/>
          </a:xfrm>
        </p:grpSpPr>
        <p:sp>
          <p:nvSpPr>
            <p:cNvPr id="12" name="Freeform 12"/>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2"/>
              <a:stretch>
                <a:fillRect l="-342" r="-342"/>
              </a:stretch>
            </a:blipFill>
          </p:spPr>
        </p:sp>
      </p:grpSp>
      <p:grpSp>
        <p:nvGrpSpPr>
          <p:cNvPr id="13" name="Group 13"/>
          <p:cNvGrpSpPr/>
          <p:nvPr/>
        </p:nvGrpSpPr>
        <p:grpSpPr>
          <a:xfrm>
            <a:off x="6819153" y="4248150"/>
            <a:ext cx="4649694" cy="3581400"/>
            <a:chOff x="0" y="0"/>
            <a:chExt cx="1259398" cy="970044"/>
          </a:xfrm>
        </p:grpSpPr>
        <p:sp>
          <p:nvSpPr>
            <p:cNvPr id="14" name="Freeform 14"/>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3"/>
              <a:stretch>
                <a:fillRect l="-342" r="-342"/>
              </a:stretch>
            </a:blipFill>
          </p:spPr>
        </p:sp>
      </p:grpSp>
      <p:grpSp>
        <p:nvGrpSpPr>
          <p:cNvPr id="15" name="Group 15"/>
          <p:cNvGrpSpPr/>
          <p:nvPr/>
        </p:nvGrpSpPr>
        <p:grpSpPr>
          <a:xfrm>
            <a:off x="12572253" y="4248150"/>
            <a:ext cx="4649694" cy="3581400"/>
            <a:chOff x="0" y="0"/>
            <a:chExt cx="1259398" cy="970044"/>
          </a:xfrm>
        </p:grpSpPr>
        <p:sp>
          <p:nvSpPr>
            <p:cNvPr id="16" name="Freeform 16"/>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4"/>
              <a:stretch>
                <a:fillRect l="-342" r="-342"/>
              </a:stretch>
            </a:blipFill>
          </p:spPr>
        </p:sp>
      </p:grpSp>
      <p:sp>
        <p:nvSpPr>
          <p:cNvPr id="17" name="TextBox 17"/>
          <p:cNvSpPr txBox="1"/>
          <p:nvPr/>
        </p:nvSpPr>
        <p:spPr>
          <a:xfrm>
            <a:off x="1021783" y="8282996"/>
            <a:ext cx="4738234"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Understand how algorithms locate data effectively through different searching techniques.</a:t>
            </a:r>
          </a:p>
        </p:txBody>
      </p:sp>
      <p:sp>
        <p:nvSpPr>
          <p:cNvPr id="18" name="TextBox 18"/>
          <p:cNvSpPr txBox="1"/>
          <p:nvPr/>
        </p:nvSpPr>
        <p:spPr>
          <a:xfrm>
            <a:off x="1041066" y="3381375"/>
            <a:ext cx="4699667"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Search Algorithms</a:t>
            </a:r>
          </a:p>
        </p:txBody>
      </p:sp>
      <p:sp>
        <p:nvSpPr>
          <p:cNvPr id="19" name="TextBox 19"/>
          <p:cNvSpPr txBox="1"/>
          <p:nvPr/>
        </p:nvSpPr>
        <p:spPr>
          <a:xfrm>
            <a:off x="6773192" y="8282996"/>
            <a:ext cx="4741615"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Learn the efficiency differences between linear and binary search methods in data retrieval.</a:t>
            </a:r>
          </a:p>
        </p:txBody>
      </p:sp>
      <p:sp>
        <p:nvSpPr>
          <p:cNvPr id="20" name="TextBox 20"/>
          <p:cNvSpPr txBox="1"/>
          <p:nvPr/>
        </p:nvSpPr>
        <p:spPr>
          <a:xfrm>
            <a:off x="6773192" y="3381375"/>
            <a:ext cx="4741615"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Compare Efficiencies</a:t>
            </a:r>
          </a:p>
        </p:txBody>
      </p:sp>
      <p:sp>
        <p:nvSpPr>
          <p:cNvPr id="21" name="TextBox 21"/>
          <p:cNvSpPr txBox="1"/>
          <p:nvPr/>
        </p:nvSpPr>
        <p:spPr>
          <a:xfrm>
            <a:off x="12551109" y="8281844"/>
            <a:ext cx="4691983"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Understand the basics of bubble sort and how it organizes data through comparisons.</a:t>
            </a:r>
          </a:p>
        </p:txBody>
      </p:sp>
      <p:sp>
        <p:nvSpPr>
          <p:cNvPr id="22" name="TextBox 22"/>
          <p:cNvSpPr txBox="1"/>
          <p:nvPr/>
        </p:nvSpPr>
        <p:spPr>
          <a:xfrm>
            <a:off x="12551109" y="3381375"/>
            <a:ext cx="4691983" cy="543561"/>
          </a:xfrm>
          <a:prstGeom prst="rect">
            <a:avLst/>
          </a:prstGeom>
        </p:spPr>
        <p:txBody>
          <a:bodyPr lIns="0" tIns="0" rIns="0" bIns="0" rtlCol="0" anchor="t">
            <a:spAutoFit/>
          </a:bodyPr>
          <a:lstStyle/>
          <a:p>
            <a:pPr marL="0" lvl="0" indent="0" algn="ctr">
              <a:lnSpc>
                <a:spcPts val="4180"/>
              </a:lnSpc>
            </a:pPr>
            <a:r>
              <a:rPr lang="en-US" sz="3800" spc="-95">
                <a:solidFill>
                  <a:srgbClr val="2A3A66"/>
                </a:solidFill>
                <a:latin typeface="Georgia Pro Condensed"/>
                <a:ea typeface="Georgia Pro Condensed"/>
                <a:cs typeface="Georgia Pro Condensed"/>
                <a:sym typeface="Georgia Pro Condensed"/>
              </a:rPr>
              <a:t>Bubble Sort</a:t>
            </a:r>
          </a:p>
        </p:txBody>
      </p:sp>
      <p:sp>
        <p:nvSpPr>
          <p:cNvPr id="23" name="TextBox 23"/>
          <p:cNvSpPr txBox="1"/>
          <p:nvPr/>
        </p:nvSpPr>
        <p:spPr>
          <a:xfrm>
            <a:off x="666750" y="809625"/>
            <a:ext cx="16954500" cy="1069976"/>
          </a:xfrm>
          <a:prstGeom prst="rect">
            <a:avLst/>
          </a:prstGeom>
        </p:spPr>
        <p:txBody>
          <a:bodyPr lIns="0" tIns="0" rIns="0" bIns="0" rtlCol="0" anchor="t">
            <a:spAutoFit/>
          </a:bodyPr>
          <a:lstStyle/>
          <a:p>
            <a:pPr marL="0" lvl="0" indent="0" algn="ctr">
              <a:lnSpc>
                <a:spcPts val="8000"/>
              </a:lnSpc>
            </a:pPr>
            <a:r>
              <a:rPr lang="en-US" sz="8000" spc="-200">
                <a:solidFill>
                  <a:srgbClr val="F4F6F8"/>
                </a:solidFill>
                <a:latin typeface="Georgia Pro Condensed"/>
                <a:ea typeface="Georgia Pro Condensed"/>
                <a:cs typeface="Georgia Pro Condensed"/>
                <a:sym typeface="Georgia Pro Condensed"/>
              </a:rPr>
              <a:t>Learning 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4</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Linear Search</a:t>
              </a:r>
            </a:p>
          </p:txBody>
        </p:sp>
        <p:sp>
          <p:nvSpPr>
            <p:cNvPr id="8" name="TextBox 8"/>
            <p:cNvSpPr txBox="1"/>
            <p:nvPr/>
          </p:nvSpPr>
          <p:spPr>
            <a:xfrm>
              <a:off x="0" y="2187687"/>
              <a:ext cx="176657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Sequential Scanning for Data Retrieval</a:t>
              </a:r>
            </a:p>
          </p:txBody>
        </p:sp>
      </p:grpSp>
      <p:grpSp>
        <p:nvGrpSpPr>
          <p:cNvPr id="9" name="Group 9"/>
          <p:cNvGrpSpPr/>
          <p:nvPr/>
        </p:nvGrpSpPr>
        <p:grpSpPr>
          <a:xfrm>
            <a:off x="1800225" y="5143500"/>
            <a:ext cx="4308497" cy="2197100"/>
            <a:chOff x="0" y="0"/>
            <a:chExt cx="5744662" cy="2929467"/>
          </a:xfrm>
        </p:grpSpPr>
        <p:sp>
          <p:nvSpPr>
            <p:cNvPr id="10" name="TextBox 10"/>
            <p:cNvSpPr txBox="1"/>
            <p:nvPr/>
          </p:nvSpPr>
          <p:spPr>
            <a:xfrm>
              <a:off x="0" y="0"/>
              <a:ext cx="5744662"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Definition</a:t>
              </a:r>
            </a:p>
          </p:txBody>
        </p:sp>
        <p:sp>
          <p:nvSpPr>
            <p:cNvPr id="11" name="TextBox 11"/>
            <p:cNvSpPr txBox="1"/>
            <p:nvPr/>
          </p:nvSpPr>
          <p:spPr>
            <a:xfrm>
              <a:off x="0" y="1060450"/>
              <a:ext cx="5744662" cy="18690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Linear search is a straightforward algorithm that checks each element in a list sequentially until it finds the target value or reaches the end of the list.</a:t>
              </a:r>
            </a:p>
          </p:txBody>
        </p:sp>
      </p:grpSp>
      <p:grpSp>
        <p:nvGrpSpPr>
          <p:cNvPr id="12" name="Group 12"/>
          <p:cNvGrpSpPr/>
          <p:nvPr/>
        </p:nvGrpSpPr>
        <p:grpSpPr>
          <a:xfrm>
            <a:off x="7291388" y="5143500"/>
            <a:ext cx="4010025" cy="2549525"/>
            <a:chOff x="0" y="0"/>
            <a:chExt cx="5346700" cy="3399367"/>
          </a:xfrm>
        </p:grpSpPr>
        <p:sp>
          <p:nvSpPr>
            <p:cNvPr id="13" name="TextBox 13"/>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Simple Mechanism</a:t>
              </a:r>
            </a:p>
          </p:txBody>
        </p:sp>
        <p:sp>
          <p:nvSpPr>
            <p:cNvPr id="14" name="TextBox 14"/>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This method is easy to implement but can be inefficient for large datasets, as it might require examining every single item before locating the desired information.</a:t>
              </a:r>
            </a:p>
          </p:txBody>
        </p:sp>
      </p:grpSp>
      <p:grpSp>
        <p:nvGrpSpPr>
          <p:cNvPr id="15" name="Group 15"/>
          <p:cNvGrpSpPr/>
          <p:nvPr/>
        </p:nvGrpSpPr>
        <p:grpSpPr>
          <a:xfrm>
            <a:off x="12172950" y="5143500"/>
            <a:ext cx="4010025" cy="2549525"/>
            <a:chOff x="0" y="0"/>
            <a:chExt cx="5346700" cy="3399367"/>
          </a:xfrm>
        </p:grpSpPr>
        <p:sp>
          <p:nvSpPr>
            <p:cNvPr id="16" name="TextBox 16"/>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Use Cases</a:t>
              </a:r>
            </a:p>
          </p:txBody>
        </p:sp>
        <p:sp>
          <p:nvSpPr>
            <p:cNvPr id="17" name="TextBox 17"/>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Linear search is particularly useful for small or unsorted datasets where quick implementation is necessary, making it an ideal choice for simple search tasks.</a:t>
              </a:r>
            </a:p>
          </p:txBody>
        </p:sp>
      </p:grpSp>
      <p:sp>
        <p:nvSpPr>
          <p:cNvPr id="18" name="Freeform 1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9BCEB"/>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5</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4F6F8"/>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Binary Search</a:t>
              </a:r>
            </a:p>
          </p:txBody>
        </p:sp>
        <p:sp>
          <p:nvSpPr>
            <p:cNvPr id="8" name="TextBox 8"/>
            <p:cNvSpPr txBox="1"/>
            <p:nvPr/>
          </p:nvSpPr>
          <p:spPr>
            <a:xfrm>
              <a:off x="0" y="2187687"/>
              <a:ext cx="176657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Divide and Conquer Method Explained</a:t>
              </a:r>
            </a:p>
          </p:txBody>
        </p:sp>
      </p:grpSp>
      <p:grpSp>
        <p:nvGrpSpPr>
          <p:cNvPr id="9" name="Group 9"/>
          <p:cNvGrpSpPr/>
          <p:nvPr/>
        </p:nvGrpSpPr>
        <p:grpSpPr>
          <a:xfrm>
            <a:off x="1800225" y="5143500"/>
            <a:ext cx="4308497" cy="2197100"/>
            <a:chOff x="0" y="0"/>
            <a:chExt cx="5744662" cy="2929467"/>
          </a:xfrm>
        </p:grpSpPr>
        <p:sp>
          <p:nvSpPr>
            <p:cNvPr id="10" name="TextBox 10"/>
            <p:cNvSpPr txBox="1"/>
            <p:nvPr/>
          </p:nvSpPr>
          <p:spPr>
            <a:xfrm>
              <a:off x="0" y="0"/>
              <a:ext cx="5744662"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Definition</a:t>
              </a:r>
            </a:p>
          </p:txBody>
        </p:sp>
        <p:sp>
          <p:nvSpPr>
            <p:cNvPr id="11" name="TextBox 11"/>
            <p:cNvSpPr txBox="1"/>
            <p:nvPr/>
          </p:nvSpPr>
          <p:spPr>
            <a:xfrm>
              <a:off x="0" y="1060450"/>
              <a:ext cx="5744662" cy="18690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Binary search is a fast search algorithm that finds the position of a target value within a sorted array, using a divide-and-conquer strategy for efficiency.</a:t>
              </a:r>
            </a:p>
          </p:txBody>
        </p:sp>
      </p:grpSp>
      <p:grpSp>
        <p:nvGrpSpPr>
          <p:cNvPr id="12" name="Group 12"/>
          <p:cNvGrpSpPr/>
          <p:nvPr/>
        </p:nvGrpSpPr>
        <p:grpSpPr>
          <a:xfrm>
            <a:off x="7291388" y="5143500"/>
            <a:ext cx="4010025" cy="2549525"/>
            <a:chOff x="0" y="0"/>
            <a:chExt cx="5346700" cy="3399367"/>
          </a:xfrm>
        </p:grpSpPr>
        <p:sp>
          <p:nvSpPr>
            <p:cNvPr id="13" name="TextBox 13"/>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Mechanism</a:t>
              </a:r>
            </a:p>
          </p:txBody>
        </p:sp>
        <p:sp>
          <p:nvSpPr>
            <p:cNvPr id="14" name="TextBox 14"/>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The algorithm repeatedly divides the search interval in half; comparing the target value to the middle element, it narrows down the potential location until the target is found.</a:t>
              </a:r>
            </a:p>
          </p:txBody>
        </p:sp>
      </p:grpSp>
      <p:grpSp>
        <p:nvGrpSpPr>
          <p:cNvPr id="15" name="Group 15"/>
          <p:cNvGrpSpPr/>
          <p:nvPr/>
        </p:nvGrpSpPr>
        <p:grpSpPr>
          <a:xfrm>
            <a:off x="12172950" y="5143500"/>
            <a:ext cx="4010025" cy="2901950"/>
            <a:chOff x="0" y="0"/>
            <a:chExt cx="5346700" cy="3869267"/>
          </a:xfrm>
        </p:grpSpPr>
        <p:sp>
          <p:nvSpPr>
            <p:cNvPr id="16" name="TextBox 16"/>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Requirements</a:t>
              </a:r>
            </a:p>
          </p:txBody>
        </p:sp>
        <p:sp>
          <p:nvSpPr>
            <p:cNvPr id="17" name="TextBox 17"/>
            <p:cNvSpPr txBox="1"/>
            <p:nvPr/>
          </p:nvSpPr>
          <p:spPr>
            <a:xfrm>
              <a:off x="0" y="1060450"/>
              <a:ext cx="5346700" cy="28088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For binary search to work, the data must be sorted beforehand; this prerequisite allows the algorithm to efficiently eliminate half of the remaining elements with each comparison.</a:t>
              </a:r>
            </a:p>
          </p:txBody>
        </p:sp>
      </p:grpSp>
      <p:sp>
        <p:nvSpPr>
          <p:cNvPr id="18" name="Freeform 1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CCFFE"/>
        </a:solidFill>
        <a:effectLst/>
      </p:bgPr>
    </p:bg>
    <p:spTree>
      <p:nvGrpSpPr>
        <p:cNvPr id="1" name=""/>
        <p:cNvGrpSpPr/>
        <p:nvPr/>
      </p:nvGrpSpPr>
      <p:grpSpPr>
        <a:xfrm>
          <a:off x="0" y="0"/>
          <a:ext cx="0" cy="0"/>
          <a:chOff x="0" y="0"/>
          <a:chExt cx="0" cy="0"/>
        </a:xfrm>
      </p:grpSpPr>
      <p:grpSp>
        <p:nvGrpSpPr>
          <p:cNvPr id="2" name="Group 2"/>
          <p:cNvGrpSpPr/>
          <p:nvPr/>
        </p:nvGrpSpPr>
        <p:grpSpPr>
          <a:xfrm>
            <a:off x="9296400" y="666750"/>
            <a:ext cx="4010025" cy="6716121"/>
            <a:chOff x="0" y="0"/>
            <a:chExt cx="698915" cy="1170566"/>
          </a:xfrm>
        </p:grpSpPr>
        <p:sp>
          <p:nvSpPr>
            <p:cNvPr id="3" name="Freeform 3"/>
            <p:cNvSpPr/>
            <p:nvPr/>
          </p:nvSpPr>
          <p:spPr>
            <a:xfrm>
              <a:off x="0" y="0"/>
              <a:ext cx="698915" cy="1170566"/>
            </a:xfrm>
            <a:custGeom>
              <a:avLst/>
              <a:gdLst/>
              <a:ahLst/>
              <a:cxnLst/>
              <a:rect l="l" t="t" r="r" b="b"/>
              <a:pathLst>
                <a:path w="698915" h="1170566">
                  <a:moveTo>
                    <a:pt x="38613" y="0"/>
                  </a:moveTo>
                  <a:lnTo>
                    <a:pt x="660302" y="0"/>
                  </a:lnTo>
                  <a:cubicBezTo>
                    <a:pt x="681627" y="0"/>
                    <a:pt x="698915" y="17288"/>
                    <a:pt x="698915" y="38613"/>
                  </a:cubicBezTo>
                  <a:lnTo>
                    <a:pt x="698915" y="1131953"/>
                  </a:lnTo>
                  <a:cubicBezTo>
                    <a:pt x="698915" y="1142194"/>
                    <a:pt x="694847" y="1152015"/>
                    <a:pt x="687606" y="1159256"/>
                  </a:cubicBezTo>
                  <a:cubicBezTo>
                    <a:pt x="680364" y="1166498"/>
                    <a:pt x="670543" y="1170566"/>
                    <a:pt x="660302" y="1170566"/>
                  </a:cubicBezTo>
                  <a:lnTo>
                    <a:pt x="38613" y="1170566"/>
                  </a:lnTo>
                  <a:cubicBezTo>
                    <a:pt x="17288" y="1170566"/>
                    <a:pt x="0" y="1153278"/>
                    <a:pt x="0" y="1131953"/>
                  </a:cubicBezTo>
                  <a:lnTo>
                    <a:pt x="0" y="38613"/>
                  </a:lnTo>
                  <a:cubicBezTo>
                    <a:pt x="0" y="17288"/>
                    <a:pt x="17288" y="0"/>
                    <a:pt x="38613" y="0"/>
                  </a:cubicBezTo>
                  <a:close/>
                </a:path>
              </a:pathLst>
            </a:custGeom>
            <a:blipFill>
              <a:blip r:embed="rId2"/>
              <a:stretch>
                <a:fillRect t="-279" b="-279"/>
              </a:stretch>
            </a:blipFill>
            <a:ln cap="sq">
              <a:noFill/>
              <a:prstDash val="solid"/>
              <a:miter/>
            </a:ln>
          </p:spPr>
        </p:sp>
      </p:grpSp>
      <p:grpSp>
        <p:nvGrpSpPr>
          <p:cNvPr id="4" name="Group 4"/>
          <p:cNvGrpSpPr/>
          <p:nvPr/>
        </p:nvGrpSpPr>
        <p:grpSpPr>
          <a:xfrm>
            <a:off x="13611225" y="666750"/>
            <a:ext cx="4010025" cy="6716121"/>
            <a:chOff x="0" y="0"/>
            <a:chExt cx="698915" cy="1170566"/>
          </a:xfrm>
        </p:grpSpPr>
        <p:sp>
          <p:nvSpPr>
            <p:cNvPr id="5" name="Freeform 5"/>
            <p:cNvSpPr/>
            <p:nvPr/>
          </p:nvSpPr>
          <p:spPr>
            <a:xfrm>
              <a:off x="0" y="0"/>
              <a:ext cx="698915" cy="1170566"/>
            </a:xfrm>
            <a:custGeom>
              <a:avLst/>
              <a:gdLst/>
              <a:ahLst/>
              <a:cxnLst/>
              <a:rect l="l" t="t" r="r" b="b"/>
              <a:pathLst>
                <a:path w="698915" h="1170566">
                  <a:moveTo>
                    <a:pt x="38613" y="0"/>
                  </a:moveTo>
                  <a:lnTo>
                    <a:pt x="660302" y="0"/>
                  </a:lnTo>
                  <a:cubicBezTo>
                    <a:pt x="681627" y="0"/>
                    <a:pt x="698915" y="17288"/>
                    <a:pt x="698915" y="38613"/>
                  </a:cubicBezTo>
                  <a:lnTo>
                    <a:pt x="698915" y="1131953"/>
                  </a:lnTo>
                  <a:cubicBezTo>
                    <a:pt x="698915" y="1142194"/>
                    <a:pt x="694847" y="1152015"/>
                    <a:pt x="687606" y="1159256"/>
                  </a:cubicBezTo>
                  <a:cubicBezTo>
                    <a:pt x="680364" y="1166498"/>
                    <a:pt x="670543" y="1170566"/>
                    <a:pt x="660302" y="1170566"/>
                  </a:cubicBezTo>
                  <a:lnTo>
                    <a:pt x="38613" y="1170566"/>
                  </a:lnTo>
                  <a:cubicBezTo>
                    <a:pt x="17288" y="1170566"/>
                    <a:pt x="0" y="1153278"/>
                    <a:pt x="0" y="1131953"/>
                  </a:cubicBezTo>
                  <a:lnTo>
                    <a:pt x="0" y="38613"/>
                  </a:lnTo>
                  <a:cubicBezTo>
                    <a:pt x="0" y="17288"/>
                    <a:pt x="17288" y="0"/>
                    <a:pt x="38613" y="0"/>
                  </a:cubicBezTo>
                  <a:close/>
                </a:path>
              </a:pathLst>
            </a:custGeom>
            <a:blipFill>
              <a:blip r:embed="rId3"/>
              <a:stretch>
                <a:fillRect t="-279" b="-279"/>
              </a:stretch>
            </a:blipFill>
            <a:ln cap="sq">
              <a:noFill/>
              <a:prstDash val="solid"/>
              <a:miter/>
            </a:ln>
          </p:spPr>
        </p:sp>
      </p:grpSp>
      <p:grpSp>
        <p:nvGrpSpPr>
          <p:cNvPr id="6" name="Group 6"/>
          <p:cNvGrpSpPr/>
          <p:nvPr/>
        </p:nvGrpSpPr>
        <p:grpSpPr>
          <a:xfrm>
            <a:off x="0" y="0"/>
            <a:ext cx="7858125" cy="10287000"/>
            <a:chOff x="0" y="0"/>
            <a:chExt cx="2069630" cy="2709333"/>
          </a:xfrm>
        </p:grpSpPr>
        <p:sp>
          <p:nvSpPr>
            <p:cNvPr id="7" name="Freeform 7"/>
            <p:cNvSpPr/>
            <p:nvPr/>
          </p:nvSpPr>
          <p:spPr>
            <a:xfrm>
              <a:off x="0" y="0"/>
              <a:ext cx="2069630" cy="2709333"/>
            </a:xfrm>
            <a:custGeom>
              <a:avLst/>
              <a:gdLst/>
              <a:ahLst/>
              <a:cxnLst/>
              <a:rect l="l" t="t" r="r" b="b"/>
              <a:pathLst>
                <a:path w="2069630" h="2709333">
                  <a:moveTo>
                    <a:pt x="0" y="0"/>
                  </a:moveTo>
                  <a:lnTo>
                    <a:pt x="2069630" y="0"/>
                  </a:lnTo>
                  <a:lnTo>
                    <a:pt x="2069630" y="2709333"/>
                  </a:lnTo>
                  <a:lnTo>
                    <a:pt x="0" y="2709333"/>
                  </a:lnTo>
                  <a:close/>
                </a:path>
              </a:pathLst>
            </a:custGeom>
            <a:solidFill>
              <a:srgbClr val="2A3A66"/>
            </a:solidFill>
            <a:ln cap="sq">
              <a:noFill/>
              <a:prstDash val="solid"/>
              <a:miter/>
            </a:ln>
          </p:spPr>
        </p:sp>
        <p:sp>
          <p:nvSpPr>
            <p:cNvPr id="8" name="TextBox 8"/>
            <p:cNvSpPr txBox="1"/>
            <p:nvPr/>
          </p:nvSpPr>
          <p:spPr>
            <a:xfrm>
              <a:off x="0" y="-57150"/>
              <a:ext cx="2069630" cy="2766483"/>
            </a:xfrm>
            <a:prstGeom prst="rect">
              <a:avLst/>
            </a:prstGeom>
          </p:spPr>
          <p:txBody>
            <a:bodyPr lIns="50800" tIns="50800" rIns="50800" bIns="50800" rtlCol="0" anchor="ctr"/>
            <a:lstStyle/>
            <a:p>
              <a:pPr marL="0" lvl="0" indent="0" algn="ctr">
                <a:lnSpc>
                  <a:spcPts val="3359"/>
                </a:lnSpc>
              </a:pPr>
              <a:endParaRPr/>
            </a:p>
          </p:txBody>
        </p:sp>
      </p:grpSp>
      <p:grpSp>
        <p:nvGrpSpPr>
          <p:cNvPr id="9" name="Group 9"/>
          <p:cNvGrpSpPr/>
          <p:nvPr/>
        </p:nvGrpSpPr>
        <p:grpSpPr>
          <a:xfrm>
            <a:off x="9296400" y="7829550"/>
            <a:ext cx="2876550" cy="1231011"/>
            <a:chOff x="0" y="0"/>
            <a:chExt cx="3835400" cy="1641348"/>
          </a:xfrm>
        </p:grpSpPr>
        <p:sp>
          <p:nvSpPr>
            <p:cNvPr id="10" name="TextBox 10"/>
            <p:cNvSpPr txBox="1"/>
            <p:nvPr/>
          </p:nvSpPr>
          <p:spPr>
            <a:xfrm>
              <a:off x="0" y="-9525"/>
              <a:ext cx="3835400"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2A3A66"/>
                  </a:solidFill>
                  <a:latin typeface="Helvetica World Bold"/>
                  <a:ea typeface="Helvetica World Bold"/>
                  <a:cs typeface="Helvetica World Bold"/>
                  <a:sym typeface="Helvetica World Bold"/>
                </a:rPr>
                <a:t>Efficiency</a:t>
              </a:r>
            </a:p>
          </p:txBody>
        </p:sp>
        <p:sp>
          <p:nvSpPr>
            <p:cNvPr id="11" name="TextBox 11"/>
            <p:cNvSpPr txBox="1"/>
            <p:nvPr/>
          </p:nvSpPr>
          <p:spPr>
            <a:xfrm>
              <a:off x="0" y="779653"/>
              <a:ext cx="3835400" cy="861695"/>
            </a:xfrm>
            <a:prstGeom prst="rect">
              <a:avLst/>
            </a:prstGeom>
          </p:spPr>
          <p:txBody>
            <a:bodyPr lIns="0" tIns="0" rIns="0" bIns="0" rtlCol="0" anchor="t">
              <a:spAutoFit/>
            </a:bodyPr>
            <a:lstStyle/>
            <a:p>
              <a:pPr marL="0" lvl="0" indent="0" algn="l">
                <a:lnSpc>
                  <a:spcPts val="2580"/>
                </a:lnSpc>
                <a:spcBef>
                  <a:spcPct val="0"/>
                </a:spcBef>
              </a:pPr>
              <a:r>
                <a:rPr lang="en-US" sz="2000" u="none" strike="noStrike" spc="-30">
                  <a:solidFill>
                    <a:srgbClr val="1C1C1C"/>
                  </a:solidFill>
                  <a:latin typeface="Helvetica World"/>
                  <a:ea typeface="Helvetica World"/>
                  <a:cs typeface="Helvetica World"/>
                  <a:sym typeface="Helvetica World"/>
                </a:rPr>
                <a:t>Linear search has O(n) time complexity.</a:t>
              </a:r>
            </a:p>
          </p:txBody>
        </p:sp>
      </p:grpSp>
      <p:grpSp>
        <p:nvGrpSpPr>
          <p:cNvPr id="12" name="Group 12"/>
          <p:cNvGrpSpPr/>
          <p:nvPr/>
        </p:nvGrpSpPr>
        <p:grpSpPr>
          <a:xfrm>
            <a:off x="13611225" y="7865173"/>
            <a:ext cx="2876550" cy="1231011"/>
            <a:chOff x="0" y="0"/>
            <a:chExt cx="3835400" cy="1641348"/>
          </a:xfrm>
        </p:grpSpPr>
        <p:sp>
          <p:nvSpPr>
            <p:cNvPr id="13" name="TextBox 13"/>
            <p:cNvSpPr txBox="1"/>
            <p:nvPr/>
          </p:nvSpPr>
          <p:spPr>
            <a:xfrm>
              <a:off x="0" y="-9525"/>
              <a:ext cx="3835400"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2A3A66"/>
                  </a:solidFill>
                  <a:latin typeface="Helvetica World Bold"/>
                  <a:ea typeface="Helvetica World Bold"/>
                  <a:cs typeface="Helvetica World Bold"/>
                  <a:sym typeface="Helvetica World Bold"/>
                </a:rPr>
                <a:t>Pros and Cons</a:t>
              </a:r>
            </a:p>
          </p:txBody>
        </p:sp>
        <p:sp>
          <p:nvSpPr>
            <p:cNvPr id="14" name="TextBox 14"/>
            <p:cNvSpPr txBox="1"/>
            <p:nvPr/>
          </p:nvSpPr>
          <p:spPr>
            <a:xfrm>
              <a:off x="0" y="779653"/>
              <a:ext cx="3835400" cy="861695"/>
            </a:xfrm>
            <a:prstGeom prst="rect">
              <a:avLst/>
            </a:prstGeom>
          </p:spPr>
          <p:txBody>
            <a:bodyPr lIns="0" tIns="0" rIns="0" bIns="0" rtlCol="0" anchor="t">
              <a:spAutoFit/>
            </a:bodyPr>
            <a:lstStyle/>
            <a:p>
              <a:pPr marL="0" lvl="0" indent="0" algn="l">
                <a:lnSpc>
                  <a:spcPts val="2580"/>
                </a:lnSpc>
                <a:spcBef>
                  <a:spcPct val="0"/>
                </a:spcBef>
              </a:pPr>
              <a:r>
                <a:rPr lang="en-US" sz="2000" u="none" strike="noStrike" spc="-30">
                  <a:solidFill>
                    <a:srgbClr val="1C1C1C"/>
                  </a:solidFill>
                  <a:latin typeface="Helvetica World"/>
                  <a:ea typeface="Helvetica World"/>
                  <a:cs typeface="Helvetica World"/>
                  <a:sym typeface="Helvetica World"/>
                </a:rPr>
                <a:t>Binary search is faster but needs sorted data.</a:t>
              </a:r>
            </a:p>
          </p:txBody>
        </p:sp>
      </p:grpSp>
      <p:sp>
        <p:nvSpPr>
          <p:cNvPr id="15" name="TextBox 15"/>
          <p:cNvSpPr txBox="1"/>
          <p:nvPr/>
        </p:nvSpPr>
        <p:spPr>
          <a:xfrm>
            <a:off x="666750" y="733425"/>
            <a:ext cx="7021245" cy="4492627"/>
          </a:xfrm>
          <a:prstGeom prst="rect">
            <a:avLst/>
          </a:prstGeom>
        </p:spPr>
        <p:txBody>
          <a:bodyPr lIns="0" tIns="0" rIns="0" bIns="0" rtlCol="0" anchor="t">
            <a:spAutoFit/>
          </a:bodyPr>
          <a:lstStyle/>
          <a:p>
            <a:pPr marL="0" lvl="0" indent="0" algn="l">
              <a:lnSpc>
                <a:spcPts val="8800"/>
              </a:lnSpc>
            </a:pPr>
            <a:r>
              <a:rPr lang="en-US" sz="8000" spc="-240">
                <a:solidFill>
                  <a:srgbClr val="F4F6F8"/>
                </a:solidFill>
                <a:latin typeface="Georgia Pro Condensed"/>
                <a:ea typeface="Georgia Pro Condensed"/>
                <a:cs typeface="Georgia Pro Condensed"/>
                <a:sym typeface="Georgia Pro Condensed"/>
              </a:rPr>
              <a:t>Comparing Efficiency of Search Algorithms</a:t>
            </a:r>
          </a:p>
        </p:txBody>
      </p:sp>
      <p:sp>
        <p:nvSpPr>
          <p:cNvPr id="16" name="Freeform 16"/>
          <p:cNvSpPr/>
          <p:nvPr/>
        </p:nvSpPr>
        <p:spPr>
          <a:xfrm>
            <a:off x="708153" y="7606302"/>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9BCEB"/>
        </a:solidFill>
        <a:effectLst/>
      </p:bgPr>
    </p:bg>
    <p:spTree>
      <p:nvGrpSpPr>
        <p:cNvPr id="1" name=""/>
        <p:cNvGrpSpPr/>
        <p:nvPr/>
      </p:nvGrpSpPr>
      <p:grpSpPr>
        <a:xfrm>
          <a:off x="0" y="0"/>
          <a:ext cx="0" cy="0"/>
          <a:chOff x="0" y="0"/>
          <a:chExt cx="0" cy="0"/>
        </a:xfrm>
      </p:grpSpPr>
      <p:sp>
        <p:nvSpPr>
          <p:cNvPr id="2" name="TextBox 2"/>
          <p:cNvSpPr txBox="1"/>
          <p:nvPr/>
        </p:nvSpPr>
        <p:spPr>
          <a:xfrm>
            <a:off x="669118" y="3357562"/>
            <a:ext cx="5445932"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Linear Search</a:t>
            </a:r>
          </a:p>
        </p:txBody>
      </p:sp>
      <p:sp>
        <p:nvSpPr>
          <p:cNvPr id="3" name="TextBox 3"/>
          <p:cNvSpPr txBox="1"/>
          <p:nvPr/>
        </p:nvSpPr>
        <p:spPr>
          <a:xfrm>
            <a:off x="669118" y="5086350"/>
            <a:ext cx="5445932" cy="1416050"/>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In linear search, each element is examined sequentially until the target is found. This straightforward approach is effective for small or unsorted datasets, but can be slow for larger lists.</a:t>
            </a:r>
          </a:p>
        </p:txBody>
      </p:sp>
      <p:sp>
        <p:nvSpPr>
          <p:cNvPr id="4" name="TextBox 4"/>
          <p:cNvSpPr txBox="1"/>
          <p:nvPr/>
        </p:nvSpPr>
        <p:spPr>
          <a:xfrm>
            <a:off x="6419850" y="3357562"/>
            <a:ext cx="5446184"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Binary Search</a:t>
            </a:r>
          </a:p>
        </p:txBody>
      </p:sp>
      <p:sp>
        <p:nvSpPr>
          <p:cNvPr id="5" name="TextBox 5"/>
          <p:cNvSpPr txBox="1"/>
          <p:nvPr/>
        </p:nvSpPr>
        <p:spPr>
          <a:xfrm>
            <a:off x="6421966" y="5086350"/>
            <a:ext cx="5446184" cy="1768475"/>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Binary search requires a sorted list, dividing the search space in half repeatedly, which drastically reduces the number of checks needed to find the target value, making it more efficient than linear search.</a:t>
            </a:r>
          </a:p>
        </p:txBody>
      </p:sp>
      <p:sp>
        <p:nvSpPr>
          <p:cNvPr id="6" name="TextBox 6"/>
          <p:cNvSpPr txBox="1"/>
          <p:nvPr/>
        </p:nvSpPr>
        <p:spPr>
          <a:xfrm>
            <a:off x="12172950" y="3357562"/>
            <a:ext cx="5448300"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Efficiency Comparison</a:t>
            </a:r>
          </a:p>
        </p:txBody>
      </p:sp>
      <p:sp>
        <p:nvSpPr>
          <p:cNvPr id="7" name="TextBox 7"/>
          <p:cNvSpPr txBox="1"/>
          <p:nvPr/>
        </p:nvSpPr>
        <p:spPr>
          <a:xfrm>
            <a:off x="12172950" y="5086350"/>
            <a:ext cx="5448300" cy="1768475"/>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Comparing the two searches, linear search has a time complexity of O(n), while binary search operates at O(log n), highlighting the significant efficiency gained through the divide-and-conquer strategy of binary search.</a:t>
            </a:r>
          </a:p>
        </p:txBody>
      </p:sp>
      <p:sp>
        <p:nvSpPr>
          <p:cNvPr id="8" name="AutoShape 8"/>
          <p:cNvSpPr/>
          <p:nvPr/>
        </p:nvSpPr>
        <p:spPr>
          <a:xfrm>
            <a:off x="992968" y="4410075"/>
            <a:ext cx="17607376" cy="0"/>
          </a:xfrm>
          <a:prstGeom prst="line">
            <a:avLst/>
          </a:prstGeom>
          <a:ln w="19050" cap="flat">
            <a:solidFill>
              <a:srgbClr val="2A3A66"/>
            </a:solidFill>
            <a:prstDash val="solid"/>
            <a:headEnd type="none" w="sm" len="sm"/>
            <a:tailEnd type="none" w="sm" len="sm"/>
          </a:ln>
        </p:spPr>
      </p:sp>
      <p:grpSp>
        <p:nvGrpSpPr>
          <p:cNvPr id="9" name="Group 9"/>
          <p:cNvGrpSpPr/>
          <p:nvPr/>
        </p:nvGrpSpPr>
        <p:grpSpPr>
          <a:xfrm>
            <a:off x="669118" y="4248150"/>
            <a:ext cx="323850" cy="32385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grpSp>
        <p:nvGrpSpPr>
          <p:cNvPr id="11" name="Group 11"/>
          <p:cNvGrpSpPr/>
          <p:nvPr/>
        </p:nvGrpSpPr>
        <p:grpSpPr>
          <a:xfrm>
            <a:off x="6421966" y="4248150"/>
            <a:ext cx="323850" cy="323850"/>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grpSp>
        <p:nvGrpSpPr>
          <p:cNvPr id="13" name="Group 13"/>
          <p:cNvGrpSpPr/>
          <p:nvPr/>
        </p:nvGrpSpPr>
        <p:grpSpPr>
          <a:xfrm>
            <a:off x="12172950" y="4248150"/>
            <a:ext cx="323850" cy="323850"/>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sp>
        <p:nvSpPr>
          <p:cNvPr id="15" name="TextBox 15"/>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a:solidFill>
                  <a:srgbClr val="2A3A66"/>
                </a:solidFill>
                <a:latin typeface="Georgia Pro Condensed"/>
                <a:ea typeface="Georgia Pro Condensed"/>
                <a:cs typeface="Georgia Pro Condensed"/>
                <a:sym typeface="Georgia Pro Condensed"/>
              </a:rPr>
              <a:t>Algorithm Tracing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8</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pPr>
              <a:endParaRPr/>
            </a:p>
          </p:txBody>
        </p:sp>
      </p:grpSp>
      <p:grpSp>
        <p:nvGrpSpPr>
          <p:cNvPr id="6" name="Group 6"/>
          <p:cNvGrpSpPr/>
          <p:nvPr/>
        </p:nvGrpSpPr>
        <p:grpSpPr>
          <a:xfrm>
            <a:off x="1800225" y="1562100"/>
            <a:ext cx="12944475" cy="2067009"/>
            <a:chOff x="0" y="0"/>
            <a:chExt cx="17259300" cy="2756012"/>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Bubble Sort</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Introducing Sorting Algorithms and Their Importance</a:t>
              </a:r>
            </a:p>
          </p:txBody>
        </p:sp>
      </p:grpSp>
      <p:sp>
        <p:nvSpPr>
          <p:cNvPr id="9" name="Freeform 9"/>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08300"/>
            <a:ext cx="5448300" cy="6711950"/>
            <a:chOff x="0" y="0"/>
            <a:chExt cx="1434943" cy="1767756"/>
          </a:xfrm>
        </p:grpSpPr>
        <p:sp>
          <p:nvSpPr>
            <p:cNvPr id="3" name="Freeform 3"/>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4" name="TextBox 4"/>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5" name="Group 5"/>
          <p:cNvGrpSpPr/>
          <p:nvPr/>
        </p:nvGrpSpPr>
        <p:grpSpPr>
          <a:xfrm>
            <a:off x="6419850" y="2908300"/>
            <a:ext cx="5448300" cy="6711950"/>
            <a:chOff x="0" y="0"/>
            <a:chExt cx="1434943" cy="1767756"/>
          </a:xfrm>
        </p:grpSpPr>
        <p:sp>
          <p:nvSpPr>
            <p:cNvPr id="6" name="Freeform 6"/>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7" name="TextBox 7"/>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8" name="Group 8"/>
          <p:cNvGrpSpPr/>
          <p:nvPr/>
        </p:nvGrpSpPr>
        <p:grpSpPr>
          <a:xfrm>
            <a:off x="12172950" y="2908300"/>
            <a:ext cx="5448300" cy="6711950"/>
            <a:chOff x="0" y="0"/>
            <a:chExt cx="1434943" cy="1767756"/>
          </a:xfrm>
        </p:grpSpPr>
        <p:sp>
          <p:nvSpPr>
            <p:cNvPr id="9" name="Freeform 9"/>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10" name="TextBox 10"/>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11" name="Group 11"/>
          <p:cNvGrpSpPr/>
          <p:nvPr/>
        </p:nvGrpSpPr>
        <p:grpSpPr>
          <a:xfrm>
            <a:off x="1066053" y="4248150"/>
            <a:ext cx="4649694" cy="3581400"/>
            <a:chOff x="0" y="0"/>
            <a:chExt cx="1259398" cy="970044"/>
          </a:xfrm>
        </p:grpSpPr>
        <p:sp>
          <p:nvSpPr>
            <p:cNvPr id="12" name="Freeform 12"/>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2"/>
              <a:stretch>
                <a:fillRect l="-342" r="-342"/>
              </a:stretch>
            </a:blipFill>
          </p:spPr>
        </p:sp>
      </p:grpSp>
      <p:grpSp>
        <p:nvGrpSpPr>
          <p:cNvPr id="13" name="Group 13"/>
          <p:cNvGrpSpPr/>
          <p:nvPr/>
        </p:nvGrpSpPr>
        <p:grpSpPr>
          <a:xfrm>
            <a:off x="6819153" y="4248150"/>
            <a:ext cx="4649694" cy="3581400"/>
            <a:chOff x="0" y="0"/>
            <a:chExt cx="1259398" cy="970044"/>
          </a:xfrm>
        </p:grpSpPr>
        <p:sp>
          <p:nvSpPr>
            <p:cNvPr id="14" name="Freeform 14"/>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3"/>
              <a:stretch>
                <a:fillRect l="-342" r="-342"/>
              </a:stretch>
            </a:blipFill>
          </p:spPr>
        </p:sp>
      </p:grpSp>
      <p:grpSp>
        <p:nvGrpSpPr>
          <p:cNvPr id="15" name="Group 15"/>
          <p:cNvGrpSpPr/>
          <p:nvPr/>
        </p:nvGrpSpPr>
        <p:grpSpPr>
          <a:xfrm>
            <a:off x="12572253" y="4248150"/>
            <a:ext cx="4649694" cy="3581400"/>
            <a:chOff x="0" y="0"/>
            <a:chExt cx="1259398" cy="970044"/>
          </a:xfrm>
        </p:grpSpPr>
        <p:sp>
          <p:nvSpPr>
            <p:cNvPr id="16" name="Freeform 16"/>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4"/>
              <a:stretch>
                <a:fillRect l="-342" r="-342"/>
              </a:stretch>
            </a:blipFill>
          </p:spPr>
        </p:sp>
      </p:grpSp>
      <p:sp>
        <p:nvSpPr>
          <p:cNvPr id="17" name="TextBox 17"/>
          <p:cNvSpPr txBox="1"/>
          <p:nvPr/>
        </p:nvSpPr>
        <p:spPr>
          <a:xfrm>
            <a:off x="1021783" y="8273471"/>
            <a:ext cx="4738234"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Compare adjacent elements to determine if they need swapping for sorting.</a:t>
            </a:r>
          </a:p>
        </p:txBody>
      </p:sp>
      <p:sp>
        <p:nvSpPr>
          <p:cNvPr id="18" name="TextBox 18"/>
          <p:cNvSpPr txBox="1"/>
          <p:nvPr/>
        </p:nvSpPr>
        <p:spPr>
          <a:xfrm>
            <a:off x="1041066" y="3381375"/>
            <a:ext cx="4699667"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Compare Elements</a:t>
            </a:r>
          </a:p>
        </p:txBody>
      </p:sp>
      <p:sp>
        <p:nvSpPr>
          <p:cNvPr id="19" name="TextBox 19"/>
          <p:cNvSpPr txBox="1"/>
          <p:nvPr/>
        </p:nvSpPr>
        <p:spPr>
          <a:xfrm>
            <a:off x="6773192" y="8273471"/>
            <a:ext cx="4741615"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Elements are swapped if they are in the wrong order, ensuring sorting progress.</a:t>
            </a:r>
          </a:p>
        </p:txBody>
      </p:sp>
      <p:sp>
        <p:nvSpPr>
          <p:cNvPr id="20" name="TextBox 20"/>
          <p:cNvSpPr txBox="1"/>
          <p:nvPr/>
        </p:nvSpPr>
        <p:spPr>
          <a:xfrm>
            <a:off x="6773192" y="3381375"/>
            <a:ext cx="4741615"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Swap if Needed</a:t>
            </a:r>
          </a:p>
        </p:txBody>
      </p:sp>
      <p:sp>
        <p:nvSpPr>
          <p:cNvPr id="21" name="TextBox 21"/>
          <p:cNvSpPr txBox="1"/>
          <p:nvPr/>
        </p:nvSpPr>
        <p:spPr>
          <a:xfrm>
            <a:off x="12551109" y="8272319"/>
            <a:ext cx="4691983"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The sorting process continues with repeated passes until the entire list is sorted.</a:t>
            </a:r>
          </a:p>
        </p:txBody>
      </p:sp>
      <p:sp>
        <p:nvSpPr>
          <p:cNvPr id="22" name="TextBox 22"/>
          <p:cNvSpPr txBox="1"/>
          <p:nvPr/>
        </p:nvSpPr>
        <p:spPr>
          <a:xfrm>
            <a:off x="12551109" y="3381375"/>
            <a:ext cx="4691983" cy="543561"/>
          </a:xfrm>
          <a:prstGeom prst="rect">
            <a:avLst/>
          </a:prstGeom>
        </p:spPr>
        <p:txBody>
          <a:bodyPr lIns="0" tIns="0" rIns="0" bIns="0" rtlCol="0" anchor="t">
            <a:spAutoFit/>
          </a:bodyPr>
          <a:lstStyle/>
          <a:p>
            <a:pPr marL="0" lvl="0" indent="0" algn="ctr">
              <a:lnSpc>
                <a:spcPts val="4180"/>
              </a:lnSpc>
            </a:pPr>
            <a:r>
              <a:rPr lang="en-US" sz="3800" spc="-95">
                <a:solidFill>
                  <a:srgbClr val="2A3A66"/>
                </a:solidFill>
                <a:latin typeface="Georgia Pro Condensed"/>
                <a:ea typeface="Georgia Pro Condensed"/>
                <a:cs typeface="Georgia Pro Condensed"/>
                <a:sym typeface="Georgia Pro Condensed"/>
              </a:rPr>
              <a:t>Repeat Passes</a:t>
            </a:r>
          </a:p>
        </p:txBody>
      </p:sp>
      <p:sp>
        <p:nvSpPr>
          <p:cNvPr id="23" name="TextBox 23"/>
          <p:cNvSpPr txBox="1"/>
          <p:nvPr/>
        </p:nvSpPr>
        <p:spPr>
          <a:xfrm>
            <a:off x="666750" y="809625"/>
            <a:ext cx="16954500" cy="1069976"/>
          </a:xfrm>
          <a:prstGeom prst="rect">
            <a:avLst/>
          </a:prstGeom>
        </p:spPr>
        <p:txBody>
          <a:bodyPr lIns="0" tIns="0" rIns="0" bIns="0" rtlCol="0" anchor="t">
            <a:spAutoFit/>
          </a:bodyPr>
          <a:lstStyle/>
          <a:p>
            <a:pPr marL="0" lvl="0" indent="0" algn="ctr">
              <a:lnSpc>
                <a:spcPts val="8000"/>
              </a:lnSpc>
            </a:pPr>
            <a:r>
              <a:rPr lang="en-US" sz="8000" spc="-200">
                <a:solidFill>
                  <a:srgbClr val="F4F6F8"/>
                </a:solidFill>
                <a:latin typeface="Georgia Pro Condensed"/>
                <a:ea typeface="Georgia Pro Condensed"/>
                <a:cs typeface="Georgia Pro Condensed"/>
                <a:sym typeface="Georgia Pro Condensed"/>
              </a:rPr>
              <a:t>Bubble Sort Steps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F4F6F8"/>
            </a:solidFill>
          </p:spPr>
        </p:sp>
        <p:sp>
          <p:nvSpPr>
            <p:cNvPr id="4" name="TextBox 4"/>
            <p:cNvSpPr txBox="1"/>
            <p:nvPr/>
          </p:nvSpPr>
          <p:spPr>
            <a:xfrm>
              <a:off x="0" y="-57150"/>
              <a:ext cx="4816593" cy="704380"/>
            </a:xfrm>
            <a:prstGeom prst="rect">
              <a:avLst/>
            </a:prstGeom>
          </p:spPr>
          <p:txBody>
            <a:bodyPr lIns="50800" tIns="50800" rIns="50800" bIns="50800" rtlCol="0" anchor="ctr"/>
            <a:lstStyle/>
            <a:p>
              <a:pPr marL="0" lvl="0" indent="0" algn="ctr">
                <a:lnSpc>
                  <a:spcPts val="2800"/>
                </a:lnSpc>
              </a:pPr>
              <a:endParaRPr/>
            </a:p>
          </p:txBody>
        </p:sp>
      </p:grpSp>
      <p:grpSp>
        <p:nvGrpSpPr>
          <p:cNvPr id="5" name="Group 5"/>
          <p:cNvGrpSpPr/>
          <p:nvPr/>
        </p:nvGrpSpPr>
        <p:grpSpPr>
          <a:xfrm>
            <a:off x="666750" y="3352800"/>
            <a:ext cx="11201400" cy="6267450"/>
            <a:chOff x="0" y="0"/>
            <a:chExt cx="1471052" cy="823089"/>
          </a:xfrm>
        </p:grpSpPr>
        <p:sp>
          <p:nvSpPr>
            <p:cNvPr id="6" name="Freeform 6"/>
            <p:cNvSpPr/>
            <p:nvPr/>
          </p:nvSpPr>
          <p:spPr>
            <a:xfrm>
              <a:off x="0" y="0"/>
              <a:ext cx="1471052" cy="823089"/>
            </a:xfrm>
            <a:custGeom>
              <a:avLst/>
              <a:gdLst/>
              <a:ahLst/>
              <a:cxnLst/>
              <a:rect l="l" t="t" r="r" b="b"/>
              <a:pathLst>
                <a:path w="1471052" h="823089">
                  <a:moveTo>
                    <a:pt x="13823" y="0"/>
                  </a:moveTo>
                  <a:lnTo>
                    <a:pt x="1457229" y="0"/>
                  </a:lnTo>
                  <a:cubicBezTo>
                    <a:pt x="1460895" y="0"/>
                    <a:pt x="1464411" y="1456"/>
                    <a:pt x="1467004" y="4049"/>
                  </a:cubicBezTo>
                  <a:cubicBezTo>
                    <a:pt x="1469596" y="6641"/>
                    <a:pt x="1471052" y="10157"/>
                    <a:pt x="1471052" y="13823"/>
                  </a:cubicBezTo>
                  <a:lnTo>
                    <a:pt x="1471052" y="809266"/>
                  </a:lnTo>
                  <a:cubicBezTo>
                    <a:pt x="1471052" y="812932"/>
                    <a:pt x="1469596" y="816448"/>
                    <a:pt x="1467004" y="819040"/>
                  </a:cubicBezTo>
                  <a:cubicBezTo>
                    <a:pt x="1464411" y="821632"/>
                    <a:pt x="1460895" y="823089"/>
                    <a:pt x="1457229" y="823089"/>
                  </a:cubicBezTo>
                  <a:lnTo>
                    <a:pt x="13823" y="823089"/>
                  </a:lnTo>
                  <a:cubicBezTo>
                    <a:pt x="10157" y="823089"/>
                    <a:pt x="6641" y="821632"/>
                    <a:pt x="4049" y="819040"/>
                  </a:cubicBezTo>
                  <a:cubicBezTo>
                    <a:pt x="1456" y="816448"/>
                    <a:pt x="0" y="812932"/>
                    <a:pt x="0" y="809266"/>
                  </a:cubicBezTo>
                  <a:lnTo>
                    <a:pt x="0" y="13823"/>
                  </a:lnTo>
                  <a:cubicBezTo>
                    <a:pt x="0" y="10157"/>
                    <a:pt x="1456" y="6641"/>
                    <a:pt x="4049" y="4049"/>
                  </a:cubicBezTo>
                  <a:cubicBezTo>
                    <a:pt x="6641" y="1456"/>
                    <a:pt x="10157" y="0"/>
                    <a:pt x="13823" y="0"/>
                  </a:cubicBezTo>
                  <a:close/>
                </a:path>
              </a:pathLst>
            </a:custGeom>
            <a:blipFill>
              <a:blip r:embed="rId2"/>
              <a:stretch>
                <a:fillRect l="-521" r="-521"/>
              </a:stretch>
            </a:blipFill>
          </p:spPr>
        </p:sp>
      </p:grpSp>
      <p:grpSp>
        <p:nvGrpSpPr>
          <p:cNvPr id="7" name="Group 7"/>
          <p:cNvGrpSpPr/>
          <p:nvPr/>
        </p:nvGrpSpPr>
        <p:grpSpPr>
          <a:xfrm>
            <a:off x="12172950" y="3352800"/>
            <a:ext cx="5448300" cy="6267450"/>
            <a:chOff x="0" y="0"/>
            <a:chExt cx="715512" cy="823089"/>
          </a:xfrm>
        </p:grpSpPr>
        <p:sp>
          <p:nvSpPr>
            <p:cNvPr id="8" name="Freeform 8"/>
            <p:cNvSpPr/>
            <p:nvPr/>
          </p:nvSpPr>
          <p:spPr>
            <a:xfrm>
              <a:off x="0" y="0"/>
              <a:ext cx="715512" cy="823089"/>
            </a:xfrm>
            <a:custGeom>
              <a:avLst/>
              <a:gdLst/>
              <a:ahLst/>
              <a:cxnLst/>
              <a:rect l="l" t="t" r="r" b="b"/>
              <a:pathLst>
                <a:path w="715512" h="823089">
                  <a:moveTo>
                    <a:pt x="28420" y="0"/>
                  </a:moveTo>
                  <a:lnTo>
                    <a:pt x="687092" y="0"/>
                  </a:lnTo>
                  <a:cubicBezTo>
                    <a:pt x="702788" y="0"/>
                    <a:pt x="715512" y="12724"/>
                    <a:pt x="715512" y="28420"/>
                  </a:cubicBezTo>
                  <a:lnTo>
                    <a:pt x="715512" y="794669"/>
                  </a:lnTo>
                  <a:cubicBezTo>
                    <a:pt x="715512" y="802206"/>
                    <a:pt x="712518" y="809435"/>
                    <a:pt x="707188" y="814765"/>
                  </a:cubicBezTo>
                  <a:cubicBezTo>
                    <a:pt x="701858" y="820095"/>
                    <a:pt x="694630" y="823089"/>
                    <a:pt x="687092" y="823089"/>
                  </a:cubicBezTo>
                  <a:lnTo>
                    <a:pt x="28420" y="823089"/>
                  </a:lnTo>
                  <a:cubicBezTo>
                    <a:pt x="12724" y="823089"/>
                    <a:pt x="0" y="810365"/>
                    <a:pt x="0" y="794669"/>
                  </a:cubicBezTo>
                  <a:lnTo>
                    <a:pt x="0" y="28420"/>
                  </a:lnTo>
                  <a:cubicBezTo>
                    <a:pt x="0" y="12724"/>
                    <a:pt x="12724" y="0"/>
                    <a:pt x="28420" y="0"/>
                  </a:cubicBezTo>
                  <a:close/>
                </a:path>
              </a:pathLst>
            </a:custGeom>
            <a:blipFill>
              <a:blip r:embed="rId3"/>
              <a:stretch>
                <a:fillRect t="-103" b="-103"/>
              </a:stretch>
            </a:blipFill>
          </p:spPr>
        </p:sp>
      </p:grpSp>
      <p:sp>
        <p:nvSpPr>
          <p:cNvPr id="9" name="TextBox 9"/>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spc="-240">
                <a:solidFill>
                  <a:srgbClr val="2A3A66"/>
                </a:solidFill>
                <a:latin typeface="Georgia Pro Condensed"/>
                <a:ea typeface="Georgia Pro Condensed"/>
                <a:cs typeface="Georgia Pro Condensed"/>
                <a:sym typeface="Georgia Pro Condensed"/>
              </a:rPr>
              <a:t>Tracing Bubble Sort Steps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2069630" cy="2709333"/>
          </a:xfrm>
        </p:grpSpPr>
        <p:sp>
          <p:nvSpPr>
            <p:cNvPr id="3" name="Freeform 3"/>
            <p:cNvSpPr/>
            <p:nvPr/>
          </p:nvSpPr>
          <p:spPr>
            <a:xfrm>
              <a:off x="0" y="0"/>
              <a:ext cx="2069630" cy="2709333"/>
            </a:xfrm>
            <a:custGeom>
              <a:avLst/>
              <a:gdLst/>
              <a:ahLst/>
              <a:cxnLst/>
              <a:rect l="l" t="t" r="r" b="b"/>
              <a:pathLst>
                <a:path w="2069630" h="2709333">
                  <a:moveTo>
                    <a:pt x="0" y="0"/>
                  </a:moveTo>
                  <a:lnTo>
                    <a:pt x="2069630" y="0"/>
                  </a:lnTo>
                  <a:lnTo>
                    <a:pt x="2069630" y="2709333"/>
                  </a:lnTo>
                  <a:lnTo>
                    <a:pt x="0" y="2709333"/>
                  </a:lnTo>
                  <a:close/>
                </a:path>
              </a:pathLst>
            </a:custGeom>
            <a:solidFill>
              <a:srgbClr val="A9BCEB"/>
            </a:solidFill>
            <a:ln cap="sq">
              <a:noFill/>
              <a:prstDash val="solid"/>
              <a:miter/>
            </a:ln>
          </p:spPr>
        </p:sp>
        <p:sp>
          <p:nvSpPr>
            <p:cNvPr id="4" name="TextBox 4"/>
            <p:cNvSpPr txBox="1"/>
            <p:nvPr/>
          </p:nvSpPr>
          <p:spPr>
            <a:xfrm>
              <a:off x="0" y="-57150"/>
              <a:ext cx="2069630" cy="2766483"/>
            </a:xfrm>
            <a:prstGeom prst="rect">
              <a:avLst/>
            </a:prstGeom>
          </p:spPr>
          <p:txBody>
            <a:bodyPr lIns="50800" tIns="50800" rIns="50800" bIns="50800" rtlCol="0" anchor="ctr"/>
            <a:lstStyle/>
            <a:p>
              <a:pPr marL="0" lvl="0" indent="0" algn="ctr">
                <a:lnSpc>
                  <a:spcPts val="3359"/>
                </a:lnSpc>
              </a:pPr>
              <a:endParaRPr/>
            </a:p>
          </p:txBody>
        </p:sp>
      </p:grpSp>
      <p:sp>
        <p:nvSpPr>
          <p:cNvPr id="5" name="TextBox 5"/>
          <p:cNvSpPr txBox="1"/>
          <p:nvPr/>
        </p:nvSpPr>
        <p:spPr>
          <a:xfrm>
            <a:off x="666750" y="809625"/>
            <a:ext cx="5448300" cy="3089279"/>
          </a:xfrm>
          <a:prstGeom prst="rect">
            <a:avLst/>
          </a:prstGeom>
        </p:spPr>
        <p:txBody>
          <a:bodyPr lIns="0" tIns="0" rIns="0" bIns="0" rtlCol="0" anchor="t">
            <a:spAutoFit/>
          </a:bodyPr>
          <a:lstStyle/>
          <a:p>
            <a:pPr marL="0" lvl="0" indent="0" algn="l">
              <a:lnSpc>
                <a:spcPts val="8000"/>
              </a:lnSpc>
            </a:pPr>
            <a:r>
              <a:rPr lang="en-US" sz="8000">
                <a:solidFill>
                  <a:srgbClr val="2A3A66"/>
                </a:solidFill>
                <a:latin typeface="Georgia Pro Condensed"/>
                <a:ea typeface="Georgia Pro Condensed"/>
                <a:cs typeface="Georgia Pro Condensed"/>
                <a:sym typeface="Georgia Pro Condensed"/>
              </a:rPr>
              <a:t>Key Takeaways and Insights</a:t>
            </a:r>
          </a:p>
        </p:txBody>
      </p:sp>
      <p:sp>
        <p:nvSpPr>
          <p:cNvPr id="6" name="Freeform 6"/>
          <p:cNvSpPr/>
          <p:nvPr/>
        </p:nvSpPr>
        <p:spPr>
          <a:xfrm>
            <a:off x="708153" y="7606302"/>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7" name="Group 7"/>
          <p:cNvGrpSpPr/>
          <p:nvPr/>
        </p:nvGrpSpPr>
        <p:grpSpPr>
          <a:xfrm>
            <a:off x="10734675" y="6944836"/>
            <a:ext cx="6886575" cy="1837373"/>
            <a:chOff x="0" y="0"/>
            <a:chExt cx="9182100" cy="2449830"/>
          </a:xfrm>
        </p:grpSpPr>
        <p:sp>
          <p:nvSpPr>
            <p:cNvPr id="8" name="TextBox 8"/>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2A3A66"/>
                  </a:solidFill>
                  <a:latin typeface="Helvetica World Bold"/>
                  <a:ea typeface="Helvetica World Bold"/>
                  <a:cs typeface="Helvetica World Bold"/>
                  <a:sym typeface="Helvetica World Bold"/>
                </a:rPr>
                <a:t>Tracing Importance</a:t>
              </a:r>
            </a:p>
          </p:txBody>
        </p:sp>
        <p:sp>
          <p:nvSpPr>
            <p:cNvPr id="9" name="TextBox 9"/>
            <p:cNvSpPr txBox="1"/>
            <p:nvPr/>
          </p:nvSpPr>
          <p:spPr>
            <a:xfrm>
              <a:off x="0" y="1295189"/>
              <a:ext cx="9182100" cy="1154642"/>
            </a:xfrm>
            <a:prstGeom prst="rect">
              <a:avLst/>
            </a:prstGeom>
          </p:spPr>
          <p:txBody>
            <a:bodyPr lIns="0" tIns="0" rIns="0" bIns="0" rtlCol="0" anchor="t">
              <a:spAutoFit/>
            </a:bodyPr>
            <a:lstStyle/>
            <a:p>
              <a:pPr marL="0" lvl="0" indent="0" algn="l">
                <a:lnSpc>
                  <a:spcPts val="3249"/>
                </a:lnSpc>
                <a:spcBef>
                  <a:spcPct val="0"/>
                </a:spcBef>
              </a:pPr>
              <a:r>
                <a:rPr lang="en-US" sz="2499" u="none" strike="noStrike" spc="-37">
                  <a:solidFill>
                    <a:srgbClr val="1C1C1C"/>
                  </a:solidFill>
                  <a:latin typeface="Helvetica World"/>
                  <a:ea typeface="Helvetica World"/>
                  <a:cs typeface="Helvetica World"/>
                  <a:sym typeface="Helvetica World"/>
                </a:rPr>
                <a:t>Understanding algorithms requires </a:t>
              </a:r>
              <a:r>
                <a:rPr lang="en-US" sz="2499" b="1" u="none" strike="noStrike" spc="-37">
                  <a:solidFill>
                    <a:srgbClr val="1C1C1C"/>
                  </a:solidFill>
                  <a:latin typeface="Helvetica World Bold"/>
                  <a:ea typeface="Helvetica World Bold"/>
                  <a:cs typeface="Helvetica World Bold"/>
                  <a:sym typeface="Helvetica World Bold"/>
                </a:rPr>
                <a:t>step-by-step tracing practice.</a:t>
              </a:r>
            </a:p>
          </p:txBody>
        </p:sp>
      </p:grpSp>
      <p:sp>
        <p:nvSpPr>
          <p:cNvPr id="10" name="TextBox 10"/>
          <p:cNvSpPr txBox="1"/>
          <p:nvPr/>
        </p:nvSpPr>
        <p:spPr>
          <a:xfrm>
            <a:off x="9296400" y="4250055"/>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02</a:t>
            </a:r>
          </a:p>
        </p:txBody>
      </p:sp>
      <p:sp>
        <p:nvSpPr>
          <p:cNvPr id="11" name="TextBox 11"/>
          <p:cNvSpPr txBox="1"/>
          <p:nvPr/>
        </p:nvSpPr>
        <p:spPr>
          <a:xfrm>
            <a:off x="9296400" y="1553369"/>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01</a:t>
            </a:r>
          </a:p>
        </p:txBody>
      </p:sp>
      <p:sp>
        <p:nvSpPr>
          <p:cNvPr id="12" name="TextBox 12"/>
          <p:cNvSpPr txBox="1"/>
          <p:nvPr/>
        </p:nvSpPr>
        <p:spPr>
          <a:xfrm>
            <a:off x="9296400" y="6936105"/>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03</a:t>
            </a:r>
          </a:p>
        </p:txBody>
      </p:sp>
      <p:grpSp>
        <p:nvGrpSpPr>
          <p:cNvPr id="13" name="Group 13"/>
          <p:cNvGrpSpPr/>
          <p:nvPr/>
        </p:nvGrpSpPr>
        <p:grpSpPr>
          <a:xfrm>
            <a:off x="10734675" y="4248150"/>
            <a:ext cx="6886575" cy="1808798"/>
            <a:chOff x="0" y="0"/>
            <a:chExt cx="9182100" cy="2411730"/>
          </a:xfrm>
        </p:grpSpPr>
        <p:sp>
          <p:nvSpPr>
            <p:cNvPr id="14" name="TextBox 14"/>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spc="-44">
                  <a:solidFill>
                    <a:srgbClr val="2A3A66"/>
                  </a:solidFill>
                  <a:latin typeface="Helvetica World Bold"/>
                  <a:ea typeface="Helvetica World Bold"/>
                  <a:cs typeface="Helvetica World Bold"/>
                  <a:sym typeface="Helvetica World Bold"/>
                </a:rPr>
                <a:t>Sorting Concepts</a:t>
              </a:r>
            </a:p>
          </p:txBody>
        </p:sp>
        <p:sp>
          <p:nvSpPr>
            <p:cNvPr id="15" name="TextBox 15"/>
            <p:cNvSpPr txBox="1"/>
            <p:nvPr/>
          </p:nvSpPr>
          <p:spPr>
            <a:xfrm>
              <a:off x="0" y="1295189"/>
              <a:ext cx="9182100" cy="1116542"/>
            </a:xfrm>
            <a:prstGeom prst="rect">
              <a:avLst/>
            </a:prstGeom>
          </p:spPr>
          <p:txBody>
            <a:bodyPr lIns="0" tIns="0" rIns="0" bIns="0" rtlCol="0" anchor="t">
              <a:spAutoFit/>
            </a:bodyPr>
            <a:lstStyle/>
            <a:p>
              <a:pPr marL="0" lvl="0" indent="0" algn="l">
                <a:lnSpc>
                  <a:spcPts val="3249"/>
                </a:lnSpc>
                <a:spcBef>
                  <a:spcPct val="0"/>
                </a:spcBef>
              </a:pPr>
              <a:r>
                <a:rPr lang="en-US" sz="2499" b="1" u="none" strike="noStrike" spc="-37">
                  <a:solidFill>
                    <a:srgbClr val="1C1C1C"/>
                  </a:solidFill>
                  <a:latin typeface="Helvetica World Bold"/>
                  <a:ea typeface="Helvetica World Bold"/>
                  <a:cs typeface="Helvetica World Bold"/>
                  <a:sym typeface="Helvetica World Bold"/>
                </a:rPr>
                <a:t>Bubble sort</a:t>
              </a:r>
              <a:r>
                <a:rPr lang="en-US" sz="2499" u="none" strike="noStrike" spc="-37">
                  <a:solidFill>
                    <a:srgbClr val="1C1C1C"/>
                  </a:solidFill>
                  <a:latin typeface="Helvetica World"/>
                  <a:ea typeface="Helvetica World"/>
                  <a:cs typeface="Helvetica World"/>
                  <a:sym typeface="Helvetica World"/>
                </a:rPr>
                <a:t> is an essential foundational sorting algorithm.</a:t>
              </a:r>
            </a:p>
          </p:txBody>
        </p:sp>
      </p:grpSp>
      <p:grpSp>
        <p:nvGrpSpPr>
          <p:cNvPr id="16" name="Group 16"/>
          <p:cNvGrpSpPr/>
          <p:nvPr/>
        </p:nvGrpSpPr>
        <p:grpSpPr>
          <a:xfrm>
            <a:off x="10734675" y="1562100"/>
            <a:ext cx="6886575" cy="1808798"/>
            <a:chOff x="0" y="0"/>
            <a:chExt cx="9182100" cy="2411730"/>
          </a:xfrm>
        </p:grpSpPr>
        <p:sp>
          <p:nvSpPr>
            <p:cNvPr id="17" name="TextBox 17"/>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2A3A66"/>
                  </a:solidFill>
                  <a:latin typeface="Helvetica World Bold"/>
                  <a:ea typeface="Helvetica World Bold"/>
                  <a:cs typeface="Helvetica World Bold"/>
                  <a:sym typeface="Helvetica World Bold"/>
                </a:rPr>
                <a:t>Search Algorithms</a:t>
              </a:r>
            </a:p>
          </p:txBody>
        </p:sp>
        <p:sp>
          <p:nvSpPr>
            <p:cNvPr id="18" name="TextBox 18"/>
            <p:cNvSpPr txBox="1"/>
            <p:nvPr/>
          </p:nvSpPr>
          <p:spPr>
            <a:xfrm>
              <a:off x="0" y="1295189"/>
              <a:ext cx="9182100" cy="1116542"/>
            </a:xfrm>
            <a:prstGeom prst="rect">
              <a:avLst/>
            </a:prstGeom>
          </p:spPr>
          <p:txBody>
            <a:bodyPr lIns="0" tIns="0" rIns="0" bIns="0" rtlCol="0" anchor="t">
              <a:spAutoFit/>
            </a:bodyPr>
            <a:lstStyle/>
            <a:p>
              <a:pPr marL="0" lvl="0" indent="0" algn="l">
                <a:lnSpc>
                  <a:spcPts val="3249"/>
                </a:lnSpc>
                <a:spcBef>
                  <a:spcPct val="0"/>
                </a:spcBef>
              </a:pPr>
              <a:r>
                <a:rPr lang="en-US" sz="2499" b="1" u="none" strike="noStrike" spc="-37">
                  <a:solidFill>
                    <a:srgbClr val="1C1C1C"/>
                  </a:solidFill>
                  <a:latin typeface="Helvetica World Bold"/>
                  <a:ea typeface="Helvetica World Bold"/>
                  <a:cs typeface="Helvetica World Bold"/>
                  <a:sym typeface="Helvetica World Bold"/>
                </a:rPr>
                <a:t>Linear and binary searches</a:t>
              </a:r>
              <a:r>
                <a:rPr lang="en-US" sz="2499" u="none" strike="noStrike" spc="-37">
                  <a:solidFill>
                    <a:srgbClr val="1C1C1C"/>
                  </a:solidFill>
                  <a:latin typeface="Helvetica World"/>
                  <a:ea typeface="Helvetica World"/>
                  <a:cs typeface="Helvetica World"/>
                  <a:sym typeface="Helvetica World"/>
                </a:rPr>
                <a:t> each have distinct strengths.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CCFF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2A3A66"/>
            </a:solidFill>
            <a:ln w="12700">
              <a:solidFill>
                <a:srgbClr val="000000"/>
              </a:solidFill>
            </a:ln>
          </p:spPr>
        </p:sp>
      </p:grpSp>
      <p:grpSp>
        <p:nvGrpSpPr>
          <p:cNvPr id="4" name="Group 4"/>
          <p:cNvGrpSpPr/>
          <p:nvPr/>
        </p:nvGrpSpPr>
        <p:grpSpPr>
          <a:xfrm>
            <a:off x="1052512"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9296400" y="9001760"/>
            <a:ext cx="8324850" cy="618490"/>
          </a:xfrm>
          <a:prstGeom prst="rect">
            <a:avLst/>
          </a:prstGeom>
        </p:spPr>
        <p:txBody>
          <a:bodyPr lIns="0" tIns="0" rIns="0" bIns="0" rtlCol="0" anchor="t">
            <a:spAutoFit/>
          </a:bodyPr>
          <a:lstStyle/>
          <a:p>
            <a:pPr marL="0" lvl="0" indent="0" algn="l">
              <a:lnSpc>
                <a:spcPts val="4940"/>
              </a:lnSpc>
            </a:pPr>
            <a:r>
              <a:rPr lang="en-US" sz="3800" spc="-57">
                <a:solidFill>
                  <a:srgbClr val="1C1C1C"/>
                </a:solidFill>
                <a:latin typeface="Helvetica World"/>
                <a:ea typeface="Helvetica World"/>
                <a:cs typeface="Helvetica World"/>
                <a:sym typeface="Helvetica World"/>
              </a:rPr>
              <a:t>Practice tracing algorithms today!</a:t>
            </a:r>
          </a:p>
        </p:txBody>
      </p:sp>
      <p:sp>
        <p:nvSpPr>
          <p:cNvPr id="7" name="TextBox 7"/>
          <p:cNvSpPr txBox="1"/>
          <p:nvPr/>
        </p:nvSpPr>
        <p:spPr>
          <a:xfrm>
            <a:off x="9303759" y="942975"/>
            <a:ext cx="8317491" cy="3894609"/>
          </a:xfrm>
          <a:prstGeom prst="rect">
            <a:avLst/>
          </a:prstGeom>
        </p:spPr>
        <p:txBody>
          <a:bodyPr lIns="0" tIns="0" rIns="0" bIns="0" rtlCol="0" anchor="t">
            <a:spAutoFit/>
          </a:bodyPr>
          <a:lstStyle/>
          <a:p>
            <a:pPr marL="0" lvl="0" indent="0" algn="l">
              <a:lnSpc>
                <a:spcPts val="14956"/>
              </a:lnSpc>
            </a:pPr>
            <a:r>
              <a:rPr lang="en-US" sz="14956" spc="-523">
                <a:solidFill>
                  <a:srgbClr val="2A3A66"/>
                </a:solidFill>
                <a:latin typeface="Georgia Pro Condensed"/>
                <a:ea typeface="Georgia Pro Condensed"/>
                <a:cs typeface="Georgia Pro Condensed"/>
                <a:sym typeface="Georgia Pro Condensed"/>
              </a:rPr>
              <a:t>Continue Learning</a:t>
            </a:r>
          </a:p>
        </p:txBody>
      </p:sp>
      <p:sp>
        <p:nvSpPr>
          <p:cNvPr id="8" name="Freeform 8"/>
          <p:cNvSpPr/>
          <p:nvPr/>
        </p:nvSpPr>
        <p:spPr>
          <a:xfrm rot="-3117037">
            <a:off x="5418783" y="7952721"/>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This lesson pack is designed for a high school physics class (e.g., Grades 9-10)</a:t>
            </a:r>
          </a:p>
        </p:txBody>
      </p:sp>
      <p:sp>
        <p:nvSpPr>
          <p:cNvPr id="3" name="Subtitle 2"/>
          <p:cNvSpPr>
            <a:spLocks noGrp="1"/>
          </p:cNvSpPr>
          <p:nvPr>
            <p:ph type="subTitle" idx="1"/>
          </p:nvPr>
        </p:nvSpPr>
        <p:spPr/>
        <p:txBody>
          <a:bodyPr/>
          <a:lstStyle/>
          <a:p>
            <a:r>
              <a:rPr sz="1800"/>
              <a:t>---</a:t>
            </a:r>
          </a:p>
          <a:p/>
          <a:p>
            <a:r>
              <a:rPr sz="1800"/>
              <a:t>## Detailed Lesson Pack: Force in Physics</a:t>
            </a:r>
          </a:p>
          <a:p/>
          <a:p>
            <a:r>
              <a:rPr sz="1800"/>
              <a:t>**Topic:** Force in Physics: Push, Pull, and Power!</a:t>
            </a:r>
          </a:p>
          <a:p/>
          <a:p>
            <a:r>
              <a:rPr sz="1800"/>
              <a:t>**Estimated Time:** 60-75 minutes (can be extended with more activities/discussion)</a:t>
            </a:r>
          </a:p>
          <a:p/>
          <a:p>
            <a:r>
              <a:rPr sz="1800"/>
              <a:t>---</a:t>
            </a:r>
          </a:p>
          <a:p/>
          <a:p>
            <a:r>
              <a:rPr sz="1800"/>
              <a:t>### 1. Lesson Objectives</a:t>
            </a:r>
          </a:p>
          <a:p/>
          <a:p>
            <a:r>
              <a:rPr sz="1800"/>
              <a:t>By the end of this lesson, students will be able to:</a:t>
            </a:r>
          </a:p>
          <a:p/>
          <a:p>
            <a:r>
              <a:rPr sz="1800"/>
              <a:t>*   **Define** force as a push or pull and identify its standard unit (Newton).</a:t>
            </a:r>
          </a:p>
          <a:p>
            <a:r>
              <a:rPr sz="1800"/>
              <a:t>*   **Distinguish** between contact and non-contact forces, providing examples of each.</a:t>
            </a:r>
          </a:p>
          <a:p>
            <a:r>
              <a:rPr sz="1800"/>
              <a:t>*   **Describe** the various effects of forces on objects (change motion, speed, direction, shape).</a:t>
            </a:r>
          </a:p>
          <a:p>
            <a:r>
              <a:rPr sz="1800"/>
              <a:t>*   **Explain** that force is a vector quantity, possessing both magnitude and direction.</a:t>
            </a:r>
          </a:p>
          <a:p>
            <a:r>
              <a:rPr sz="1800"/>
              <a:t>*   **Calculate** the net (resultant) force acting on an object in one dimension.</a:t>
            </a:r>
          </a:p>
          <a:p>
            <a:r>
              <a:rPr sz="1800"/>
              <a:t>*   **Differentiate** between balanced and unbalanced forces and predict their impact on an object's motion.</a:t>
            </a:r>
          </a:p>
          <a:p/>
          <a:p>
            <a:r>
              <a:rPr sz="1800"/>
              <a:t>### 2. Introduction / Starter Activity</a:t>
            </a:r>
          </a:p>
          <a:p/>
          <a:p>
            <a:r>
              <a:rPr sz="1800"/>
              <a:t>**Title:** "Push, Pull, and Everything In Between!" (5-7 minutes)</a:t>
            </a:r>
          </a:p>
          <a:p/>
          <a:p>
            <a:r>
              <a:rPr sz="1800"/>
              <a:t>**Activity:** Force Brainstorm &amp; Picture Analysis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**Display Images:** Show a series of diverse images on the screen (or printouts)</a:t>
            </a:r>
          </a:p>
        </p:txBody>
      </p:sp>
      <p:sp>
        <p:nvSpPr>
          <p:cNvPr id="3" name="Subtitle 2"/>
          <p:cNvSpPr>
            <a:spLocks noGrp="1"/>
          </p:cNvSpPr>
          <p:nvPr>
            <p:ph type="subTitle" idx="1"/>
          </p:nvPr>
        </p:nvSpPr>
        <p:spPr/>
        <p:txBody>
          <a:bodyPr/>
          <a:lstStyle/>
          <a:p>
            <a:r>
              <a:rPr sz="1800"/>
              <a:t>*   A person pushing a shopping cart.</a:t>
            </a:r>
          </a:p>
          <a:p>
            <a:r>
              <a:rPr sz="1800"/>
              <a:t>    *   An apple falling from a tree.</a:t>
            </a:r>
          </a:p>
          <a:p>
            <a:r>
              <a:rPr sz="1800"/>
              <a:t>    *   A magnet attracting paperclips.</a:t>
            </a:r>
          </a:p>
          <a:p>
            <a:r>
              <a:rPr sz="1800"/>
              <a:t>    *   A car braking to a stop.</a:t>
            </a:r>
          </a:p>
          <a:p>
            <a:r>
              <a:rPr sz="1800"/>
              <a:t>    *   Two teams in a tug-of-war.</a:t>
            </a:r>
          </a:p>
          <a:p>
            <a:r>
              <a:rPr sz="1800"/>
              <a:t>    *   A person kicking a soccer ball.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**Engage:** Ask students: "What do all these pictures have in common?" (Encourag</a:t>
            </a:r>
          </a:p>
        </p:txBody>
      </p:sp>
      <p:sp>
        <p:nvSpPr>
          <p:cNvPr id="3" name="Subtitle 2"/>
          <p:cNvSpPr>
            <a:spLocks noGrp="1"/>
          </p:cNvSpPr>
          <p:nvPr>
            <p:ph type="subTitle"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**Guide:** Gently guide their responses towards the idea of "something acting on</a:t>
            </a:r>
          </a:p>
        </p:txBody>
      </p:sp>
      <p:sp>
        <p:nvSpPr>
          <p:cNvPr id="3" name="Subtitle 2"/>
          <p:cNvSpPr>
            <a:spLocks noGrp="1"/>
          </p:cNvSpPr>
          <p:nvPr>
            <p:ph type="subTitle" idx="1"/>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**Introduce Term:** "Scientifically, we call these pushes and pulls **FORCES**."</a:t>
            </a:r>
          </a:p>
        </p:txBody>
      </p:sp>
      <p:sp>
        <p:nvSpPr>
          <p:cNvPr id="3" name="Subtitle 2"/>
          <p:cNvSpPr>
            <a:spLocks noGrp="1"/>
          </p:cNvSpPr>
          <p:nvPr>
            <p:ph type="subTitle"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**Quick Poll/Discussion:** "What comes to mind when you hear the word 'force'?" </a:t>
            </a:r>
          </a:p>
        </p:txBody>
      </p:sp>
      <p:sp>
        <p:nvSpPr>
          <p:cNvPr id="3" name="Subtitle 2"/>
          <p:cNvSpPr>
            <a:spLocks noGrp="1"/>
          </p:cNvSpPr>
          <p:nvPr>
            <p:ph type="subTitle" idx="1"/>
          </p:nvPr>
        </p:nvSpPr>
        <p:spPr/>
        <p:txBody>
          <a:bodyPr/>
          <a:lstStyle/>
          <a:p>
            <a:r>
              <a:rPr sz="1800"/>
              <a:t>### 3. Key Teaching Points</a:t>
            </a:r>
          </a:p>
          <a:p/>
          <a:p>
            <a:r>
              <a:rPr sz="1800"/>
              <a:t>(Approx. 20-25 minutes)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**What is Force?**</a:t>
            </a:r>
          </a:p>
        </p:txBody>
      </p:sp>
      <p:sp>
        <p:nvSpPr>
          <p:cNvPr id="3" name="Subtitle 2"/>
          <p:cNvSpPr>
            <a:spLocks noGrp="1"/>
          </p:cNvSpPr>
          <p:nvPr>
            <p:ph type="subTitle" idx="1"/>
          </p:nvPr>
        </p:nvSpPr>
        <p:spPr/>
        <p:txBody>
          <a:bodyPr/>
          <a:lstStyle/>
          <a:p>
            <a:r>
              <a:rPr sz="1800"/>
              <a:t>*   **Definition:** A push or a pull that can cause an object to accelerate (change its velocity), deform, or change direction.</a:t>
            </a:r>
          </a:p>
          <a:p>
            <a:r>
              <a:rPr sz="1800"/>
              <a:t>    *   **Unit:** **Newton (N)**, named after Sir Isaac Newton. Explain it's a derived unit. Analogy: 1 Newton is roughly the force needed to hold up a small apple (approx. 100g) against gravity.</a:t>
            </a:r>
          </a:p>
          <a:p>
            <a:r>
              <a:rPr sz="1800"/>
              <a:t>    *   **Symbol:** F (often with a subscript, e.g., Fg for gravitational force).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**Force as a Vector Quantity:**</a:t>
            </a:r>
          </a:p>
        </p:txBody>
      </p:sp>
      <p:sp>
        <p:nvSpPr>
          <p:cNvPr id="3" name="Subtitle 2"/>
          <p:cNvSpPr>
            <a:spLocks noGrp="1"/>
          </p:cNvSpPr>
          <p:nvPr>
            <p:ph type="subTitle" idx="1"/>
          </p:nvPr>
        </p:nvSpPr>
        <p:spPr/>
        <p:txBody>
          <a:bodyPr/>
          <a:lstStyle/>
          <a:p>
            <a:r>
              <a:rPr sz="1800"/>
              <a:t>*   Forces have both **magnitude** (how strong the push/pull is) and **direction** (which way it's pushing/pulling).</a:t>
            </a:r>
          </a:p>
          <a:p>
            <a:r>
              <a:rPr sz="1800"/>
              <a:t>    *   **Visual Representation:** Introduce arrows as the standard way to represent forces. The length of the arrow indicates magnitude, and the arrowhead indicates direction. Emphasize that direction is crucial.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**Types of Forces:**</a:t>
            </a:r>
          </a:p>
        </p:txBody>
      </p:sp>
      <p:sp>
        <p:nvSpPr>
          <p:cNvPr id="3" name="Subtitle 2"/>
          <p:cNvSpPr>
            <a:spLocks noGrp="1"/>
          </p:cNvSpPr>
          <p:nvPr>
            <p:ph type="subTitle" idx="1"/>
          </p:nvPr>
        </p:nvSpPr>
        <p:spPr/>
        <p:txBody>
          <a:bodyPr/>
          <a:lstStyle/>
          <a:p>
            <a:r>
              <a:rPr sz="1800"/>
              <a:t>*   **Contact Forces:** Act when objects are physically touching.</a:t>
            </a:r>
          </a:p>
          <a:p>
            <a:r>
              <a:rPr sz="1800"/>
              <a:t>        *   *Applied Force (Fapp):* Direct push or pull on an object.</a:t>
            </a:r>
          </a:p>
          <a:p>
            <a:r>
              <a:rPr sz="1800"/>
              <a:t>        *   *Friction (Ff):* Force that opposes motion between surfaces in contact.</a:t>
            </a:r>
          </a:p>
          <a:p>
            <a:r>
              <a:rPr sz="1800"/>
              <a:t>        *   *Normal Force (Fn):* The support force exerted by a surface perpendicular to it, preventing an object from passing through.</a:t>
            </a:r>
          </a:p>
          <a:p>
            <a:r>
              <a:rPr sz="1800"/>
              <a:t>        *   *Tension (Ft):* The pulling force transmitted axially through a string, rope, cable, or similar one-dimensional continuous object.</a:t>
            </a:r>
          </a:p>
          <a:p>
            <a:r>
              <a:rPr sz="1800"/>
              <a:t>        *   *Air Resistance (Fair):* A type of frictional force opposing the motion of an object through air.</a:t>
            </a:r>
          </a:p>
          <a:p>
            <a:r>
              <a:rPr sz="1800"/>
              <a:t>    *   **Non-Contact Forces (Field Forces):** Act over a distance without physical contact.</a:t>
            </a:r>
          </a:p>
          <a:p>
            <a:r>
              <a:rPr sz="1800"/>
              <a:t>        *   *Gravitational Force (Fg):* The attractive force between any two objects with mass (e.g., Earth pulling an apple down).</a:t>
            </a:r>
          </a:p>
          <a:p>
            <a:r>
              <a:rPr sz="1800"/>
              <a:t>        *   *Magnetic Force (Fmag):* Attraction or repulsion between magnets or magnetic materials.</a:t>
            </a:r>
          </a:p>
          <a:p>
            <a:r>
              <a:rPr sz="1800"/>
              <a:t>        *   *Electrostatic Force (Fe):* Attraction or repulsion between electrically charged objects.</a:t>
            </a:r>
          </a:p>
          <a:p>
            <a:r>
              <a:rPr sz="1800"/>
              <a:t>    *   *(Optional: Use real-world examples or quick demos for each type).*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**Effects of Forces:** Forces can:</a:t>
            </a:r>
          </a:p>
        </p:txBody>
      </p:sp>
      <p:sp>
        <p:nvSpPr>
          <p:cNvPr id="3" name="Subtitle 2"/>
          <p:cNvSpPr>
            <a:spLocks noGrp="1"/>
          </p:cNvSpPr>
          <p:nvPr>
            <p:ph type="subTitle" idx="1"/>
          </p:nvPr>
        </p:nvSpPr>
        <p:spPr/>
        <p:txBody>
          <a:bodyPr/>
          <a:lstStyle/>
          <a:p>
            <a:r>
              <a:rPr sz="1800"/>
              <a:t>*   **Start motion:** (e.g., kicking a stationary soccer ball).</a:t>
            </a:r>
          </a:p>
          <a:p>
            <a:r>
              <a:rPr sz="1800"/>
              <a:t>    *   **Stop motion:** (e.g., a catcher catching a baseball).</a:t>
            </a:r>
          </a:p>
          <a:p>
            <a:r>
              <a:rPr sz="1800"/>
              <a:t>    *   **Change the speed of an object:** (e.g., pressing the accelerator or brake in a car).</a:t>
            </a:r>
          </a:p>
          <a:p>
            <a:r>
              <a:rPr sz="1800"/>
              <a:t>    *   **Change the direction of an object:** (e.g., a tennis racket hitting a ball).</a:t>
            </a:r>
          </a:p>
          <a:p>
            <a:r>
              <a:rPr sz="1800"/>
              <a:t>    *   **Change the shape or size of an object:** (e.g., crushing a soda can, stretching a spring).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**Net Force (Resultant Force):**</a:t>
            </a:r>
          </a:p>
        </p:txBody>
      </p:sp>
      <p:sp>
        <p:nvSpPr>
          <p:cNvPr id="3" name="Subtitle 2"/>
          <p:cNvSpPr>
            <a:spLocks noGrp="1"/>
          </p:cNvSpPr>
          <p:nvPr>
            <p:ph type="subTitle" idx="1"/>
          </p:nvPr>
        </p:nvSpPr>
        <p:spPr/>
        <p:txBody>
          <a:bodyPr/>
          <a:lstStyle/>
          <a:p>
            <a:r>
              <a:rPr sz="1800"/>
              <a:t>*   **Definition:** The single, overall force acting on an object, considering all individual forces and their directions.</a:t>
            </a:r>
          </a:p>
          <a:p>
            <a:r>
              <a:rPr sz="1800"/>
              <a:t>    *   **Calculation:** Forces in the same direction add up; forces in opposite directions subtract.</a:t>
            </a:r>
          </a:p>
          <a:p>
            <a:r>
              <a:rPr sz="1800"/>
              <a:t>    *   **Balanced Forces:** When the net force is zero (F_net = 0 N).</a:t>
            </a:r>
          </a:p>
          <a:p>
            <a:r>
              <a:rPr sz="1800"/>
              <a:t>        *   **Result:** If the object is at rest, it remains at rest. If the object is moving, it continues to move at a constant velocity (constant speed in a straight line). Briefly mention this is related to **inertia** (Newton's First Law).</a:t>
            </a:r>
          </a:p>
          <a:p>
            <a:r>
              <a:rPr sz="1800"/>
              <a:t>    *   **Unbalanced Forces:** When the net force is greater than zero (F_net ≠ 0 N).</a:t>
            </a:r>
          </a:p>
          <a:p>
            <a:r>
              <a:rPr sz="1800"/>
              <a:t>        *   **Result:** The object will **accelerate** (change its velocity – speed up, slow down, or change direction). This sets the stage for Newton's Second Law.</a:t>
            </a:r>
          </a:p>
          <a:p/>
          <a:p>
            <a:r>
              <a:rPr sz="1800"/>
              <a:t>### 4. Guided Practice / Class Activities</a:t>
            </a:r>
          </a:p>
          <a:p/>
          <a:p>
            <a:r>
              <a:rPr sz="1800"/>
              <a:t>(Approx. 25-30 minutes)</a:t>
            </a:r>
          </a:p>
          <a:p/>
          <a:p>
            <a:r>
              <a:rPr sz="1800"/>
              <a:t>**Activity 1: Force Identification &amp; Categorization (Individual/Pairs)**</a:t>
            </a:r>
          </a:p>
          <a:p>
            <a:r>
              <a:rPr sz="1800"/>
              <a:t>*   **Task:** Provide students with a worksheet or projected scenarios. For each scenario, they must identify 1-2 forces present and categorize them as contact or non-contact.</a:t>
            </a:r>
          </a:p>
          <a:p>
            <a:r>
              <a:rPr sz="1800"/>
              <a:t>*   **Scenarios:**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A book resting on a table. (Normal, Gravity)</a:t>
            </a:r>
          </a:p>
        </p:txBody>
      </p:sp>
      <p:sp>
        <p:nvSpPr>
          <p:cNvPr id="3" name="Subtitle 2"/>
          <p:cNvSpPr>
            <a:spLocks noGrp="1"/>
          </p:cNvSpPr>
          <p:nvPr>
            <p:ph type="subTitle" idx="1"/>
          </p:nvPr>
        </p:nvSpPr>
        <p:spPr/>
        <p:txBody>
          <a:bodyP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An apple falling from a tree. (Gravity, Air Resistance)</a:t>
            </a:r>
          </a:p>
        </p:txBody>
      </p:sp>
      <p:sp>
        <p:nvSpPr>
          <p:cNvPr id="3" name="Subtitle 2"/>
          <p:cNvSpPr>
            <a:spLocks noGrp="1"/>
          </p:cNvSpPr>
          <p:nvPr>
            <p:ph type="subTitle" idx="1"/>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A person pushing a car that won't start. (Applied, Friction, Gravity, Normal)</a:t>
            </a:r>
          </a:p>
        </p:txBody>
      </p:sp>
      <p:sp>
        <p:nvSpPr>
          <p:cNvPr id="3" name="Subtitle 2"/>
          <p:cNvSpPr>
            <a:spLocks noGrp="1"/>
          </p:cNvSpPr>
          <p:nvPr>
            <p:ph type="subTitle" idx="1"/>
          </p:nvPr>
        </p:nvSpPr>
        <p:spPr/>
        <p:txBody>
          <a:bodyP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A magnet lifting a paperclip. (Magnetic, Gravity)</a:t>
            </a:r>
          </a:p>
        </p:txBody>
      </p:sp>
      <p:sp>
        <p:nvSpPr>
          <p:cNvPr id="3" name="Subtitle 2"/>
          <p:cNvSpPr>
            <a:spLocks noGrp="1"/>
          </p:cNvSpPr>
          <p:nvPr>
            <p:ph type="subTitle" idx="1"/>
          </p:nvPr>
        </p:nvSpPr>
        <p:spPr/>
        <p:txBody>
          <a:bodyPr/>
          <a:lstStyle/>
          <a:p>
            <a:r>
              <a:rPr sz="1800"/>
              <a:t>*   **Engagement:** Circulate, provide immediate feedback, and encourage discussion in pairs.</a:t>
            </a:r>
          </a:p>
          <a:p/>
          <a:p>
            <a:r>
              <a:rPr sz="1800"/>
              <a:t>**Activity 2: "Tug-of-War" Net Force Simulation (Whole Class/Small Groups)**</a:t>
            </a:r>
          </a:p>
          <a:p>
            <a:r>
              <a:rPr sz="1800"/>
              <a:t>*   **Setup:** Use a rope or simply designate two areas on the floor. Have 2-3 student volunteers act as "teams" pulling in opposite directions.</a:t>
            </a:r>
          </a:p>
          <a:p>
            <a:r>
              <a:rPr sz="1800"/>
              <a:t>*   **Scenario 1 (Balanced):** "Team A pulls with 100N, Team B pulls with 100N." Ask: "What is the net force? What happens to the rope?" (Fnet = 0, rope doesn't move/moves at constant velocity if already moving).</a:t>
            </a:r>
          </a:p>
          <a:p>
            <a:r>
              <a:rPr sz="1800"/>
              <a:t>*   **Scenario 2 (Unbalanced):** "Team A pulls with 120N, Team B pulls with 80N." Ask: "What is the net force? Who wins? Which way does the rope accelerate?" (Fnet = 40N towards Team A, rope accelerates towards Team A).</a:t>
            </a:r>
          </a:p>
          <a:p>
            <a:r>
              <a:rPr sz="1800"/>
              <a:t>*   **Discussion:** Reinforce the concepts of balanced and unbalanced forces with a physical demonstration. Discuss how to calculate the net force.</a:t>
            </a:r>
          </a:p>
          <a:p/>
          <a:p>
            <a:r>
              <a:rPr sz="1800"/>
              <a:t>**Activity 3: Drawing &amp; Calculating Net Force (Worksheet/Whiteboard Practice)**</a:t>
            </a:r>
          </a:p>
          <a:p>
            <a:r>
              <a:rPr sz="1800"/>
              <a:t>*   **Task:** Provide students with simple diagrams showing an object with forces acting on it in one dimension. Students draw the force vectors (arrows) and calculate the net force. Then, they state whether the forces are balanced or unbalanced and predict the object's motion.</a:t>
            </a:r>
          </a:p>
          <a:p>
            <a:r>
              <a:rPr sz="1800"/>
              <a:t>*   **Examples:**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A box pushed by F1 = 50 N (right) and F2 = 30 N (right). (Net F = 80N right, unb</a:t>
            </a:r>
          </a:p>
        </p:txBody>
      </p:sp>
      <p:sp>
        <p:nvSpPr>
          <p:cNvPr id="3" name="Subtitle 2"/>
          <p:cNvSpPr>
            <a:spLocks noGrp="1"/>
          </p:cNvSpPr>
          <p:nvPr>
            <p:ph type="subTitle" idx="1"/>
          </p:nvPr>
        </p:nvSpPr>
        <p:spPr/>
        <p:txBody>
          <a:bodyPr/>
          <a:lstStyle/>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A box pushed by F1 = 70 N (right) and F2 = 70 N (left). (Net F = 0N, balanced, a</a:t>
            </a:r>
          </a:p>
        </p:txBody>
      </p:sp>
      <p:sp>
        <p:nvSpPr>
          <p:cNvPr id="3" name="Subtitle 2"/>
          <p:cNvSpPr>
            <a:spLocks noGrp="1"/>
          </p:cNvSpPr>
          <p:nvPr>
            <p:ph type="subTitle" idx="1"/>
          </p:nvPr>
        </p:nvSpPr>
        <p:spPr/>
        <p:txBody>
          <a:bodyPr/>
          <a:lstStyl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A box pulled by F1 = 60 N (right) and F2 = 20 N (left). (Net F = 40N right, unba</a:t>
            </a:r>
          </a:p>
        </p:txBody>
      </p:sp>
      <p:sp>
        <p:nvSpPr>
          <p:cNvPr id="3" name="Subtitle 2"/>
          <p:cNvSpPr>
            <a:spLocks noGrp="1"/>
          </p:cNvSpPr>
          <p:nvPr>
            <p:ph type="subTitle" idx="1"/>
          </p:nvPr>
        </p:nvSpPr>
        <p:spPr/>
        <p:txBody>
          <a:bodyPr/>
          <a:lstStyl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A balloon floating upwards with a lift force of 30N and gravity pulling down wit</a:t>
            </a:r>
          </a:p>
        </p:txBody>
      </p:sp>
      <p:sp>
        <p:nvSpPr>
          <p:cNvPr id="3" name="Subtitle 2"/>
          <p:cNvSpPr>
            <a:spLocks noGrp="1"/>
          </p:cNvSpPr>
          <p:nvPr>
            <p:ph type="subTitle" idx="1"/>
          </p:nvPr>
        </p:nvSpPr>
        <p:spPr/>
        <p:txBody>
          <a:bodyPr/>
          <a:lstStyle/>
          <a:p>
            <a:r>
              <a:rPr sz="1800"/>
              <a:t>*   **Engagement:** Use mini-whiteboards for quick checks, or have students work on a worksheet. Review answers as a class.</a:t>
            </a:r>
          </a:p>
          <a:p/>
          <a:p>
            <a:r>
              <a:rPr sz="1800"/>
              <a:t>### 5. Assessment Ideas</a:t>
            </a:r>
          </a:p>
          <a:p/>
          <a:p>
            <a:r>
              <a:rPr sz="1800"/>
              <a:t>**Formative (During Lesson):**</a:t>
            </a:r>
          </a:p>
          <a:p/>
          <a:p>
            <a:r>
              <a:rPr sz="1800"/>
              <a:t>*   **Thumbs Up/Down/Sideways:** After explaining a concept (e.g., balanced vs. unbalanced), ask students to show their understanding.</a:t>
            </a:r>
          </a:p>
          <a:p>
            <a:r>
              <a:rPr sz="1800"/>
              <a:t>*   **Mini Whiteboards:** Pose a quick question (e.g., "What is the unit of force?" or "Calculate the net force: 20N left, 5N right") and have students hold up their answers.</a:t>
            </a:r>
          </a:p>
          <a:p>
            <a:r>
              <a:rPr sz="1800"/>
              <a:t>*   **Think-Pair-Share:** Ask a probing question like, "Why do you need to keep pedaling a bike to maintain constant speed on flat ground, even though constant velocity implies zero net force?" (To overcome friction and air resistance).</a:t>
            </a:r>
          </a:p>
          <a:p>
            <a:r>
              <a:rPr sz="1800"/>
              <a:t>*   **Observation:** Monitor student participation, engagement, and accuracy during activities and discussions.</a:t>
            </a:r>
          </a:p>
          <a:p/>
          <a:p>
            <a:r>
              <a:rPr sz="1800"/>
              <a:t>**Summative (After Lesson / Homework):**</a:t>
            </a:r>
          </a:p>
          <a:p/>
          <a:p>
            <a:r>
              <a:rPr sz="1800"/>
              <a:t>*   **Short Quiz:**</a:t>
            </a:r>
          </a:p>
          <a:p>
            <a:r>
              <a:rPr sz="1800"/>
              <a:t>    *   Multiple-choice questions on definitions, types of forces.</a:t>
            </a:r>
          </a:p>
          <a:p>
            <a:r>
              <a:rPr sz="1800"/>
              <a:t>    *   Short-answer questions explaining vector nature or effects of forces.</a:t>
            </a:r>
          </a:p>
          <a:p>
            <a:r>
              <a:rPr sz="1800"/>
              <a:t>    *   2-3 problems requiring calculation of net force and prediction of motion.</a:t>
            </a:r>
          </a:p>
          <a:p>
            <a:r>
              <a:rPr sz="1800"/>
              <a:t>*   **Problem-Solving Worksheet:** A set of 5-7 problems requiring students to identify forces, draw simple force diagrams (if introduced), calculate net force, and describe the resulting motion.</a:t>
            </a:r>
          </a:p>
          <a:p>
            <a:r>
              <a:rPr sz="1800"/>
              <a:t>*   **"Force Story" Challenge:** Students choose an everyday activity (e.g., throwing a ball, sitting on a chair, opening a door) and write a short paragraph or draw a storyboard explaining at least three different forces involved and their effects.</a:t>
            </a:r>
          </a:p>
          <a:p/>
          <a:p>
            <a:r>
              <a:rPr sz="1800"/>
              <a:t>### 6. Summary / Conclusion</a:t>
            </a:r>
          </a:p>
          <a:p/>
          <a:p>
            <a:r>
              <a:rPr sz="1800"/>
              <a:t>(Approx. 5-7 minutes)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**Recap Key Points:** "Today, we've explored the fundamental concept of force. W</a:t>
            </a:r>
          </a:p>
        </p:txBody>
      </p:sp>
      <p:sp>
        <p:nvSpPr>
          <p:cNvPr id="3" name="Subtitle 2"/>
          <p:cNvSpPr>
            <a:spLocks noGrp="1"/>
          </p:cNvSpPr>
          <p:nvPr>
            <p:ph type="subTitle" idx="1"/>
          </p:nvPr>
        </p:nvSpPr>
        <p:spPr/>
        <p:txBody>
          <a:bodyP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**Key Takeaways (Q&amp;A style):**</a:t>
            </a:r>
          </a:p>
        </p:txBody>
      </p:sp>
      <p:sp>
        <p:nvSpPr>
          <p:cNvPr id="3" name="Subtitle 2"/>
          <p:cNvSpPr>
            <a:spLocks noGrp="1"/>
          </p:cNvSpPr>
          <p:nvPr>
            <p:ph type="subTitle" idx="1"/>
          </p:nvPr>
        </p:nvSpPr>
        <p:spPr/>
        <p:txBody>
          <a:bodyPr/>
          <a:lstStyle/>
          <a:p>
            <a:r>
              <a:rPr sz="1800"/>
              <a:t>*   "What's the main difference between a contact and a non-contact force?"</a:t>
            </a:r>
          </a:p>
          <a:p>
            <a:r>
              <a:rPr sz="1800"/>
              <a:t>    *   "If an object has a net force of zero, what can you say about its motion?"</a:t>
            </a:r>
          </a:p>
          <a:p>
            <a:r>
              <a:rPr sz="1800"/>
              <a:t>    *   "Why is knowing the direction of a force just as important as knowing its magnitude?"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**Real-World Connection:** "Forces are everywhere around us, constantly influenc</a:t>
            </a:r>
          </a:p>
        </p:txBody>
      </p:sp>
      <p:sp>
        <p:nvSpPr>
          <p:cNvPr id="3" name="Subtitle 2"/>
          <p:cNvSpPr>
            <a:spLocks noGrp="1"/>
          </p:cNvSpPr>
          <p:nvPr>
            <p:ph type="subTitle" idx="1"/>
          </p:nvPr>
        </p:nvSpPr>
        <p:spPr/>
        <p:txBody>
          <a:bodyPr/>
          <a:lstStyle/>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1800"/>
              <a:t>**Looking Ahead:** "Next time, we'll delve deeper into how unbalanced forces cau</a:t>
            </a:r>
          </a:p>
        </p:txBody>
      </p:sp>
      <p:sp>
        <p:nvSpPr>
          <p:cNvPr id="3" name="Subtitle 2"/>
          <p:cNvSpPr>
            <a:spLocks noGrp="1"/>
          </p:cNvSpPr>
          <p:nvPr>
            <p:ph type="subTitle" idx="1"/>
          </p:nvPr>
        </p:nvSpPr>
        <p:spPr/>
        <p:txBody>
          <a:bodyPr/>
          <a:lstStyle/>
          <a:p>
            <a:r>
              <a:rPr sz="1800"/>
              <a:t>### 7. PowerPoint Slide Outline</a:t>
            </a:r>
          </a:p>
          <a:p/>
          <a:p>
            <a:r>
              <a:rPr sz="1800"/>
              <a:t>**Slide 1: Title Slide**</a:t>
            </a:r>
          </a:p>
          <a:p>
            <a:r>
              <a:rPr sz="1800"/>
              <a:t>*   **Title:** Force in Physics: Push, Pull, and Power!</a:t>
            </a:r>
          </a:p>
          <a:p>
            <a:r>
              <a:rPr sz="1800"/>
              <a:t>*   **Subtitle:** Understanding the Fundamentals of Motion</a:t>
            </a:r>
          </a:p>
          <a:p>
            <a:r>
              <a:rPr sz="1800"/>
              <a:t>*   **Image:** Dynamic collage of various forces (e.g., person pushing a box, magnet, gravity, tug-of-war).</a:t>
            </a:r>
          </a:p>
          <a:p/>
          <a:p>
            <a:r>
              <a:rPr sz="1800"/>
              <a:t>**Slide 2: Lesson Objectives**</a:t>
            </a:r>
          </a:p>
          <a:p>
            <a:r>
              <a:rPr sz="1800"/>
              <a:t>*   **Title:** What Will We Learn Today?</a:t>
            </a:r>
          </a:p>
          <a:p>
            <a:r>
              <a:rPr sz="1800"/>
              <a:t>*   **Bullet Points:**</a:t>
            </a:r>
          </a:p>
          <a:p>
            <a:r>
              <a:rPr sz="1800"/>
              <a:t>    *   Define force and its unit (Newton).</a:t>
            </a:r>
          </a:p>
          <a:p>
            <a:r>
              <a:rPr sz="1800"/>
              <a:t>    *   Distinguish between contact and non-contact forces.</a:t>
            </a:r>
          </a:p>
          <a:p>
            <a:r>
              <a:rPr sz="1800"/>
              <a:t>    *   Describe the effects of forces on objects.</a:t>
            </a:r>
          </a:p>
          <a:p>
            <a:r>
              <a:rPr sz="1800"/>
              <a:t>    *   Explain force as a vector quantity.</a:t>
            </a:r>
          </a:p>
          <a:p>
            <a:r>
              <a:rPr sz="1800"/>
              <a:t>    *   Calculate net (resultant) force in one dimension.</a:t>
            </a:r>
          </a:p>
          <a:p>
            <a:r>
              <a:rPr sz="1800"/>
              <a:t>    *   Differentiate between balanced and unbalanced forces.</a:t>
            </a:r>
          </a:p>
          <a:p/>
          <a:p>
            <a:r>
              <a:rPr sz="1800"/>
              <a:t>**Slide 3: Introduction / Starter Activity**</a:t>
            </a:r>
          </a:p>
          <a:p>
            <a:r>
              <a:rPr sz="1800"/>
              <a:t>*   **Title:** Push, Pull, and Everything In Between!</a:t>
            </a:r>
          </a:p>
          <a:p>
            <a:r>
              <a:rPr sz="1800"/>
              <a:t>*   **Activity:** Force Brainstorm &amp; Picture Analysis</a:t>
            </a:r>
          </a:p>
          <a:p>
            <a:r>
              <a:rPr sz="1800"/>
              <a:t>    *   **Instructions:** Look at the images. What do they have in common? What word describes these actions?</a:t>
            </a:r>
          </a:p>
          <a:p>
            <a:r>
              <a:rPr sz="1800"/>
              <a:t>    *   **Images:** Shopping cart, falling apple, magnet, car braking, tug-of-war, kicking ball.</a:t>
            </a:r>
          </a:p>
          <a:p>
            <a:r>
              <a:rPr sz="1800"/>
              <a:t>    *   **Prompt:** What comes to mind when you hear "force"?</a:t>
            </a:r>
          </a:p>
          <a:p/>
          <a:p>
            <a:r>
              <a:rPr sz="1800"/>
              <a:t>**Slide 4: What is Force?**</a:t>
            </a:r>
          </a:p>
          <a:p>
            <a:r>
              <a:rPr sz="1800"/>
              <a:t>*   **Title:** Defining Force</a:t>
            </a:r>
          </a:p>
          <a:p>
            <a:r>
              <a:rPr sz="1800"/>
              <a:t>*   **Bullet Points:**</a:t>
            </a:r>
          </a:p>
          <a:p>
            <a:r>
              <a:rPr sz="1800"/>
              <a:t>    *   A **push** or a **pull**.</a:t>
            </a:r>
          </a:p>
          <a:p>
            <a:r>
              <a:rPr sz="1800"/>
              <a:t>    *   Causes an object to **accelerate**, **deform**, or **change direction**.</a:t>
            </a:r>
          </a:p>
          <a:p>
            <a:r>
              <a:rPr sz="1800"/>
              <a:t>    *   **Unit:** **Newton (N)**, named after Sir Isaac Newton. (1N ≈ holds 100g apple).</a:t>
            </a:r>
          </a:p>
          <a:p>
            <a:r>
              <a:rPr sz="1800"/>
              <a:t>    *   **Symbol:** F</a:t>
            </a:r>
          </a:p>
          <a:p/>
          <a:p>
            <a:r>
              <a:rPr sz="1800"/>
              <a:t>**Slide 5: Force as a Vector**</a:t>
            </a:r>
          </a:p>
          <a:p>
            <a:r>
              <a:rPr sz="1800"/>
              <a:t>*   **Title:** More Than Just Strength: Direction Matters!</a:t>
            </a:r>
          </a:p>
          <a:p>
            <a:r>
              <a:rPr sz="1800"/>
              <a:t>*   **Bullet Points:**</a:t>
            </a:r>
          </a:p>
          <a:p>
            <a:r>
              <a:rPr sz="1800"/>
              <a:t>    *   Force is a **vector quantity**.</a:t>
            </a:r>
          </a:p>
          <a:p>
            <a:r>
              <a:rPr sz="1800"/>
              <a:t>    *   Has both **magnitude** (how strong) and **direction** (which way).</a:t>
            </a:r>
          </a:p>
          <a:p>
            <a:r>
              <a:rPr sz="1800"/>
              <a:t>    *   **Visual:** Represented by an **arrow**.</a:t>
            </a:r>
          </a:p>
          <a:p>
            <a:r>
              <a:rPr sz="1800"/>
              <a:t>        *   Length of arrow = magnitude.</a:t>
            </a:r>
          </a:p>
          <a:p>
            <a:r>
              <a:rPr sz="1800"/>
              <a:t>        *   Arrowhead = direction.</a:t>
            </a:r>
          </a:p>
          <a:p>
            <a:r>
              <a:rPr sz="1800"/>
              <a:t>    *   **Image:** Arrows of different lengths and directions on a grid.</a:t>
            </a:r>
          </a:p>
          <a:p/>
          <a:p>
            <a:r>
              <a:rPr sz="1800"/>
              <a:t>**Slide 6: Types of Forces (Part 1: Contact Forces)**</a:t>
            </a:r>
          </a:p>
          <a:p>
            <a:r>
              <a:rPr sz="1800"/>
              <a:t>*   **Title:** Getting in Touch: Contact Forces</a:t>
            </a:r>
          </a:p>
          <a:p>
            <a:r>
              <a:rPr sz="1800"/>
              <a:t>*   **Bullet Points:**</a:t>
            </a:r>
          </a:p>
          <a:p>
            <a:r>
              <a:rPr sz="1800"/>
              <a:t>    *   Act when objects are **physically touching**.</a:t>
            </a:r>
          </a:p>
          <a:p>
            <a:r>
              <a:rPr sz="1800"/>
              <a:t>    *   **Examples:**</a:t>
            </a:r>
          </a:p>
          <a:p>
            <a:r>
              <a:rPr sz="1800"/>
              <a:t>        *   **Applied Force (Fapp):** Direct push/pull.</a:t>
            </a:r>
          </a:p>
          <a:p>
            <a:r>
              <a:rPr sz="1800"/>
              <a:t>        *   **Friction (Ff):** Opposes motion.</a:t>
            </a:r>
          </a:p>
          <a:p>
            <a:r>
              <a:rPr sz="1800"/>
              <a:t>        *   **Normal Force (Fn):** Surface support (perpendicular).</a:t>
            </a:r>
          </a:p>
          <a:p>
            <a:r>
              <a:rPr sz="1800"/>
              <a:t>        *   **Tension (Ft):** Pull through rope/cable.</a:t>
            </a:r>
          </a:p>
          <a:p>
            <a:r>
              <a:rPr sz="1800"/>
              <a:t>        *   **Air Resistance (Fair):** Opposes motion through air.</a:t>
            </a:r>
          </a:p>
          <a:p>
            <a:r>
              <a:rPr sz="1800"/>
              <a:t>    *   **Images:** Simple diagrams illustrating each contact force.</a:t>
            </a:r>
          </a:p>
          <a:p/>
          <a:p>
            <a:r>
              <a:rPr sz="1800"/>
              <a:t>**Slide 7: Types of Forces (Part 2: Non-Contact Forces)**</a:t>
            </a:r>
          </a:p>
          <a:p>
            <a:r>
              <a:rPr sz="1800"/>
              <a:t>*   **Title:** Forces from Afar: Non-Contact Forces (Field Forces)</a:t>
            </a:r>
          </a:p>
          <a:p>
            <a:r>
              <a:rPr sz="1800"/>
              <a:t>*   **Bullet Points:**</a:t>
            </a:r>
          </a:p>
          <a:p>
            <a:r>
              <a:rPr sz="1800"/>
              <a:t>    *   Act over a **distance** without physical contact.</a:t>
            </a:r>
          </a:p>
          <a:p>
            <a:r>
              <a:rPr sz="1800"/>
              <a:t>    *   **Examples:**</a:t>
            </a:r>
          </a:p>
          <a:p>
            <a:r>
              <a:rPr sz="1800"/>
              <a:t>        *   **Gravitational Force (Fg):** Attraction due to mass (e.g., Earth's gravity).</a:t>
            </a:r>
          </a:p>
          <a:p>
            <a:r>
              <a:rPr sz="1800"/>
              <a:t>        *   **Magnetic Force (Fmag):** Attraction/repulsion between magnets.</a:t>
            </a:r>
          </a:p>
          <a:p>
            <a:r>
              <a:rPr sz="1800"/>
              <a:t>        *   **Electrostatic Force (Fe):** Attraction/repulsion between charged objects.</a:t>
            </a:r>
          </a:p>
          <a:p>
            <a:r>
              <a:rPr sz="1800"/>
              <a:t>    *   **Images:** Simple diagrams illustrating each non-contact force.</a:t>
            </a:r>
          </a:p>
          <a:p/>
          <a:p>
            <a:r>
              <a:rPr sz="1800"/>
              <a:t>**Slide 8: Effects of Forces**</a:t>
            </a:r>
          </a:p>
          <a:p>
            <a:r>
              <a:rPr sz="1800"/>
              <a:t>*   **Title:** What Can Forces Do?</a:t>
            </a:r>
          </a:p>
          <a:p>
            <a:r>
              <a:rPr sz="1800"/>
              <a:t>*   **Bullet Points:** Forces can...</a:t>
            </a:r>
          </a:p>
          <a:p>
            <a:r>
              <a:rPr sz="1800"/>
              <a:t>    *   **Start** motion.</a:t>
            </a:r>
          </a:p>
          <a:p>
            <a:r>
              <a:rPr sz="1800"/>
              <a:t>    *   **Stop** motion.</a:t>
            </a:r>
          </a:p>
          <a:p>
            <a:r>
              <a:rPr sz="1800"/>
              <a:t>    *   **Change speed** (accelerate/decelerate).</a:t>
            </a:r>
          </a:p>
          <a:p>
            <a:r>
              <a:rPr sz="1800"/>
              <a:t>    *   **Change direction**.</a:t>
            </a:r>
          </a:p>
          <a:p>
            <a:r>
              <a:rPr sz="1800"/>
              <a:t>    *   **Change shape/size**.</a:t>
            </a:r>
          </a:p>
          <a:p>
            <a:r>
              <a:rPr sz="1800"/>
              <a:t>    *   **Images:** Visual examples for each effect.</a:t>
            </a:r>
          </a:p>
          <a:p/>
          <a:p>
            <a:r>
              <a:rPr sz="1800"/>
              <a:t>**Slide 9: Net Force: The Big Picture**</a:t>
            </a:r>
          </a:p>
          <a:p>
            <a:r>
              <a:rPr sz="1800"/>
              <a:t>*   **Title:** Net Force: The Overall Push or Pull</a:t>
            </a:r>
          </a:p>
          <a:p>
            <a:r>
              <a:rPr sz="1800"/>
              <a:t>*   **Bullet Points:**</a:t>
            </a:r>
          </a:p>
          <a:p>
            <a:r>
              <a:rPr sz="1800"/>
              <a:t>    *   The **overall (resultant)** force acting on an object.</a:t>
            </a:r>
          </a:p>
          <a:p>
            <a:r>
              <a:rPr sz="1800"/>
              <a:t>    *   Determines an object's change in motion.</a:t>
            </a:r>
          </a:p>
          <a:p>
            <a:r>
              <a:rPr sz="1800"/>
              <a:t>    *   Calculated by combining all individual forces (considering direction!).</a:t>
            </a:r>
          </a:p>
          <a:p>
            <a:r>
              <a:rPr sz="1800"/>
              <a:t>    *   **Image:** A block with multiple force arrows acting on it (illustrating combination).</a:t>
            </a:r>
          </a:p>
          <a:p/>
          <a:p>
            <a:r>
              <a:rPr sz="1800"/>
              <a:t>**Slide 10: Balanced Forces**</a:t>
            </a:r>
          </a:p>
          <a:p>
            <a:r>
              <a:rPr sz="1800"/>
              <a:t>*   **Title:** When Forces Cancel Out: Balanced Forces</a:t>
            </a:r>
          </a:p>
          <a:p>
            <a:r>
              <a:rPr sz="1800"/>
              <a:t>*   **Bullet Points:**</a:t>
            </a:r>
          </a:p>
          <a:p>
            <a:r>
              <a:rPr sz="1800"/>
              <a:t>    *   **Net Force = Zero (0 N).**</a:t>
            </a:r>
          </a:p>
          <a:p>
            <a:r>
              <a:rPr sz="1800"/>
              <a:t>    *   **Result:**</a:t>
            </a:r>
          </a:p>
          <a:p>
            <a:r>
              <a:rPr sz="1800"/>
              <a:t>        *   Object at rest stays at rest.</a:t>
            </a:r>
          </a:p>
          <a:p>
            <a:r>
              <a:rPr sz="1800"/>
              <a:t>        *   Object moving continues at **constant velocity** (constant speed in a straight line).</a:t>
            </a:r>
          </a:p>
          <a:p>
            <a:r>
              <a:rPr sz="1800"/>
              <a:t>    *   **Concept:** Related to **inertia** (Newton's 1st Law).</a:t>
            </a:r>
          </a:p>
          <a:p>
            <a:r>
              <a:rPr sz="1800"/>
              <a:t>    *   **Image:** Tug-of-war with equal forces, book on a table.</a:t>
            </a:r>
          </a:p>
          <a:p/>
          <a:p>
            <a:r>
              <a:rPr sz="1800"/>
              <a:t>**Slide 11: Unbalanced Forces**</a:t>
            </a:r>
          </a:p>
          <a:p>
            <a:r>
              <a:rPr sz="1800"/>
              <a:t>*   **Title:** When Forces Win: Unbalanced Forces</a:t>
            </a:r>
          </a:p>
          <a:p>
            <a:r>
              <a:rPr sz="1800"/>
              <a:t>*   **Bullet Points:**</a:t>
            </a:r>
          </a:p>
          <a:p>
            <a:r>
              <a:rPr sz="1800"/>
              <a:t>    *   **Net Force ≠ Zero (not 0 N).**</a:t>
            </a:r>
          </a:p>
          <a:p>
            <a:r>
              <a:rPr sz="1800"/>
              <a:t>    *   **Result:** The object will **accelerate** (change its velocity – speed up, slow down, or change direction).</a:t>
            </a:r>
          </a:p>
          <a:p>
            <a:r>
              <a:rPr sz="1800"/>
              <a:t>    *   **Future Link:** Leads to Newton's Second Law (F=ma).</a:t>
            </a:r>
          </a:p>
          <a:p>
            <a:r>
              <a:rPr sz="1800"/>
              <a:t>    *   **Image:** Tug-of-war with unequal forces, person pushing a moving box.</a:t>
            </a:r>
          </a:p>
          <a:p/>
          <a:p>
            <a:r>
              <a:rPr sz="1800"/>
              <a:t>**Slide 12: Guided Practice 1: Force Identification**</a:t>
            </a:r>
          </a:p>
          <a:p>
            <a:r>
              <a:rPr sz="1800"/>
              <a:t>*   **Title:** Activity: Spot the Forces!</a:t>
            </a:r>
          </a:p>
          <a:p>
            <a:r>
              <a:rPr sz="1800"/>
              <a:t>*   **Instructions:** For each scenario, identify the forces present and state if they are contact or non-contact.</a:t>
            </a:r>
          </a:p>
          <a:p>
            <a:r>
              <a:rPr sz="1800"/>
              <a:t>*   **Scenarios (Text/Image):** Book on table, falling apple, magnet &amp; paperclip, braking car.</a:t>
            </a:r>
          </a:p>
          <a:p/>
          <a:p>
            <a:r>
              <a:rPr sz="1800"/>
              <a:t>**Slide 13: Guided Practice 2: Tug-of-War Simulation**</a:t>
            </a:r>
          </a:p>
          <a:p>
            <a:r>
              <a:rPr sz="1800"/>
              <a:t>*   **Title:** Class Activity: The Net Force Tug-of-War!</a:t>
            </a:r>
          </a:p>
          <a:p>
            <a:r>
              <a:rPr sz="1800"/>
              <a:t>*   **Instructions:** (Teacher-led). Let's simulate tug-of-war. Calculate the net force and predict motion.</a:t>
            </a:r>
          </a:p>
          <a:p>
            <a:r>
              <a:rPr sz="1800"/>
              <a:t>*   **Scenarios:** Team A=100N, Team B=80N; Team A=120N, Team B=120N; Team A=70N, Team B=90N.</a:t>
            </a:r>
          </a:p>
          <a:p>
            <a:r>
              <a:rPr sz="1800"/>
              <a:t>*   **Visual:** Simple diagram of a rope with force arrows.</a:t>
            </a:r>
          </a:p>
          <a:p/>
          <a:p>
            <a:r>
              <a:rPr sz="1800"/>
              <a:t>**Slide 14: Guided Practice 3: Calculating Net Force**</a:t>
            </a:r>
          </a:p>
          <a:p>
            <a:r>
              <a:rPr sz="1800"/>
              <a:t>*   **Title:** Practice Time: Calculate the Net Force!</a:t>
            </a:r>
          </a:p>
          <a:p>
            <a:r>
              <a:rPr sz="1800"/>
              <a:t>*   **Instructions:** For each object, calculate the net force and state the resulting motion.</a:t>
            </a:r>
          </a:p>
          <a:p>
            <a:r>
              <a:rPr sz="1800"/>
              <a:t>*   **Problems (Diagrams with forces):**</a:t>
            </a:r>
          </a:p>
          <a:p>
            <a:r>
              <a:rPr sz="1800"/>
              <a:t>    *   Box: 20N (R), 15N (R)</a:t>
            </a:r>
          </a:p>
          <a:p>
            <a:r>
              <a:rPr sz="1800"/>
              <a:t>    *   Box: 40N (R), 40N (L)</a:t>
            </a:r>
          </a:p>
          <a:p>
            <a:r>
              <a:rPr sz="1800"/>
              <a:t>    *   Box: 60N (R), 20N (L)</a:t>
            </a:r>
          </a:p>
          <a:p>
            <a:r>
              <a:rPr sz="1800"/>
              <a:t>    *   Balloon: 30N (U), 20N (D)</a:t>
            </a:r>
          </a:p>
          <a:p/>
          <a:p>
            <a:r>
              <a:rPr sz="1800"/>
              <a:t>**Slide 15: Assessment Ideas**</a:t>
            </a:r>
          </a:p>
          <a:p>
            <a:r>
              <a:rPr sz="1800"/>
              <a:t>*   **Title:** How Do We Know We've Got It?</a:t>
            </a:r>
          </a:p>
          <a:p>
            <a:r>
              <a:rPr sz="1800"/>
              <a:t>*   **Bullet Points:**</a:t>
            </a:r>
          </a:p>
          <a:p>
            <a:r>
              <a:rPr sz="1800"/>
              <a:t>    *   **Formative:** Thumbs Up/Down, Mini-whiteboards, Think-Pair-Share, Observation.</a:t>
            </a:r>
          </a:p>
          <a:p>
            <a:r>
              <a:rPr sz="1800"/>
              <a:t>    *   **Summative:** Short Quiz, Problem-Solving Worksheet, "Force Story" Challenge.</a:t>
            </a:r>
          </a:p>
          <a:p/>
          <a:p>
            <a:r>
              <a:rPr sz="1800"/>
              <a:t>**Slide 16: Summary / Conclusion**</a:t>
            </a:r>
          </a:p>
          <a:p>
            <a:r>
              <a:rPr sz="1800"/>
              <a:t>*   **Title:** Forces: A Recap!</a:t>
            </a:r>
          </a:p>
          <a:p>
            <a:r>
              <a:rPr sz="1800"/>
              <a:t>*   **Bullet Points:**</a:t>
            </a:r>
          </a:p>
          <a:p>
            <a:r>
              <a:rPr sz="1800"/>
              <a:t>    *   Force = push/pull (Newtons, vector).</a:t>
            </a:r>
          </a:p>
          <a:p>
            <a:r>
              <a:rPr sz="1800"/>
              <a:t>    *   Types: Contact (friction, normal) &amp; Non-contact (gravity, magnetic).</a:t>
            </a:r>
          </a:p>
          <a:p>
            <a:r>
              <a:rPr sz="1800"/>
              <a:t>    *   Effects: Change motion, speed, direction, shape.</a:t>
            </a:r>
          </a:p>
          <a:p>
            <a:r>
              <a:rPr sz="1800"/>
              <a:t>    *   Net Force: Overall force.</a:t>
            </a:r>
          </a:p>
          <a:p>
            <a:r>
              <a:rPr sz="1800"/>
              <a:t>    *   Balanced Forces (Net F = 0): No acceleration.</a:t>
            </a:r>
          </a:p>
          <a:p>
            <a:r>
              <a:rPr sz="1800"/>
              <a:t>    *   Unbalanced Forces (Net F ≠ 0): Causes acceleration.</a:t>
            </a:r>
          </a:p>
          <a:p>
            <a:r>
              <a:rPr sz="1800"/>
              <a:t>*   **Question:** What was the most interesting thing you learned today?</a:t>
            </a:r>
          </a:p>
          <a:p/>
          <a:p>
            <a:r>
              <a:rPr sz="1800"/>
              <a:t>**Slide 17: Looking Ahead &amp; Questions**</a:t>
            </a:r>
          </a:p>
          <a:p>
            <a:r>
              <a:rPr sz="1800"/>
              <a:t>*   **Title:** What's Next? &amp; Your Questions!</a:t>
            </a:r>
          </a:p>
          <a:p>
            <a:r>
              <a:rPr sz="1800"/>
              <a:t>*   **Bullet Points:**</a:t>
            </a:r>
          </a:p>
          <a:p>
            <a:r>
              <a:rPr sz="1800"/>
              <a:t>    *   Next Lesson: Newton's Laws of Motion (especially F=ma!).</a:t>
            </a:r>
          </a:p>
          <a:p>
            <a:r>
              <a:rPr sz="1800"/>
              <a:t>    *   Think about: How does force affect *how much* an object accelerates?</a:t>
            </a:r>
          </a:p>
          <a:p>
            <a:r>
              <a:rPr sz="1800"/>
              <a:t>*   **Prompt:** Any questions about Force?</a:t>
            </a:r>
          </a:p>
          <a:p>
            <a:r>
              <a:rPr sz="1800"/>
              <a:t>*   **Image:** A thought bubble or question mark.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TotalTime>
  <Words>539</Words>
  <Application>Microsoft Office PowerPoint</Application>
  <PresentationFormat>Custom</PresentationFormat>
  <Paragraphs>66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Helvetica World</vt:lpstr>
      <vt:lpstr>Arial</vt:lpstr>
      <vt:lpstr>Helvetica World Bold</vt:lpstr>
      <vt:lpstr>Georgia Pro Condensed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Algorithms: Searching and Sorting</dc:title>
  <dc:description>Presentation - Algorithms: Searching and Sorting</dc:description>
  <cp:lastModifiedBy>user</cp:lastModifiedBy>
  <cp:revision>3</cp:revision>
  <dcterms:created xsi:type="dcterms:W3CDTF">2006-08-16T00:00:00Z</dcterms:created>
  <dcterms:modified xsi:type="dcterms:W3CDTF">2025-11-05T12:34:16Z</dcterms:modified>
  <dc:identifier>DAG3zzhZX2A</dc:identifier>
</cp:coreProperties>
</file>