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</p:sldIdLst>
  <p:sldSz cx="18288000" cy="10287000"/>
  <p:notesSz cx="6858000" cy="9144000"/>
  <p:embeddedFontLst>
    <p:embeddedFont>
      <p:font typeface="Helvetica World" panose="020B0604020202020204" charset="-128"/>
      <p:regular r:id="rId14"/>
    </p:embeddedFont>
    <p:embeddedFont>
      <p:font typeface="Helvetica World Bold" panose="020B0604020202020204" charset="-128"/>
      <p:regular r:id="rId15"/>
    </p:embeddedFont>
    <p:embeddedFont>
      <p:font typeface="Georgia Pro Condense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1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3" Type="http://schemas.openxmlformats.org/officeDocument/2006/relationships/image" Target="../media/image1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4F6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9001760"/>
            <a:ext cx="6886575" cy="5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u="none" strike="noStrike" spc="-57" dirty="0" smtClean="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 Mr. Edward Paul</a:t>
            </a:r>
            <a:endParaRPr lang="en-US" sz="3800" u="none" strike="noStrike" spc="-57" dirty="0">
              <a:solidFill>
                <a:srgbClr val="1C1C1C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5380" y="975068"/>
            <a:ext cx="9754495" cy="579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u="none" strike="noStrike" spc="-523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Algorithms: Searching and Sorting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3581400"/>
            <a:chOff x="0" y="0"/>
            <a:chExt cx="17259300" cy="47752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Understanding Algorithms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Their Importance in Computer Science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059641"/>
              <a:ext cx="13512134" cy="1715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Algorithms are essential, defined as step-by-step procedures for solving problems. They enable computers to efficiently process information, making them a fundamental aspect of computer science and programming.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08300"/>
            <a:ext cx="5448300" cy="6711950"/>
            <a:chOff x="0" y="0"/>
            <a:chExt cx="1434943" cy="1767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2908300"/>
            <a:ext cx="5448300" cy="6711950"/>
            <a:chOff x="0" y="0"/>
            <a:chExt cx="1434943" cy="1767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2908300"/>
            <a:ext cx="5448300" cy="6711950"/>
            <a:chOff x="0" y="0"/>
            <a:chExt cx="1434943" cy="1767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053" y="4248150"/>
            <a:ext cx="4649694" cy="3581400"/>
            <a:chOff x="0" y="0"/>
            <a:chExt cx="1259398" cy="9700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r="-34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19153" y="4248150"/>
            <a:ext cx="4649694" cy="3581400"/>
            <a:chOff x="0" y="0"/>
            <a:chExt cx="1259398" cy="970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r="-34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572253" y="4248150"/>
            <a:ext cx="4649694" cy="3581400"/>
            <a:chOff x="0" y="0"/>
            <a:chExt cx="1259398" cy="970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r="-34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1783" y="8282996"/>
            <a:ext cx="4738234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how algorithms locate data effectively through different searching techniques.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Search Algorithms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3192" y="8282996"/>
            <a:ext cx="4741615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Learn the efficiency differences between linear and binary search methods in data retrieval.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Compare Efficiencies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1109" y="8281844"/>
            <a:ext cx="4691983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the basics of bubble sort and how it organizes data through comparisons.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</a:pPr>
            <a:r>
              <a:rPr lang="en-US" sz="3800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Bubble Sort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spc="-20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Learning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Linear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Sequential Scanning for Data Retrieval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197100"/>
            <a:chOff x="0" y="0"/>
            <a:chExt cx="5744662" cy="2929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186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is a straightforward algorithm that checks each element in a list sequentially until it finds the target value or reaches the end of the list.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Simple Mechanism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method is easy to implement but can be inefficient for large datasets, as it might require examining every single item before locating the desired information.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549525"/>
            <a:chOff x="0" y="0"/>
            <a:chExt cx="5346700" cy="33993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 Cases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is particularly useful for small or unsorted datasets where quick implementation is necessary, making it an ideal choice for simple search tasks.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B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4F6F8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Binary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Divide and Conquer Method Explained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197100"/>
            <a:chOff x="0" y="0"/>
            <a:chExt cx="5744662" cy="2929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186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Binary search is a fast search algorithm that finds the position of a target value within a sorted array, using a divide-and-conquer strategy for efficiency.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Mechanism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algorithm repeatedly divides the search interval in half; comparing the target value to the middle element, it narrows down the potential location until the target is found.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901950"/>
            <a:chOff x="0" y="0"/>
            <a:chExt cx="5346700" cy="38692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Requirements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808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For binary search to work, the data must be sorted beforehand; this prerequisite allows the algorithm to efficiently eliminate half of the remaining elements with each comparison.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C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66750"/>
            <a:ext cx="4010025" cy="6716121"/>
            <a:chOff x="0" y="0"/>
            <a:chExt cx="698915" cy="1170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3611225" y="666750"/>
            <a:ext cx="4010025" cy="6716121"/>
            <a:chOff x="0" y="0"/>
            <a:chExt cx="698915" cy="11705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A66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7829550"/>
            <a:ext cx="2876550" cy="1231011"/>
            <a:chOff x="0" y="0"/>
            <a:chExt cx="3835400" cy="164134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3835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Efficiency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79653"/>
              <a:ext cx="3835400" cy="86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has O(n) time complexity.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7865173"/>
            <a:ext cx="2876550" cy="1231011"/>
            <a:chOff x="0" y="0"/>
            <a:chExt cx="3835400" cy="164134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3835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Pros and Cons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79653"/>
              <a:ext cx="3835400" cy="86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Binary search is faster but needs sorted data.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733425"/>
            <a:ext cx="7021245" cy="44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Comparing Efficiency of Search Algorithms</a:t>
            </a:r>
          </a:p>
        </p:txBody>
      </p:sp>
      <p:sp>
        <p:nvSpPr>
          <p:cNvPr id="16" name="Freeform 1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B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9118" y="3357562"/>
            <a:ext cx="544593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Linear Search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9118" y="5086350"/>
            <a:ext cx="5445932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linear search, each element is examined sequentially until the target is found. This straightforward approach is effective for small or unsorted datasets, but can be slow for larger lists.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9850" y="3357562"/>
            <a:ext cx="5446184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Binary Search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21966" y="5086350"/>
            <a:ext cx="5446184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Binary search requires a sorted list, dividing the search space in half repeatedly, which drastically reduces the number of checks needed to find the target value, making it more efficient than linear search.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72950" y="3357562"/>
            <a:ext cx="54483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Efficiency Comparison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72950" y="5086350"/>
            <a:ext cx="5448300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Comparing the two searches, linear search has a time complexity of O(n), while binary search operates at O(log n), highlighting the significant efficiency gained through the divide-and-conquer strategy of binary search.</a:t>
            </a:r>
          </a:p>
        </p:txBody>
      </p:sp>
      <p:sp>
        <p:nvSpPr>
          <p:cNvPr id="8" name="AutoShape 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w="19050" cap="flat">
            <a:solidFill>
              <a:srgbClr val="2A3A6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669118" y="4248150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21966" y="4248150"/>
            <a:ext cx="323850" cy="32385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172950" y="4248150"/>
            <a:ext cx="323850" cy="32385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Algorithm Tracing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Bubble Sort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Introducing Sorting Algorithms and Their Importance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08300"/>
            <a:ext cx="5448300" cy="6711950"/>
            <a:chOff x="0" y="0"/>
            <a:chExt cx="1434943" cy="1767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2908300"/>
            <a:ext cx="5448300" cy="6711950"/>
            <a:chOff x="0" y="0"/>
            <a:chExt cx="1434943" cy="1767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2908300"/>
            <a:ext cx="5448300" cy="6711950"/>
            <a:chOff x="0" y="0"/>
            <a:chExt cx="1434943" cy="1767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053" y="4248150"/>
            <a:ext cx="4649694" cy="3581400"/>
            <a:chOff x="0" y="0"/>
            <a:chExt cx="1259398" cy="9700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r="-34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19153" y="4248150"/>
            <a:ext cx="4649694" cy="3581400"/>
            <a:chOff x="0" y="0"/>
            <a:chExt cx="1259398" cy="970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r="-34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572253" y="4248150"/>
            <a:ext cx="4649694" cy="3581400"/>
            <a:chOff x="0" y="0"/>
            <a:chExt cx="1259398" cy="970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r="-34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1783" y="8273471"/>
            <a:ext cx="4738234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Compare adjacent elements to determine if they need swapping for sorting.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Compare Elements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3192" y="8273471"/>
            <a:ext cx="4741615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Elements are swapped if they are in the wrong order, ensuring sorting progress.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Swap if Needed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1109" y="8272319"/>
            <a:ext cx="4691983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sorting process continues with repeated passes until the entire list is sorted.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</a:pPr>
            <a:r>
              <a:rPr lang="en-US" sz="3800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Repeat Passes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spc="-20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Bubble Sort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3352800"/>
            <a:ext cx="11201400" cy="6267450"/>
            <a:chOff x="0" y="0"/>
            <a:chExt cx="1471052" cy="823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1052" cy="823089"/>
            </a:xfrm>
            <a:custGeom>
              <a:avLst/>
              <a:gdLst/>
              <a:ahLst/>
              <a:cxnLst/>
              <a:rect l="l" t="t" r="r" b="b"/>
              <a:pathLst>
                <a:path w="1471052" h="823089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r="-52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172950" y="3352800"/>
            <a:ext cx="5448300" cy="6267450"/>
            <a:chOff x="0" y="0"/>
            <a:chExt cx="715512" cy="8230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5512" cy="823089"/>
            </a:xfrm>
            <a:custGeom>
              <a:avLst/>
              <a:gdLst/>
              <a:ahLst/>
              <a:cxnLst/>
              <a:rect l="l" t="t" r="r" b="b"/>
              <a:pathLst>
                <a:path w="715512" h="823089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t="-103" b="-10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Tracing Bubble Sort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9BCEB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09625"/>
            <a:ext cx="5448300" cy="308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Takeaways and Insights</a:t>
            </a:r>
          </a:p>
        </p:txBody>
      </p:sp>
      <p:sp>
        <p:nvSpPr>
          <p:cNvPr id="6" name="Freeform 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734675" y="6944836"/>
            <a:ext cx="6886575" cy="1837373"/>
            <a:chOff x="0" y="0"/>
            <a:chExt cx="9182100" cy="244983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Tracing Importance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295189"/>
              <a:ext cx="9182100" cy="115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algorithms requires </a:t>
              </a: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step-by-step tracing practice.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0" y="1553369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34675" y="4248150"/>
            <a:ext cx="6886575" cy="1808798"/>
            <a:chOff x="0" y="0"/>
            <a:chExt cx="9182100" cy="241173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Sorting Concepts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95189"/>
              <a:ext cx="9182100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Bubble sort</a:t>
              </a: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an essential foundational sorting algorithm.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1562100"/>
            <a:ext cx="6886575" cy="1808798"/>
            <a:chOff x="0" y="0"/>
            <a:chExt cx="9182100" cy="241173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Search Algorithms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95189"/>
              <a:ext cx="9182100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Linear and binary searches</a:t>
              </a: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each have distinct strengths.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C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A3A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9001760"/>
            <a:ext cx="8324850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spc="-57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Practice tracing algorithms today!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03759" y="942975"/>
            <a:ext cx="8317491" cy="3894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Continue Learning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on les partie du corps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AI-Generated Teaching Slides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Bonjour, classe! Welcome to this comprehensive lesson pack on "Les Parties du 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---</a:t>
            </a:r>
          </a:p>
          <a:p/>
          <a:p>
            <a:r>
              <a:rPr sz="2000"/>
              <a:t>## Lesson Pack: Les Parties du Corps</a:t>
            </a:r>
          </a:p>
          <a:p/>
          <a:p>
            <a:r>
              <a:rPr sz="2000"/>
              <a:t>**Topic:** Les Parties du Corps (The Parts of the Body)</a:t>
            </a:r>
          </a:p>
          <a:p>
            <a:r>
              <a:rPr sz="2000"/>
              <a:t>**Target Audience:** Beginner to Early Intermediate French Learners (A1-A2 CEFR Level)</a:t>
            </a:r>
          </a:p>
          <a:p>
            <a:r>
              <a:rPr sz="2000"/>
              <a:t>**Duration:** Approximately 60-75 minutes (adaptable)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1. Lesson Objectives</a:t>
            </a:r>
          </a:p>
          <a:p/>
          <a:p>
            <a:r>
              <a:rPr sz="2000"/>
              <a:t>By the end of this lesson, students will be able to:</a:t>
            </a:r>
          </a:p>
          <a:p/>
          <a:p>
            <a:r>
              <a:rPr sz="2000"/>
              <a:t>*   **Identify** and **name** at least 10 common body parts in French.</a:t>
            </a:r>
          </a:p>
          <a:p>
            <a:r>
              <a:rPr sz="2000"/>
              <a:t>*   **Correctly use** definite articles (le, la, l', les) with body part vocabulary.</a:t>
            </a:r>
          </a:p>
          <a:p>
            <a:r>
              <a:rPr sz="2000"/>
              <a:t>*   **Understand and respond** to simple instructions involving body parts (e.g., in "Jacques a dit...").</a:t>
            </a:r>
          </a:p>
          <a:p>
            <a:r>
              <a:rPr sz="2000"/>
              <a:t>*   **Formulate basic sentences** to describe physical actions or states related to body parts (e.g., "J'ai mal à la tête").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2. Introduction / Starter Activity (10-15 minutes)</a:t>
            </a:r>
          </a:p>
          <a:p/>
          <a:p>
            <a:r>
              <a:rPr sz="2000"/>
              <a:t>**Activity: "Qui suis-je?" (Who am I?) - Mystery Body Part Game**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**Preparation:** Prepare large flashcards or images of various body parts (one 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**Instructions:**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Display the first partial image on the screen (or hold up a flashcard).</a:t>
            </a:r>
          </a:p>
          <a:p>
            <a:r>
              <a:rPr sz="2000"/>
              <a:t>    *   Ask students: "Qu'est-ce que c'est? C'est une partie du corps. Qui suis-je?" (What is it? It's a body part. Who am I?)</a:t>
            </a:r>
          </a:p>
          <a:p>
            <a:r>
              <a:rPr sz="2000"/>
              <a:t>    *   Encourage students to guess in English initially if they don't know the French.</a:t>
            </a:r>
          </a:p>
          <a:p>
            <a:r>
              <a:rPr sz="2000"/>
              <a:t>    *   Once a student guesses correctly (e.g., "It's an eye!"), reveal the full image and introduce the French word: "Oui! C'est **l'œil**." (Yes! It's the eye.) Write it on the board.</a:t>
            </a:r>
          </a:p>
          <a:p>
            <a:r>
              <a:rPr sz="2000"/>
              <a:t>    *   Repeat for 5-7 different body parts.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**Why this works:** It's visual, interactive, sparks curiosity, and pre-introduc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**Transition:** After the activity, state the lesson's goal: "Aujourd'hui, nous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---</a:t>
            </a:r>
          </a:p>
          <a:p/>
          <a:p>
            <a:r>
              <a:rPr sz="2000"/>
              <a:t>### 3. Key Teaching Points (15-20 minutes)</a:t>
            </a:r>
          </a:p>
          <a:p/>
          <a:p>
            <a:r>
              <a:rPr sz="2000"/>
              <a:t>**A. Core Vocabulary &amp; Gender:**</a:t>
            </a:r>
          </a:p>
          <a:p/>
          <a:p>
            <a:r>
              <a:rPr sz="2000"/>
              <a:t>*   Introduce vocabulary clearly, with definite articles (le/la/l'/les) from the start.</a:t>
            </a:r>
          </a:p>
          <a:p>
            <a:r>
              <a:rPr sz="2000"/>
              <a:t>*   **Visual Aid:** Use a clear diagram of a person with labels, or individual flashcards.</a:t>
            </a:r>
          </a:p>
          <a:p>
            <a:r>
              <a:rPr sz="2000"/>
              <a:t>*   **Pronunciation Focus:** Model correct pronunciation, paying attention to silent letters and liaisons. Have students repeat after you (choral and individual).</a:t>
            </a:r>
          </a:p>
          <a:p/>
          <a:p>
            <a:r>
              <a:rPr sz="2000"/>
              <a:t>    *   **La tête** (head)</a:t>
            </a:r>
          </a:p>
          <a:p>
            <a:r>
              <a:rPr sz="2000"/>
              <a:t>    *   **Les cheveux** (hair - plural)</a:t>
            </a:r>
          </a:p>
          <a:p>
            <a:r>
              <a:rPr sz="2000"/>
              <a:t>    *   **Le visage** (face)</a:t>
            </a:r>
          </a:p>
          <a:p>
            <a:r>
              <a:rPr sz="2000"/>
              <a:t>    *   **Les yeux** (eyes - plural, *l'œil* for one eye)</a:t>
            </a:r>
          </a:p>
          <a:p>
            <a:r>
              <a:rPr sz="2000"/>
              <a:t>    *   **Le nez** (nose)</a:t>
            </a:r>
          </a:p>
          <a:p>
            <a:r>
              <a:rPr sz="2000"/>
              <a:t>    *   **La bouche** (mouth)</a:t>
            </a:r>
          </a:p>
          <a:p>
            <a:r>
              <a:rPr sz="2000"/>
              <a:t>    *   **Les oreilles** (ears - plural, *l'oreille* for one ear)</a:t>
            </a:r>
          </a:p>
          <a:p>
            <a:r>
              <a:rPr sz="2000"/>
              <a:t>    *   **Le cou** (neck)</a:t>
            </a:r>
          </a:p>
          <a:p>
            <a:r>
              <a:rPr sz="2000"/>
              <a:t>    *   **Le bras** (arm)</a:t>
            </a:r>
          </a:p>
          <a:p>
            <a:r>
              <a:rPr sz="2000"/>
              <a:t>    *   **La main** (hand)</a:t>
            </a:r>
          </a:p>
          <a:p>
            <a:r>
              <a:rPr sz="2000"/>
              <a:t>    *   **Le doigt** (finger)</a:t>
            </a:r>
          </a:p>
          <a:p>
            <a:r>
              <a:rPr sz="2000"/>
              <a:t>    *   **Le ventre** (stomach)</a:t>
            </a:r>
          </a:p>
          <a:p>
            <a:r>
              <a:rPr sz="2000"/>
              <a:t>    *   **Le dos** (back)</a:t>
            </a:r>
          </a:p>
          <a:p>
            <a:r>
              <a:rPr sz="2000"/>
              <a:t>    *   **La jambe** (leg)</a:t>
            </a:r>
          </a:p>
          <a:p>
            <a:r>
              <a:rPr sz="2000"/>
              <a:t>    *   **Le pied** (foot)</a:t>
            </a:r>
          </a:p>
          <a:p>
            <a:r>
              <a:rPr sz="2000"/>
              <a:t>    *   **L'épaule** (shoulder - f.)</a:t>
            </a:r>
          </a:p>
          <a:p>
            <a:r>
              <a:rPr sz="2000"/>
              <a:t>    *   **Le genou** (knee)</a:t>
            </a:r>
          </a:p>
          <a:p/>
          <a:p>
            <a:r>
              <a:rPr sz="2000"/>
              <a:t>**B. "Avoir mal à..." (To have pain in...)**</a:t>
            </a:r>
          </a:p>
          <a:p/>
          <a:p>
            <a:r>
              <a:rPr sz="2000"/>
              <a:t>*   Introduce the useful expression "avoir mal à" to describe pain or aches.</a:t>
            </a:r>
          </a:p>
          <a:p>
            <a:r>
              <a:rPr sz="2000"/>
              <a:t>*   Explain the contractions:</a:t>
            </a:r>
          </a:p>
          <a:p>
            <a:r>
              <a:rPr sz="2000"/>
              <a:t>    *   **à + le = au** (e.g., J'ai mal **au** dos.)</a:t>
            </a:r>
          </a:p>
          <a:p>
            <a:r>
              <a:rPr sz="2000"/>
              <a:t>    *   **à + la = à la** (e.g., J'ai mal **à la** tête.)</a:t>
            </a:r>
          </a:p>
          <a:p>
            <a:r>
              <a:rPr sz="2000"/>
              <a:t>    *   **à + l' = à l'** (e.g., J'ai mal **à l'**épaule.)</a:t>
            </a:r>
          </a:p>
          <a:p>
            <a:r>
              <a:rPr sz="2000"/>
              <a:t>    *   **à + les = aux** (e.g., J'ai mal **aux** pieds.)</a:t>
            </a:r>
          </a:p>
          <a:p>
            <a:r>
              <a:rPr sz="2000"/>
              <a:t>*   **Practice:** Ask students, "Où as-tu mal?" (Where do you hurt?). Encourage them to respond using the new phrases.</a:t>
            </a:r>
          </a:p>
          <a:p/>
          <a:p>
            <a:r>
              <a:rPr sz="2000"/>
              <a:t>**C. Imperative for Actions (Optional, depending on level):**</a:t>
            </a:r>
          </a:p>
          <a:p/>
          <a:p>
            <a:r>
              <a:rPr sz="2000"/>
              <a:t>*   Briefly introduce simple commands for interactive games.</a:t>
            </a:r>
          </a:p>
          <a:p>
            <a:r>
              <a:rPr sz="2000"/>
              <a:t>    *   "Touchez..." (Touch...)</a:t>
            </a:r>
          </a:p>
          <a:p>
            <a:r>
              <a:rPr sz="2000"/>
              <a:t>    *   "Levez..." (Raise...)</a:t>
            </a:r>
          </a:p>
          <a:p>
            <a:r>
              <a:rPr sz="2000"/>
              <a:t>    *   "Tapez..." (Tap...)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4. Guided Practice or Activities (20-25 minutes)</a:t>
            </a:r>
          </a:p>
          <a:p/>
          <a:p>
            <a:r>
              <a:rPr sz="2000"/>
              <a:t>**Activity 1: "Jacques a dit..." (Simon Says) - (10 minutes)**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**Instructions:** Explain the rules of "Jacques a dit..." (Simon Says) in French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**Gameplay:**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Start with simple commands: "Jacques a dit: touchez votre nez!" (Simon says: touch your nose!)</a:t>
            </a:r>
          </a:p>
          <a:p>
            <a:r>
              <a:rPr sz="2000"/>
              <a:t>    *   Progress to more complex or tricky commands: "Touchez votre pied!" (Without "Jacques a dit..."), "Jacques a dit: levez le bras droit!"</a:t>
            </a:r>
          </a:p>
          <a:p>
            <a:r>
              <a:rPr sz="2000"/>
              <a:t>    *   This is excellent for listening comprehension, quick recall, and kinesthetic learning.</a:t>
            </a:r>
          </a:p>
          <a:p/>
          <a:p>
            <a:r>
              <a:rPr sz="2000"/>
              <a:t>**Activity 2: Label the Monster / Alien (10-15 minutes)**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**Preparation:** Provide a worksheet with a drawing of a funny, simple monster 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**Instructions:** "Dessinez votre propre monstre (ou utilisez cette image). Ensu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**Differentiation:**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**Support:** Provide a word bank of the body parts.</a:t>
            </a:r>
          </a:p>
          <a:p>
            <a:r>
              <a:rPr sz="2000"/>
              <a:t>    *   **Challenge:** Ask students to write a short descriptive sentence for one or two parts (e.g., "Il a trois yeux verts." - He has three green eyes.).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**Pair Share:** Students can then work in pairs, describe their monster to their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---</a:t>
            </a:r>
          </a:p>
          <a:p/>
          <a:p>
            <a:r>
              <a:rPr sz="2000"/>
              <a:t>### 5. Assessment Ideas (Ongoing &amp; End of Lesson)</a:t>
            </a:r>
          </a:p>
          <a:p/>
          <a:p>
            <a:r>
              <a:rPr sz="2000"/>
              <a:t>**Formative Assessment (During the lesson):**</a:t>
            </a:r>
          </a:p>
          <a:p/>
          <a:p>
            <a:r>
              <a:rPr sz="2000"/>
              <a:t>*   **Observation during "Jacques a dit...":** Are students correctly identifying and performing actions for the body parts?</a:t>
            </a:r>
          </a:p>
          <a:p>
            <a:r>
              <a:rPr sz="2000"/>
              <a:t>*   **"Show me" quick check:** Call out a body part in French, and students point to it on themselves.</a:t>
            </a:r>
          </a:p>
          <a:p>
            <a:r>
              <a:rPr sz="2000"/>
              <a:t>*   **"Question-Réponse" (Q&amp;A):** Ask individual students: "Comment dit-on 'head' en français?" or "Où est le bras?"</a:t>
            </a:r>
          </a:p>
          <a:p>
            <a:r>
              <a:rPr sz="2000"/>
              <a:t>*   **Monitoring during "Label the Monster":** Circulate and check for correct spelling and article usage.</a:t>
            </a:r>
          </a:p>
          <a:p>
            <a:r>
              <a:rPr sz="2000"/>
              <a:t>*   **Thumbs Up/Down:** After introducing a new word, ask "Compris?" (Understood?) and students give a quick thumbs up or down.</a:t>
            </a:r>
          </a:p>
          <a:p/>
          <a:p>
            <a:r>
              <a:rPr sz="2000"/>
              <a:t>**Summative Assessment (End of lesson / Homework):**</a:t>
            </a:r>
          </a:p>
          <a:p/>
          <a:p>
            <a:r>
              <a:rPr sz="2000"/>
              <a:t>*   **Exit Ticket:** On a small slip of paper, ask students to write 3-5 body parts they learned today (with articles). Or, "J'ai mal à..." and they complete a sentence.</a:t>
            </a:r>
          </a:p>
          <a:p>
            <a:r>
              <a:rPr sz="2000"/>
              <a:t>*   **Quick Quiz:** A short matching quiz (French word to English, or French word to image).</a:t>
            </a:r>
          </a:p>
          <a:p>
            <a:r>
              <a:rPr sz="2000"/>
              <a:t>*   **"Dictée":** Dictate 5-7 body parts, and students write them down. Focus on spelling and articles.</a:t>
            </a:r>
          </a:p>
          <a:p>
            <a:r>
              <a:rPr sz="2000"/>
              <a:t>*   **Homework:** "Draw your dream monster/alien and label 8-10 body parts in French. Add one sentence describing a specific body part."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6. Summary / Conclusion (5 minutes)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**Quick Recap:** "Alors, qu'avons-nous appris aujourd'hui?" (So, what have we 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Review the main body parts using the visual aid again. Have students call out the names.</a:t>
            </a:r>
          </a:p>
          <a:p>
            <a:r>
              <a:rPr sz="2000"/>
              <a:t>    *   Briefly revisit "J'ai mal à..." and the article contractions.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**"Pictionary" style review (Quick):** Draw a body part quickly on the board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**Connect to future learning:** "La prochaine fois, nous utiliserons ces mots 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**Assign Homework:** Explain the homework task clearly.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**Encouragement:** "Excellent travail tout le monde! À bientôt!" (Excellent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---</a:t>
            </a:r>
          </a:p>
          <a:p/>
          <a:p>
            <a:r>
              <a:rPr sz="2000"/>
              <a:t>### 7. PowerPoint Slide Outline</a:t>
            </a:r>
          </a:p>
          <a:p/>
          <a:p>
            <a:r>
              <a:rPr sz="2000"/>
              <a:t>Here's a possible flow for your PowerPoint presentation, incorporating the lesson elements:</a:t>
            </a:r>
          </a:p>
          <a:p/>
          <a:p>
            <a:r>
              <a:rPr sz="2000"/>
              <a:t>**Slide 1: Title Slide**</a:t>
            </a:r>
          </a:p>
          <a:p>
            <a:r>
              <a:rPr sz="2000"/>
              <a:t>*   **Title:** Les Parties du Corps</a:t>
            </a:r>
          </a:p>
          <a:p>
            <a:r>
              <a:rPr sz="2000"/>
              <a:t>*   **Subtitle:** Apprenons à nommer le corps humain en français!</a:t>
            </a:r>
          </a:p>
          <a:p>
            <a:r>
              <a:rPr sz="2000"/>
              <a:t>*   **Image:** Fun, diverse illustration of people or a human silhouette.</a:t>
            </a:r>
          </a:p>
          <a:p/>
          <a:p>
            <a:r>
              <a:rPr sz="2000"/>
              <a:t>**Slide 2: Objectives**</a:t>
            </a:r>
          </a:p>
          <a:p>
            <a:r>
              <a:rPr sz="2000"/>
              <a:t>*   **Title:** Nos Objectifs Aujourd'hui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Identifier et nommer des parties du corps.</a:t>
            </a:r>
          </a:p>
          <a:p>
            <a:r>
              <a:rPr sz="2000"/>
              <a:t>    *   Utiliser les articles (le, la, l', les) correctement.</a:t>
            </a:r>
          </a:p>
          <a:p>
            <a:r>
              <a:rPr sz="2000"/>
              <a:t>    *   Comprendre et suivre des instructions simples.</a:t>
            </a:r>
          </a:p>
          <a:p>
            <a:r>
              <a:rPr sz="2000"/>
              <a:t>    *   Décrire une douleur avec "J'ai mal à..."</a:t>
            </a:r>
          </a:p>
          <a:p/>
          <a:p>
            <a:r>
              <a:rPr sz="2000"/>
              <a:t>**Slide 3: Introduction / Qui suis-je? (Part 1)**</a:t>
            </a:r>
          </a:p>
          <a:p>
            <a:r>
              <a:rPr sz="2000"/>
              <a:t>*   **Title:** Qui suis-je? Devinez la Partie du Corps!</a:t>
            </a:r>
          </a:p>
          <a:p>
            <a:r>
              <a:rPr sz="2000"/>
              <a:t>*   **Image:** Close-up/partial view of a body part (e.g., an eye).</a:t>
            </a:r>
          </a:p>
          <a:p>
            <a:r>
              <a:rPr sz="2000"/>
              <a:t>*   **Question:** Qu'est-ce que c'est? (click for reveal)</a:t>
            </a:r>
          </a:p>
          <a:p/>
          <a:p>
            <a:r>
              <a:rPr sz="2000"/>
              <a:t>**Slide 4: Introduction / Qui suis-je? (Part 2)**</a:t>
            </a:r>
          </a:p>
          <a:p>
            <a:r>
              <a:rPr sz="2000"/>
              <a:t>*   **Title:** Qui suis-je?</a:t>
            </a:r>
          </a:p>
          <a:p>
            <a:r>
              <a:rPr sz="2000"/>
              <a:t>*   **Image:** Full image of the body part (e.g., an eye).</a:t>
            </a:r>
          </a:p>
          <a:p>
            <a:r>
              <a:rPr sz="2000"/>
              <a:t>*   **Answer:** C'est **l'œil**! (and other parts as they're revealed)</a:t>
            </a:r>
          </a:p>
          <a:p/>
          <a:p>
            <a:r>
              <a:rPr sz="2000"/>
              <a:t>*(Repeat slides 3-4 for 3-4 more body parts, or combine multiple close-ups on one slide with sequential reveals)*</a:t>
            </a:r>
          </a:p>
          <a:p/>
          <a:p>
            <a:r>
              <a:rPr sz="2000"/>
              <a:t>**Slide 5: Le Corps Humain (Diagramme)**</a:t>
            </a:r>
          </a:p>
          <a:p>
            <a:r>
              <a:rPr sz="2000"/>
              <a:t>*   **Title:** Le Corps Humain - Vocabulaire</a:t>
            </a:r>
          </a:p>
          <a:p>
            <a:r>
              <a:rPr sz="2000"/>
              <a:t>*   **Image:** Clear, labelled diagram of a full human body (or silhouette).</a:t>
            </a:r>
          </a:p>
          <a:p>
            <a:r>
              <a:rPr sz="2000"/>
              <a:t>*   **Labels:** Show the French word with its article next to each body part.</a:t>
            </a:r>
          </a:p>
          <a:p>
            <a:r>
              <a:rPr sz="2000"/>
              <a:t>    *   *Animation:* Reveal labels one by one for controlled teaching.</a:t>
            </a:r>
          </a:p>
          <a:p/>
          <a:p>
            <a:r>
              <a:rPr sz="2000"/>
              <a:t>**Slide 6: Vocabulaire Essentiel (List 1)**</a:t>
            </a:r>
          </a:p>
          <a:p>
            <a:r>
              <a:rPr sz="2000"/>
              <a:t>*   **Title:** Les Parties du Corps: La Tête et le Buste</a:t>
            </a:r>
          </a:p>
          <a:p>
            <a:r>
              <a:rPr sz="2000"/>
              <a:t>*   **Bullet Points (with images for each):**</a:t>
            </a:r>
          </a:p>
          <a:p>
            <a:r>
              <a:rPr sz="2000"/>
              <a:t>    *   **La tête** (head)</a:t>
            </a:r>
          </a:p>
          <a:p>
            <a:r>
              <a:rPr sz="2000"/>
              <a:t>    *   **Les cheveux** (hair)</a:t>
            </a:r>
          </a:p>
          <a:p>
            <a:r>
              <a:rPr sz="2000"/>
              <a:t>    *   **Le visage** (face)</a:t>
            </a:r>
          </a:p>
          <a:p>
            <a:r>
              <a:rPr sz="2000"/>
              <a:t>    *   **Les yeux** (eyes) / **L'œil** (one eye)</a:t>
            </a:r>
          </a:p>
          <a:p>
            <a:r>
              <a:rPr sz="2000"/>
              <a:t>    *   **Le nez** (nose)</a:t>
            </a:r>
          </a:p>
          <a:p>
            <a:r>
              <a:rPr sz="2000"/>
              <a:t>    *   **La bouche** (mouth)</a:t>
            </a:r>
          </a:p>
          <a:p>
            <a:r>
              <a:rPr sz="2000"/>
              <a:t>    *   **Les oreilles** (ears) / **L'oreille** (one ear)</a:t>
            </a:r>
          </a:p>
          <a:p>
            <a:r>
              <a:rPr sz="2000"/>
              <a:t>    *   **Le cou** (neck)</a:t>
            </a:r>
          </a:p>
          <a:p>
            <a:r>
              <a:rPr sz="2000"/>
              <a:t>    *   **L'épaule** (shoulder)</a:t>
            </a:r>
          </a:p>
          <a:p>
            <a:r>
              <a:rPr sz="2000"/>
              <a:t>    *   **Le dos** (back)</a:t>
            </a:r>
          </a:p>
          <a:p/>
          <a:p>
            <a:r>
              <a:rPr sz="2000"/>
              <a:t>**Slide 7: Vocabulaire Essentiel (List 2)**</a:t>
            </a:r>
          </a:p>
          <a:p>
            <a:r>
              <a:rPr sz="2000"/>
              <a:t>*   **Title:** Les Parties du Corps: Les Bras et Les Jambes</a:t>
            </a:r>
          </a:p>
          <a:p>
            <a:r>
              <a:rPr sz="2000"/>
              <a:t>*   **Bullet Points (with images for each):**</a:t>
            </a:r>
          </a:p>
          <a:p>
            <a:r>
              <a:rPr sz="2000"/>
              <a:t>    *   **Le bras** (arm)</a:t>
            </a:r>
          </a:p>
          <a:p>
            <a:r>
              <a:rPr sz="2000"/>
              <a:t>    *   **La main** (hand)</a:t>
            </a:r>
          </a:p>
          <a:p>
            <a:r>
              <a:rPr sz="2000"/>
              <a:t>    *   **Le doigt** (finger)</a:t>
            </a:r>
          </a:p>
          <a:p>
            <a:r>
              <a:rPr sz="2000"/>
              <a:t>    *   **Le ventre** (stomach)</a:t>
            </a:r>
          </a:p>
          <a:p>
            <a:r>
              <a:rPr sz="2000"/>
              <a:t>    *   **La jambe** (leg)</a:t>
            </a:r>
          </a:p>
          <a:p>
            <a:r>
              <a:rPr sz="2000"/>
              <a:t>    *   **Le genou** (knee)</a:t>
            </a:r>
          </a:p>
          <a:p>
            <a:r>
              <a:rPr sz="2000"/>
              <a:t>    *   **Le pied** (foot)</a:t>
            </a:r>
          </a:p>
          <a:p/>
          <a:p>
            <a:r>
              <a:rPr sz="2000"/>
              <a:t>**Slide 8: La Grammaire: "J'ai mal à..."**</a:t>
            </a:r>
          </a:p>
          <a:p>
            <a:r>
              <a:rPr sz="2000"/>
              <a:t>*   **Title:** Expression Utile: "J'ai mal à..." (I have pain in...)</a:t>
            </a:r>
          </a:p>
          <a:p>
            <a:r>
              <a:rPr sz="2000"/>
              <a:t>*   **Explanation:** Pour dire où on a mal, on utilise "avoir mal à".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**à + le = au** (J'ai mal **au** dos.)</a:t>
            </a:r>
          </a:p>
          <a:p>
            <a:r>
              <a:rPr sz="2000"/>
              <a:t>    *   **à + la = à la** (J'ai mal **à la** tête.)</a:t>
            </a:r>
          </a:p>
          <a:p>
            <a:r>
              <a:rPr sz="2000"/>
              <a:t>    *   **à + l' = à l'** (J'ai mal **à l'**épaule.)</a:t>
            </a:r>
          </a:p>
          <a:p>
            <a:r>
              <a:rPr sz="2000"/>
              <a:t>    *   **à + les = aux** (J'ai mal **aux** pieds.)</a:t>
            </a:r>
          </a:p>
          <a:p>
            <a:r>
              <a:rPr sz="2000"/>
              <a:t>*   **Question:** Où as-tu mal? (Image of someone holding their head)</a:t>
            </a:r>
          </a:p>
          <a:p/>
          <a:p>
            <a:r>
              <a:rPr sz="2000"/>
              <a:t>**Slide 9: Activité 1: "Jacques a dit..."**</a:t>
            </a:r>
          </a:p>
          <a:p>
            <a:r>
              <a:rPr sz="2000"/>
              <a:t>*   **Title:** Activité: Jacques a dit... (Simon Says!)</a:t>
            </a:r>
          </a:p>
          <a:p>
            <a:r>
              <a:rPr sz="2000"/>
              <a:t>*   **Instructions:**</a:t>
            </a:r>
          </a:p>
          <a:p>
            <a:r>
              <a:rPr sz="2000"/>
              <a:t>    *   "Écoutez bien!" (Listen carefully!)</a:t>
            </a:r>
          </a:p>
          <a:p>
            <a:r>
              <a:rPr sz="2000"/>
              <a:t>    *   "Si je dis 'Jacques a dit...', faites l'action."</a:t>
            </a:r>
          </a:p>
          <a:p>
            <a:r>
              <a:rPr sz="2000"/>
              <a:t>    *   "Si je ne dis pas 'Jacques a dit...', ne faites rien!"</a:t>
            </a:r>
          </a:p>
          <a:p>
            <a:r>
              <a:rPr sz="2000"/>
              <a:t>*   **Image:** A fun, playful image of kids playing a game.</a:t>
            </a:r>
          </a:p>
          <a:p/>
          <a:p>
            <a:r>
              <a:rPr sz="2000"/>
              <a:t>**Slide 10: Activité 2: Étiquetez le Monstre!**</a:t>
            </a:r>
          </a:p>
          <a:p>
            <a:r>
              <a:rPr sz="2000"/>
              <a:t>*   **Title:** Activité: Étiquetez le Monstre!</a:t>
            </a:r>
          </a:p>
          <a:p>
            <a:r>
              <a:rPr sz="2000"/>
              <a:t>*   **Instructions:**</a:t>
            </a:r>
          </a:p>
          <a:p>
            <a:r>
              <a:rPr sz="2000"/>
              <a:t>    *   "Dessinez votre monstre OU utilisez l'image suivante."</a:t>
            </a:r>
          </a:p>
          <a:p>
            <a:r>
              <a:rPr sz="2000"/>
              <a:t>    *   "Étiquetez 8-10 parties du corps en français."</a:t>
            </a:r>
          </a:p>
          <a:p>
            <a:r>
              <a:rPr sz="2000"/>
              <a:t>    *   "N'oubliez pas les articles!"</a:t>
            </a:r>
          </a:p>
          <a:p>
            <a:r>
              <a:rPr sz="2000"/>
              <a:t>*   **Image:** A blank area for students to draw, or a pre-drawn simple monster.</a:t>
            </a:r>
          </a:p>
          <a:p/>
          <a:p>
            <a:r>
              <a:rPr sz="2000"/>
              <a:t>**Slide 11: Le Monstre Worksheet (if using)**</a:t>
            </a:r>
          </a:p>
          <a:p>
            <a:r>
              <a:rPr sz="2000"/>
              <a:t>*   **Title:** Mon Monstre</a:t>
            </a:r>
          </a:p>
          <a:p>
            <a:r>
              <a:rPr sz="2000"/>
              <a:t>*   **Image:** A simple monster diagram with lines pointing to various "body parts" for labelling.</a:t>
            </a:r>
          </a:p>
          <a:p>
            <a:r>
              <a:rPr sz="2000"/>
              <a:t>*   **Optional:** Word bank at the bottom if providing support.</a:t>
            </a:r>
          </a:p>
          <a:p/>
          <a:p>
            <a:r>
              <a:rPr sz="2000"/>
              <a:t>**Slide 12: Révision Rapide**</a:t>
            </a:r>
          </a:p>
          <a:p>
            <a:r>
              <a:rPr sz="2000"/>
              <a:t>*   **Title:** Révision: Que Sais-Tu?</a:t>
            </a:r>
          </a:p>
          <a:p>
            <a:r>
              <a:rPr sz="2000"/>
              <a:t>*   **Images:** 3-4 different body parts (one per image).</a:t>
            </a:r>
          </a:p>
          <a:p>
            <a:r>
              <a:rPr sz="2000"/>
              <a:t>*   **Questions:** "Qu'est-ce que c'est?" (Students shout out answers).</a:t>
            </a:r>
          </a:p>
          <a:p/>
          <a:p>
            <a:r>
              <a:rPr sz="2000"/>
              <a:t>**Slide 13: C'est l'heure du Devoir! (Homework)**</a:t>
            </a:r>
          </a:p>
          <a:p>
            <a:r>
              <a:rPr sz="2000"/>
              <a:t>*   **Title:** Devoir (Homework)</a:t>
            </a:r>
          </a:p>
          <a:p>
            <a:r>
              <a:rPr sz="2000"/>
              <a:t>*   **Instructions:**</a:t>
            </a:r>
          </a:p>
          <a:p>
            <a:r>
              <a:rPr sz="2000"/>
              <a:t>    *   "Dessinez votre propre créature fantastique (alien, monstre, etc.)."</a:t>
            </a:r>
          </a:p>
          <a:p>
            <a:r>
              <a:rPr sz="2000"/>
              <a:t>    *   "Étiquetez au moins 8 parties du corps en français (avec les articles)."</a:t>
            </a:r>
          </a:p>
          <a:p>
            <a:r>
              <a:rPr sz="2000"/>
              <a:t>    *   "Écrivez une phrase simple pour décrire une partie (ex: Il a trois yeux verts)."</a:t>
            </a:r>
          </a:p>
          <a:p>
            <a:r>
              <a:rPr sz="2000"/>
              <a:t>*   **Image:** A quirky, fun monster drawing.</a:t>
            </a:r>
          </a:p>
          <a:p/>
          <a:p>
            <a:r>
              <a:rPr sz="2000"/>
              <a:t>**Slide 14: Au Revoir!**</a:t>
            </a:r>
          </a:p>
          <a:p>
            <a:r>
              <a:rPr sz="2000"/>
              <a:t>*   **Title:** Merci et Au Revoir!</a:t>
            </a:r>
          </a:p>
          <a:p>
            <a:r>
              <a:rPr sz="2000"/>
              <a:t>*   **Message:** "Excellent travail aujourd'hui! À la prochaine!"</a:t>
            </a:r>
          </a:p>
          <a:p>
            <a:r>
              <a:rPr sz="2000"/>
              <a:t>*   **Image:** Happy, waving characters.</a:t>
            </a:r>
          </a:p>
          <a:p/>
          <a:p>
            <a:r>
              <a:rPr sz="2000"/>
              <a:t>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539</Words>
  <Application>Microsoft Office PowerPoint</Application>
  <PresentationFormat>Custom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Helvetica World</vt:lpstr>
      <vt:lpstr>Arial</vt:lpstr>
      <vt:lpstr>Helvetica World Bold</vt:lpstr>
      <vt:lpstr>Georgia Pro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Algorithms: Searching and Sorting</dc:title>
  <dc:description>Presentation - Algorithms: Searching and Sorting</dc:description>
  <cp:lastModifiedBy>user</cp:lastModifiedBy>
  <cp:revision>3</cp:revision>
  <dcterms:created xsi:type="dcterms:W3CDTF">2006-08-16T00:00:00Z</dcterms:created>
  <dcterms:modified xsi:type="dcterms:W3CDTF">2025-11-05T12:34:16Z</dcterms:modified>
  <dc:identifier>DAG3zzhZX2A</dc:identifier>
</cp:coreProperties>
</file>