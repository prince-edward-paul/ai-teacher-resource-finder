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3.svg" ContentType="image/svg+xml"/>
  <Override PartName="/ppt/media/image5.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Lst>
  <p:sldSz cx="18288000" cy="10287000"/>
  <p:notesSz cx="6858000" cy="9144000"/>
  <p:embeddedFontLst>
    <p:embeddedFont>
      <p:font typeface="Helvetica World" panose="020B0604020202020204" charset="-128"/>
      <p:regular r:id="rId14"/>
    </p:embeddedFont>
    <p:embeddedFont>
      <p:font typeface="Helvetica World Bold" panose="020B0604020202020204" charset="-128"/>
      <p:regular r:id="rId15"/>
    </p:embeddedFont>
    <p:embeddedFont>
      <p:font typeface="Georgia Pro Condensed" panose="020B0604020202020204" charset="0"/>
      <p:regular r:id="rId16"/>
    </p:embeddedFont>
    <p:embeddedFont>
      <p:font typeface="Calibri" panose="020F0502020204030204" pitchFamily="34"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3" d="100"/>
          <a:sy n="53" d="100"/>
        </p:scale>
        <p:origin x="1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png"/><Relationship Id="rId5" Type="http://schemas.openxmlformats.org/officeDocument/2006/relationships/image" Target="../media/image12.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eg"/><Relationship Id="rId3" Type="http://schemas.openxmlformats.org/officeDocument/2006/relationships/image" Target="../media/image1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eg"/><Relationship Id="rId3" Type="http://schemas.openxmlformats.org/officeDocument/2006/relationships/image" Target="../media/image2.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12700"/>
            <a:ext cx="11201400" cy="10299700"/>
            <a:chOff x="0" y="0"/>
            <a:chExt cx="963348" cy="885799"/>
          </a:xfrm>
        </p:grpSpPr>
        <p:sp>
          <p:nvSpPr>
            <p:cNvPr id="3" name="Freeform 3"/>
            <p:cNvSpPr/>
            <p:nvPr/>
          </p:nvSpPr>
          <p:spPr>
            <a:xfrm>
              <a:off x="0" y="0"/>
              <a:ext cx="963348" cy="885799"/>
            </a:xfrm>
            <a:custGeom>
              <a:avLst/>
              <a:gdLst/>
              <a:ahLst/>
              <a:cxnLst/>
              <a:rect l="l" t="t" r="r" b="b"/>
              <a:pathLst>
                <a:path w="963348" h="885799">
                  <a:moveTo>
                    <a:pt x="0" y="0"/>
                  </a:moveTo>
                  <a:lnTo>
                    <a:pt x="963348" y="0"/>
                  </a:lnTo>
                  <a:lnTo>
                    <a:pt x="963348" y="885799"/>
                  </a:lnTo>
                  <a:lnTo>
                    <a:pt x="0" y="885799"/>
                  </a:lnTo>
                  <a:close/>
                </a:path>
              </a:pathLst>
            </a:custGeom>
            <a:solidFill>
              <a:srgbClr val="F4F6F8"/>
            </a:solidFill>
            <a:ln w="12700">
              <a:solidFill>
                <a:srgbClr val="000000"/>
              </a:solidFill>
            </a:ln>
          </p:spPr>
        </p:sp>
      </p:grpSp>
      <p:grpSp>
        <p:nvGrpSpPr>
          <p:cNvPr id="4" name="Group 4"/>
          <p:cNvGrpSpPr/>
          <p:nvPr/>
        </p:nvGrpSpPr>
        <p:grpSpPr>
          <a:xfrm>
            <a:off x="11868150"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666750" y="9001760"/>
            <a:ext cx="6886575" cy="593752"/>
          </a:xfrm>
          <a:prstGeom prst="rect">
            <a:avLst/>
          </a:prstGeom>
        </p:spPr>
        <p:txBody>
          <a:bodyPr lIns="0" tIns="0" rIns="0" bIns="0" rtlCol="0" anchor="t">
            <a:spAutoFit/>
          </a:bodyPr>
          <a:lstStyle/>
          <a:p>
            <a:pPr marL="0" lvl="0" indent="0" algn="l">
              <a:lnSpc>
                <a:spcPts val="4940"/>
              </a:lnSpc>
            </a:pPr>
            <a:r>
              <a:rPr lang="en-US" sz="3800" u="none" strike="noStrike" spc="-57" dirty="0" smtClean="0">
                <a:solidFill>
                  <a:srgbClr val="1C1C1C"/>
                </a:solidFill>
                <a:latin typeface="Helvetica World"/>
                <a:ea typeface="Helvetica World"/>
                <a:cs typeface="Helvetica World"/>
                <a:sym typeface="Helvetica World"/>
              </a:rPr>
              <a:t>by Mr. Edward Paul</a:t>
            </a:r>
            <a:endParaRPr lang="en-US" sz="3800" u="none" strike="noStrike" spc="-57" dirty="0">
              <a:solidFill>
                <a:srgbClr val="1C1C1C"/>
              </a:solidFill>
              <a:latin typeface="Helvetica World"/>
              <a:ea typeface="Helvetica World"/>
              <a:cs typeface="Helvetica World"/>
              <a:sym typeface="Helvetica World"/>
            </a:endParaRPr>
          </a:p>
        </p:txBody>
      </p:sp>
      <p:sp>
        <p:nvSpPr>
          <p:cNvPr id="7" name="TextBox 7"/>
          <p:cNvSpPr txBox="1"/>
          <p:nvPr/>
        </p:nvSpPr>
        <p:spPr>
          <a:xfrm>
            <a:off x="675380" y="975068"/>
            <a:ext cx="9754495" cy="5790084"/>
          </a:xfrm>
          <a:prstGeom prst="rect">
            <a:avLst/>
          </a:prstGeom>
        </p:spPr>
        <p:txBody>
          <a:bodyPr lIns="0" tIns="0" rIns="0" bIns="0" rtlCol="0" anchor="t">
            <a:spAutoFit/>
          </a:bodyPr>
          <a:lstStyle/>
          <a:p>
            <a:pPr marL="0" lvl="0" indent="0" algn="l">
              <a:lnSpc>
                <a:spcPts val="14956"/>
              </a:lnSpc>
            </a:pPr>
            <a:r>
              <a:rPr lang="en-US" sz="14956" u="none" strike="noStrike" spc="-523">
                <a:solidFill>
                  <a:srgbClr val="2A3A66"/>
                </a:solidFill>
                <a:latin typeface="Georgia Pro Condensed"/>
                <a:ea typeface="Georgia Pro Condensed"/>
                <a:cs typeface="Georgia Pro Condensed"/>
                <a:sym typeface="Georgia Pro Condensed"/>
              </a:rPr>
              <a:t>Algorithms: Searching and Sorting</a:t>
            </a:r>
          </a:p>
        </p:txBody>
      </p:sp>
      <p:sp>
        <p:nvSpPr>
          <p:cNvPr id="8" name="Freeform 8"/>
          <p:cNvSpPr/>
          <p:nvPr/>
        </p:nvSpPr>
        <p:spPr>
          <a:xfrm rot="-3117037">
            <a:off x="8947742" y="7656091"/>
            <a:ext cx="2112604" cy="1859092"/>
          </a:xfrm>
          <a:custGeom>
            <a:avLst/>
            <a:gdLst/>
            <a:ahLst/>
            <a:cxnLst/>
            <a:rect l="l" t="t" r="r" b="b"/>
            <a:pathLst>
              <a:path w="2112604" h="1859092">
                <a:moveTo>
                  <a:pt x="0" y="0"/>
                </a:moveTo>
                <a:lnTo>
                  <a:pt x="2112604" y="0"/>
                </a:lnTo>
                <a:lnTo>
                  <a:pt x="2112604" y="1859091"/>
                </a:lnTo>
                <a:lnTo>
                  <a:pt x="0" y="1859091"/>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2944475" cy="3581400"/>
            <a:chOff x="0" y="0"/>
            <a:chExt cx="17259300" cy="4775200"/>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Understanding Algorithms</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Their Importance in Computer Science</a:t>
              </a:r>
            </a:p>
          </p:txBody>
        </p:sp>
        <p:sp>
          <p:nvSpPr>
            <p:cNvPr id="9" name="TextBox 9"/>
            <p:cNvSpPr txBox="1"/>
            <p:nvPr/>
          </p:nvSpPr>
          <p:spPr>
            <a:xfrm>
              <a:off x="0" y="3059641"/>
              <a:ext cx="13512134" cy="1715559"/>
            </a:xfrm>
            <a:prstGeom prst="rect">
              <a:avLst/>
            </a:prstGeom>
          </p:spPr>
          <p:txBody>
            <a:bodyPr lIns="0" tIns="0" rIns="0" bIns="0" rtlCol="0" anchor="t">
              <a:spAutoFit/>
            </a:bodyPr>
            <a:lstStyle/>
            <a:p>
              <a:pPr marL="0" lvl="0" indent="0" algn="l">
                <a:lnSpc>
                  <a:spcPts val="3499"/>
                </a:lnSpc>
              </a:pPr>
              <a:r>
                <a:rPr lang="en-US" sz="2499" spc="-37">
                  <a:solidFill>
                    <a:srgbClr val="1C1C1C"/>
                  </a:solidFill>
                  <a:latin typeface="Helvetica World"/>
                  <a:ea typeface="Helvetica World"/>
                  <a:cs typeface="Helvetica World"/>
                  <a:sym typeface="Helvetica World"/>
                </a:rPr>
                <a:t>Algorithms are essential, defined as step-by-step procedures for solving problems. They enable computers to efficiently process information, making them a fundamental aspect of computer science and programming.</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28575"/>
              <a:ext cx="1434943" cy="1796331"/>
            </a:xfrm>
            <a:prstGeom prst="rect">
              <a:avLst/>
            </a:prstGeom>
          </p:spPr>
          <p:txBody>
            <a:bodyPr lIns="50800" tIns="50800" rIns="50800" bIns="50800" rtlCol="0" anchor="ctr"/>
            <a:lstStyle/>
            <a:p>
              <a:pPr marL="0" lvl="0" indent="0" algn="ctr">
                <a:lnSpc>
                  <a:spcPts val="1736"/>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82996"/>
            <a:ext cx="4738234"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how algorithms locate data effectively through different searching techniques.</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Search Algorithms</a:t>
            </a:r>
          </a:p>
        </p:txBody>
      </p:sp>
      <p:sp>
        <p:nvSpPr>
          <p:cNvPr id="19" name="TextBox 19"/>
          <p:cNvSpPr txBox="1"/>
          <p:nvPr/>
        </p:nvSpPr>
        <p:spPr>
          <a:xfrm>
            <a:off x="6773192" y="8282996"/>
            <a:ext cx="4741615"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Learn the efficiency differences between linear and binary search methods in data retrieval.</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Efficiencies</a:t>
            </a:r>
          </a:p>
        </p:txBody>
      </p:sp>
      <p:sp>
        <p:nvSpPr>
          <p:cNvPr id="21" name="TextBox 21"/>
          <p:cNvSpPr txBox="1"/>
          <p:nvPr/>
        </p:nvSpPr>
        <p:spPr>
          <a:xfrm>
            <a:off x="12551109" y="8281844"/>
            <a:ext cx="4691983" cy="621736"/>
          </a:xfrm>
          <a:prstGeom prst="rect">
            <a:avLst/>
          </a:prstGeom>
        </p:spPr>
        <p:txBody>
          <a:bodyPr lIns="0" tIns="0" rIns="0" bIns="0" rtlCol="0" anchor="t">
            <a:spAutoFit/>
          </a:bodyPr>
          <a:lstStyle/>
          <a:p>
            <a:pPr marL="0" lvl="0" indent="0" algn="ctr">
              <a:lnSpc>
                <a:spcPts val="2481"/>
              </a:lnSpc>
            </a:pPr>
            <a:r>
              <a:rPr lang="en-US" sz="1772" spc="-26">
                <a:solidFill>
                  <a:srgbClr val="1C1C1C"/>
                </a:solidFill>
                <a:latin typeface="Helvetica World"/>
                <a:ea typeface="Helvetica World"/>
                <a:cs typeface="Helvetica World"/>
                <a:sym typeface="Helvetica World"/>
              </a:rPr>
              <a:t>Understand the basics of bubble sort and how it organizes data through comparisons.</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Bubble Sort</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Learning Objectives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4</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Linear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Sequential Scanning for Data Retrieval</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a straightforward algorithm that checks each element in a list sequentially until it finds the target value or reaches the end of the list.</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Simple 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This method is easy to implement but can be inefficient for large datasets, as it might require examining every single item before locating the desired information.</a:t>
              </a:r>
            </a:p>
          </p:txBody>
        </p:sp>
      </p:grpSp>
      <p:grpSp>
        <p:nvGrpSpPr>
          <p:cNvPr id="15" name="Group 15"/>
          <p:cNvGrpSpPr/>
          <p:nvPr/>
        </p:nvGrpSpPr>
        <p:grpSpPr>
          <a:xfrm>
            <a:off x="12172950" y="5143500"/>
            <a:ext cx="4010025" cy="2549525"/>
            <a:chOff x="0" y="0"/>
            <a:chExt cx="5346700" cy="33993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Use Cases</a:t>
              </a:r>
            </a:p>
          </p:txBody>
        </p:sp>
        <p:sp>
          <p:nvSpPr>
            <p:cNvPr id="17" name="TextBox 17"/>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Linear search is particularly useful for small or unsorted datasets where quick implementation is necessary, making it an ideal choice for simple search tasks.</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5</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F4F6F8"/>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Binary Search</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Divide and Conquer Method Explained</a:t>
              </a:r>
            </a:p>
          </p:txBody>
        </p:sp>
      </p:grpSp>
      <p:grpSp>
        <p:nvGrpSpPr>
          <p:cNvPr id="9" name="Group 9"/>
          <p:cNvGrpSpPr/>
          <p:nvPr/>
        </p:nvGrpSpPr>
        <p:grpSpPr>
          <a:xfrm>
            <a:off x="1800225" y="5143500"/>
            <a:ext cx="4308497" cy="2197100"/>
            <a:chOff x="0" y="0"/>
            <a:chExt cx="5744662" cy="29294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Definition</a:t>
              </a:r>
            </a:p>
          </p:txBody>
        </p:sp>
        <p:sp>
          <p:nvSpPr>
            <p:cNvPr id="11" name="TextBox 11"/>
            <p:cNvSpPr txBox="1"/>
            <p:nvPr/>
          </p:nvSpPr>
          <p:spPr>
            <a:xfrm>
              <a:off x="0" y="1060450"/>
              <a:ext cx="5744662" cy="18690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is a fast search algorithm that finds the position of a target value within a sorted array, using a divide-and-conquer strategy for efficiency.</a:t>
              </a:r>
            </a:p>
          </p:txBody>
        </p:sp>
      </p:grpSp>
      <p:grpSp>
        <p:nvGrpSpPr>
          <p:cNvPr id="12" name="Group 12"/>
          <p:cNvGrpSpPr/>
          <p:nvPr/>
        </p:nvGrpSpPr>
        <p:grpSpPr>
          <a:xfrm>
            <a:off x="7291388" y="5143500"/>
            <a:ext cx="4010025" cy="2549525"/>
            <a:chOff x="0" y="0"/>
            <a:chExt cx="5346700" cy="3399367"/>
          </a:xfrm>
        </p:grpSpPr>
        <p:sp>
          <p:nvSpPr>
            <p:cNvPr id="13" name="TextBox 13"/>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Mechanism</a:t>
              </a:r>
            </a:p>
          </p:txBody>
        </p:sp>
        <p:sp>
          <p:nvSpPr>
            <p:cNvPr id="14" name="TextBox 14"/>
            <p:cNvSpPr txBox="1"/>
            <p:nvPr/>
          </p:nvSpPr>
          <p:spPr>
            <a:xfrm>
              <a:off x="0" y="1060450"/>
              <a:ext cx="5346700" cy="23389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The algorithm repeatedly divides the search interval in half; comparing the target value to the middle element, it narrows down the potential location until the target is found.</a:t>
              </a:r>
            </a:p>
          </p:txBody>
        </p:sp>
      </p:grpSp>
      <p:grpSp>
        <p:nvGrpSpPr>
          <p:cNvPr id="15" name="Group 15"/>
          <p:cNvGrpSpPr/>
          <p:nvPr/>
        </p:nvGrpSpPr>
        <p:grpSpPr>
          <a:xfrm>
            <a:off x="12172950" y="5143500"/>
            <a:ext cx="4010025" cy="2901950"/>
            <a:chOff x="0" y="0"/>
            <a:chExt cx="5346700" cy="3869267"/>
          </a:xfrm>
        </p:grpSpPr>
        <p:sp>
          <p:nvSpPr>
            <p:cNvPr id="16" name="TextBox 16"/>
            <p:cNvSpPr txBox="1"/>
            <p:nvPr/>
          </p:nvSpPr>
          <p:spPr>
            <a:xfrm>
              <a:off x="0" y="0"/>
              <a:ext cx="5346700"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Requirements</a:t>
              </a:r>
            </a:p>
          </p:txBody>
        </p:sp>
        <p:sp>
          <p:nvSpPr>
            <p:cNvPr id="17" name="TextBox 17"/>
            <p:cNvSpPr txBox="1"/>
            <p:nvPr/>
          </p:nvSpPr>
          <p:spPr>
            <a:xfrm>
              <a:off x="0" y="10604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For binary search to work, the data must be sorted beforehand; this prerequisite allows the algorithm to efficiently eliminate half of the remaining elements with each comparison.</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9296400" y="666750"/>
            <a:ext cx="4010025" cy="6716121"/>
            <a:chOff x="0" y="0"/>
            <a:chExt cx="698915" cy="1170566"/>
          </a:xfrm>
        </p:grpSpPr>
        <p:sp>
          <p:nvSpPr>
            <p:cNvPr id="3" name="Freeform 3"/>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2"/>
              <a:stretch>
                <a:fillRect t="-279" b="-279"/>
              </a:stretch>
            </a:blipFill>
            <a:ln cap="sq">
              <a:noFill/>
              <a:prstDash val="solid"/>
              <a:miter/>
            </a:ln>
          </p:spPr>
        </p:sp>
      </p:grpSp>
      <p:grpSp>
        <p:nvGrpSpPr>
          <p:cNvPr id="4" name="Group 4"/>
          <p:cNvGrpSpPr/>
          <p:nvPr/>
        </p:nvGrpSpPr>
        <p:grpSpPr>
          <a:xfrm>
            <a:off x="13611225" y="666750"/>
            <a:ext cx="4010025" cy="6716121"/>
            <a:chOff x="0" y="0"/>
            <a:chExt cx="698915" cy="1170566"/>
          </a:xfrm>
        </p:grpSpPr>
        <p:sp>
          <p:nvSpPr>
            <p:cNvPr id="5" name="Freeform 5"/>
            <p:cNvSpPr/>
            <p:nvPr/>
          </p:nvSpPr>
          <p:spPr>
            <a:xfrm>
              <a:off x="0" y="0"/>
              <a:ext cx="698915" cy="1170566"/>
            </a:xfrm>
            <a:custGeom>
              <a:avLst/>
              <a:gdLst/>
              <a:ahLst/>
              <a:cxnLst/>
              <a:rect l="l" t="t" r="r" b="b"/>
              <a:pathLst>
                <a:path w="698915" h="1170566">
                  <a:moveTo>
                    <a:pt x="38613" y="0"/>
                  </a:moveTo>
                  <a:lnTo>
                    <a:pt x="660302" y="0"/>
                  </a:lnTo>
                  <a:cubicBezTo>
                    <a:pt x="681627" y="0"/>
                    <a:pt x="698915" y="17288"/>
                    <a:pt x="698915" y="38613"/>
                  </a:cubicBezTo>
                  <a:lnTo>
                    <a:pt x="698915" y="1131953"/>
                  </a:lnTo>
                  <a:cubicBezTo>
                    <a:pt x="698915" y="1142194"/>
                    <a:pt x="694847" y="1152015"/>
                    <a:pt x="687606" y="1159256"/>
                  </a:cubicBezTo>
                  <a:cubicBezTo>
                    <a:pt x="680364" y="1166498"/>
                    <a:pt x="670543" y="1170566"/>
                    <a:pt x="660302" y="1170566"/>
                  </a:cubicBezTo>
                  <a:lnTo>
                    <a:pt x="38613" y="1170566"/>
                  </a:lnTo>
                  <a:cubicBezTo>
                    <a:pt x="17288" y="1170566"/>
                    <a:pt x="0" y="1153278"/>
                    <a:pt x="0" y="1131953"/>
                  </a:cubicBezTo>
                  <a:lnTo>
                    <a:pt x="0" y="38613"/>
                  </a:lnTo>
                  <a:cubicBezTo>
                    <a:pt x="0" y="17288"/>
                    <a:pt x="17288" y="0"/>
                    <a:pt x="38613" y="0"/>
                  </a:cubicBezTo>
                  <a:close/>
                </a:path>
              </a:pathLst>
            </a:custGeom>
            <a:blipFill>
              <a:blip r:embed="rId3"/>
              <a:stretch>
                <a:fillRect t="-279" b="-279"/>
              </a:stretch>
            </a:blipFill>
            <a:ln cap="sq">
              <a:noFill/>
              <a:prstDash val="solid"/>
              <a:miter/>
            </a:ln>
          </p:spPr>
        </p:sp>
      </p:grpSp>
      <p:grpSp>
        <p:nvGrpSpPr>
          <p:cNvPr id="6" name="Group 6"/>
          <p:cNvGrpSpPr/>
          <p:nvPr/>
        </p:nvGrpSpPr>
        <p:grpSpPr>
          <a:xfrm>
            <a:off x="0" y="0"/>
            <a:ext cx="7858125" cy="10287000"/>
            <a:chOff x="0" y="0"/>
            <a:chExt cx="2069630" cy="2709333"/>
          </a:xfrm>
        </p:grpSpPr>
        <p:sp>
          <p:nvSpPr>
            <p:cNvPr id="7" name="Freeform 7"/>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2A3A66"/>
            </a:solidFill>
            <a:ln cap="sq">
              <a:noFill/>
              <a:prstDash val="solid"/>
              <a:miter/>
            </a:ln>
          </p:spPr>
        </p:sp>
        <p:sp>
          <p:nvSpPr>
            <p:cNvPr id="8" name="TextBox 8"/>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grpSp>
        <p:nvGrpSpPr>
          <p:cNvPr id="9" name="Group 9"/>
          <p:cNvGrpSpPr/>
          <p:nvPr/>
        </p:nvGrpSpPr>
        <p:grpSpPr>
          <a:xfrm>
            <a:off x="9296400" y="7829550"/>
            <a:ext cx="2876550" cy="1231011"/>
            <a:chOff x="0" y="0"/>
            <a:chExt cx="3835400" cy="1641348"/>
          </a:xfrm>
        </p:grpSpPr>
        <p:sp>
          <p:nvSpPr>
            <p:cNvPr id="10" name="TextBox 10"/>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Efficiency</a:t>
              </a:r>
            </a:p>
          </p:txBody>
        </p:sp>
        <p:sp>
          <p:nvSpPr>
            <p:cNvPr id="11" name="TextBox 11"/>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Linear search has O(n) time complexity.</a:t>
              </a:r>
            </a:p>
          </p:txBody>
        </p:sp>
      </p:grpSp>
      <p:grpSp>
        <p:nvGrpSpPr>
          <p:cNvPr id="12" name="Group 12"/>
          <p:cNvGrpSpPr/>
          <p:nvPr/>
        </p:nvGrpSpPr>
        <p:grpSpPr>
          <a:xfrm>
            <a:off x="13611225" y="7865173"/>
            <a:ext cx="2876550" cy="1231011"/>
            <a:chOff x="0" y="0"/>
            <a:chExt cx="3835400" cy="1641348"/>
          </a:xfrm>
        </p:grpSpPr>
        <p:sp>
          <p:nvSpPr>
            <p:cNvPr id="13" name="TextBox 13"/>
            <p:cNvSpPr txBox="1"/>
            <p:nvPr/>
          </p:nvSpPr>
          <p:spPr>
            <a:xfrm>
              <a:off x="0" y="-9525"/>
              <a:ext cx="3835400" cy="619125"/>
            </a:xfrm>
            <a:prstGeom prst="rect">
              <a:avLst/>
            </a:prstGeom>
          </p:spPr>
          <p:txBody>
            <a:bodyPr lIns="0" tIns="0" rIns="0" bIns="0" rtlCol="0" anchor="t">
              <a:spAutoFit/>
            </a:bodyPr>
            <a:lstStyle/>
            <a:p>
              <a:pPr marL="0" lvl="0" indent="0" algn="l">
                <a:lnSpc>
                  <a:spcPts val="3360"/>
                </a:lnSpc>
                <a:spcBef>
                  <a:spcPct val="0"/>
                </a:spcBef>
              </a:pPr>
              <a:r>
                <a:rPr lang="en-US" sz="2800" b="1" spc="-42">
                  <a:solidFill>
                    <a:srgbClr val="2A3A66"/>
                  </a:solidFill>
                  <a:latin typeface="Helvetica World Bold"/>
                  <a:ea typeface="Helvetica World Bold"/>
                  <a:cs typeface="Helvetica World Bold"/>
                  <a:sym typeface="Helvetica World Bold"/>
                </a:rPr>
                <a:t>Pros and Cons</a:t>
              </a:r>
            </a:p>
          </p:txBody>
        </p:sp>
        <p:sp>
          <p:nvSpPr>
            <p:cNvPr id="14" name="TextBox 14"/>
            <p:cNvSpPr txBox="1"/>
            <p:nvPr/>
          </p:nvSpPr>
          <p:spPr>
            <a:xfrm>
              <a:off x="0" y="779653"/>
              <a:ext cx="3835400" cy="861695"/>
            </a:xfrm>
            <a:prstGeom prst="rect">
              <a:avLst/>
            </a:prstGeom>
          </p:spPr>
          <p:txBody>
            <a:bodyPr lIns="0" tIns="0" rIns="0" bIns="0" rtlCol="0" anchor="t">
              <a:spAutoFit/>
            </a:bodyPr>
            <a:lstStyle/>
            <a:p>
              <a:pPr marL="0" lvl="0" indent="0" algn="l">
                <a:lnSpc>
                  <a:spcPts val="2580"/>
                </a:lnSpc>
                <a:spcBef>
                  <a:spcPct val="0"/>
                </a:spcBef>
              </a:pPr>
              <a:r>
                <a:rPr lang="en-US" sz="2000" u="none" strike="noStrike" spc="-30">
                  <a:solidFill>
                    <a:srgbClr val="1C1C1C"/>
                  </a:solidFill>
                  <a:latin typeface="Helvetica World"/>
                  <a:ea typeface="Helvetica World"/>
                  <a:cs typeface="Helvetica World"/>
                  <a:sym typeface="Helvetica World"/>
                </a:rPr>
                <a:t>Binary search is faster but needs sorted data.</a:t>
              </a:r>
            </a:p>
          </p:txBody>
        </p:sp>
      </p:grpSp>
      <p:sp>
        <p:nvSpPr>
          <p:cNvPr id="15" name="TextBox 15"/>
          <p:cNvSpPr txBox="1"/>
          <p:nvPr/>
        </p:nvSpPr>
        <p:spPr>
          <a:xfrm>
            <a:off x="666750" y="733425"/>
            <a:ext cx="7021245" cy="4492627"/>
          </a:xfrm>
          <a:prstGeom prst="rect">
            <a:avLst/>
          </a:prstGeom>
        </p:spPr>
        <p:txBody>
          <a:bodyPr lIns="0" tIns="0" rIns="0" bIns="0" rtlCol="0" anchor="t">
            <a:spAutoFit/>
          </a:bodyPr>
          <a:lstStyle/>
          <a:p>
            <a:pPr marL="0" lvl="0" indent="0" algn="l">
              <a:lnSpc>
                <a:spcPts val="8800"/>
              </a:lnSpc>
            </a:pPr>
            <a:r>
              <a:rPr lang="en-US" sz="8000" spc="-240">
                <a:solidFill>
                  <a:srgbClr val="F4F6F8"/>
                </a:solidFill>
                <a:latin typeface="Georgia Pro Condensed"/>
                <a:ea typeface="Georgia Pro Condensed"/>
                <a:cs typeface="Georgia Pro Condensed"/>
                <a:sym typeface="Georgia Pro Condensed"/>
              </a:rPr>
              <a:t>Comparing Efficiency of Search Algorithms</a:t>
            </a:r>
          </a:p>
        </p:txBody>
      </p:sp>
      <p:sp>
        <p:nvSpPr>
          <p:cNvPr id="16" name="Freeform 1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a:ln cap="sq">
            <a:noFill/>
            <a:prstDash val="solid"/>
            <a:miter/>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BCEB"/>
        </a:solidFill>
        <a:effectLst/>
      </p:bgPr>
    </p:bg>
    <p:spTree>
      <p:nvGrpSpPr>
        <p:cNvPr id="1" name=""/>
        <p:cNvGrpSpPr/>
        <p:nvPr/>
      </p:nvGrpSpPr>
      <p:grpSpPr>
        <a:xfrm>
          <a:off x="0" y="0"/>
          <a:ext cx="0" cy="0"/>
          <a:chOff x="0" y="0"/>
          <a:chExt cx="0" cy="0"/>
        </a:xfrm>
      </p:grpSpPr>
      <p:sp>
        <p:nvSpPr>
          <p:cNvPr id="2" name="TextBox 2"/>
          <p:cNvSpPr txBox="1"/>
          <p:nvPr/>
        </p:nvSpPr>
        <p:spPr>
          <a:xfrm>
            <a:off x="669118" y="3357562"/>
            <a:ext cx="5445932"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Linear Search</a:t>
            </a:r>
          </a:p>
        </p:txBody>
      </p:sp>
      <p:sp>
        <p:nvSpPr>
          <p:cNvPr id="3" name="TextBox 3"/>
          <p:cNvSpPr txBox="1"/>
          <p:nvPr/>
        </p:nvSpPr>
        <p:spPr>
          <a:xfrm>
            <a:off x="669118" y="5086350"/>
            <a:ext cx="5445932" cy="1416050"/>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In linear search, each element is examined sequentially until the target is found. This straightforward approach is effective for small or unsorted datasets, but can be slow for larger lists.</a:t>
            </a:r>
          </a:p>
        </p:txBody>
      </p:sp>
      <p:sp>
        <p:nvSpPr>
          <p:cNvPr id="4" name="TextBox 4"/>
          <p:cNvSpPr txBox="1"/>
          <p:nvPr/>
        </p:nvSpPr>
        <p:spPr>
          <a:xfrm>
            <a:off x="6419850" y="3357562"/>
            <a:ext cx="5446184"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Binary Search</a:t>
            </a:r>
          </a:p>
        </p:txBody>
      </p:sp>
      <p:sp>
        <p:nvSpPr>
          <p:cNvPr id="5" name="TextBox 5"/>
          <p:cNvSpPr txBox="1"/>
          <p:nvPr/>
        </p:nvSpPr>
        <p:spPr>
          <a:xfrm>
            <a:off x="6421966" y="5086350"/>
            <a:ext cx="5446184"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Binary search requires a sorted list, dividing the search space in half repeatedly, which drastically reduces the number of checks needed to find the target value, making it more efficient than linear search.</a:t>
            </a:r>
          </a:p>
        </p:txBody>
      </p:sp>
      <p:sp>
        <p:nvSpPr>
          <p:cNvPr id="6" name="TextBox 6"/>
          <p:cNvSpPr txBox="1"/>
          <p:nvPr/>
        </p:nvSpPr>
        <p:spPr>
          <a:xfrm>
            <a:off x="12172950" y="3357562"/>
            <a:ext cx="5448300" cy="40005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2A3A66"/>
                </a:solidFill>
                <a:latin typeface="Helvetica World Bold"/>
                <a:ea typeface="Helvetica World Bold"/>
                <a:cs typeface="Helvetica World Bold"/>
                <a:sym typeface="Helvetica World Bold"/>
              </a:rPr>
              <a:t>Efficiency Comparison</a:t>
            </a:r>
          </a:p>
        </p:txBody>
      </p:sp>
      <p:sp>
        <p:nvSpPr>
          <p:cNvPr id="7" name="TextBox 7"/>
          <p:cNvSpPr txBox="1"/>
          <p:nvPr/>
        </p:nvSpPr>
        <p:spPr>
          <a:xfrm>
            <a:off x="12172950" y="5086350"/>
            <a:ext cx="5448300" cy="1768475"/>
          </a:xfrm>
          <a:prstGeom prst="rect">
            <a:avLst/>
          </a:prstGeom>
        </p:spPr>
        <p:txBody>
          <a:bodyPr lIns="0" tIns="0" rIns="0" bIns="0" rtlCol="0" anchor="t">
            <a:spAutoFit/>
          </a:bodyPr>
          <a:lstStyle/>
          <a:p>
            <a:pPr marL="0" lvl="0" indent="0" algn="l">
              <a:lnSpc>
                <a:spcPts val="2800"/>
              </a:lnSpc>
            </a:pPr>
            <a:r>
              <a:rPr lang="en-US" sz="2000" u="none" strike="noStrike" spc="-30">
                <a:solidFill>
                  <a:srgbClr val="1C1C1C"/>
                </a:solidFill>
                <a:latin typeface="Helvetica World"/>
                <a:ea typeface="Helvetica World"/>
                <a:cs typeface="Helvetica World"/>
                <a:sym typeface="Helvetica World"/>
              </a:rPr>
              <a:t>Comparing the two searches, linear search has a time complexity of O(n), while binary search operates at O(log n), highlighting the significant efficiency gained through the divide-and-conquer strategy of binary search.</a:t>
            </a:r>
          </a:p>
        </p:txBody>
      </p:sp>
      <p:sp>
        <p:nvSpPr>
          <p:cNvPr id="8" name="AutoShape 8"/>
          <p:cNvSpPr/>
          <p:nvPr/>
        </p:nvSpPr>
        <p:spPr>
          <a:xfrm>
            <a:off x="992968" y="4410075"/>
            <a:ext cx="17607376" cy="0"/>
          </a:xfrm>
          <a:prstGeom prst="line">
            <a:avLst/>
          </a:prstGeom>
          <a:ln w="19050" cap="flat">
            <a:solidFill>
              <a:srgbClr val="2A3A66"/>
            </a:solidFill>
            <a:prstDash val="solid"/>
            <a:headEnd type="none" w="sm" len="sm"/>
            <a:tailEnd type="none" w="sm" len="sm"/>
          </a:ln>
        </p:spPr>
      </p:sp>
      <p:grpSp>
        <p:nvGrpSpPr>
          <p:cNvPr id="9" name="Group 9"/>
          <p:cNvGrpSpPr/>
          <p:nvPr/>
        </p:nvGrpSpPr>
        <p:grpSpPr>
          <a:xfrm>
            <a:off x="669118" y="4248150"/>
            <a:ext cx="323850" cy="323850"/>
            <a:chOff x="0" y="0"/>
            <a:chExt cx="6350000" cy="6350000"/>
          </a:xfrm>
        </p:grpSpPr>
        <p:sp>
          <p:nvSpPr>
            <p:cNvPr id="10" name="Freeform 1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1" name="Group 11"/>
          <p:cNvGrpSpPr/>
          <p:nvPr/>
        </p:nvGrpSpPr>
        <p:grpSpPr>
          <a:xfrm>
            <a:off x="6421966" y="4248150"/>
            <a:ext cx="323850" cy="323850"/>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grpSp>
        <p:nvGrpSpPr>
          <p:cNvPr id="13" name="Group 13"/>
          <p:cNvGrpSpPr/>
          <p:nvPr/>
        </p:nvGrpSpPr>
        <p:grpSpPr>
          <a:xfrm>
            <a:off x="12172950" y="4248150"/>
            <a:ext cx="323850" cy="323850"/>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2A3A66"/>
            </a:solidFill>
          </p:spPr>
        </p:sp>
      </p:grpSp>
      <p:sp>
        <p:nvSpPr>
          <p:cNvPr id="15" name="TextBox 15"/>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Algorithm Tracing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marL="0" lvl="0" indent="0" algn="ctr">
              <a:lnSpc>
                <a:spcPts val="2800"/>
              </a:lnSpc>
              <a:spcBef>
                <a:spcPct val="0"/>
              </a:spcBef>
            </a:pPr>
            <a:r>
              <a:rPr lang="en-US" sz="2000">
                <a:solidFill>
                  <a:srgbClr val="1C1C1C"/>
                </a:solidFill>
                <a:latin typeface="Helvetica World"/>
                <a:ea typeface="Helvetica World"/>
                <a:cs typeface="Helvetica World"/>
                <a:sym typeface="Helvetica World"/>
              </a:rPr>
              <a:t>8</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BCCFFE"/>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pPr>
              <a:endParaRPr/>
            </a:p>
          </p:txBody>
        </p:sp>
      </p:grpSp>
      <p:grpSp>
        <p:nvGrpSpPr>
          <p:cNvPr id="6" name="Group 6"/>
          <p:cNvGrpSpPr/>
          <p:nvPr/>
        </p:nvGrpSpPr>
        <p:grpSpPr>
          <a:xfrm>
            <a:off x="1800225" y="1562100"/>
            <a:ext cx="12944475" cy="2067009"/>
            <a:chOff x="0" y="0"/>
            <a:chExt cx="17259300" cy="2756012"/>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l">
                <a:lnSpc>
                  <a:spcPts val="10400"/>
                </a:lnSpc>
              </a:pPr>
              <a:r>
                <a:rPr lang="en-US" sz="8000" spc="-240">
                  <a:solidFill>
                    <a:srgbClr val="2A3A66"/>
                  </a:solidFill>
                  <a:latin typeface="Georgia Pro Condensed"/>
                  <a:ea typeface="Georgia Pro Condensed"/>
                  <a:cs typeface="Georgia Pro Condensed"/>
                  <a:sym typeface="Georgia Pro Condensed"/>
                </a:rPr>
                <a:t>Bubble Sort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2A3A66"/>
                  </a:solidFill>
                  <a:latin typeface="Helvetica World Bold"/>
                  <a:ea typeface="Helvetica World Bold"/>
                  <a:cs typeface="Helvetica World Bold"/>
                  <a:sym typeface="Helvetica World Bold"/>
                </a:rPr>
                <a:t>Introducing Sorting Algorithms and Their Importance</a:t>
              </a:r>
            </a:p>
          </p:txBody>
        </p:sp>
      </p:grpSp>
      <p:sp>
        <p:nvSpPr>
          <p:cNvPr id="9" name="Freeform 9"/>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a:ln cap="sq">
            <a:noFill/>
            <a:prstDash val="solid"/>
            <a:miter/>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666750" y="2908300"/>
            <a:ext cx="5448300" cy="6711950"/>
            <a:chOff x="0" y="0"/>
            <a:chExt cx="1434943" cy="1767756"/>
          </a:xfrm>
        </p:grpSpPr>
        <p:sp>
          <p:nvSpPr>
            <p:cNvPr id="3" name="Freeform 3"/>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4" name="TextBox 4"/>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5" name="Group 5"/>
          <p:cNvGrpSpPr/>
          <p:nvPr/>
        </p:nvGrpSpPr>
        <p:grpSpPr>
          <a:xfrm>
            <a:off x="6419850" y="2908300"/>
            <a:ext cx="5448300" cy="6711950"/>
            <a:chOff x="0" y="0"/>
            <a:chExt cx="1434943" cy="1767756"/>
          </a:xfrm>
        </p:grpSpPr>
        <p:sp>
          <p:nvSpPr>
            <p:cNvPr id="6" name="Freeform 6"/>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7" name="TextBox 7"/>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8" name="Group 8"/>
          <p:cNvGrpSpPr/>
          <p:nvPr/>
        </p:nvGrpSpPr>
        <p:grpSpPr>
          <a:xfrm>
            <a:off x="12172950" y="2908300"/>
            <a:ext cx="5448300" cy="6711950"/>
            <a:chOff x="0" y="0"/>
            <a:chExt cx="1434943" cy="1767756"/>
          </a:xfrm>
        </p:grpSpPr>
        <p:sp>
          <p:nvSpPr>
            <p:cNvPr id="9" name="Freeform 9"/>
            <p:cNvSpPr/>
            <p:nvPr/>
          </p:nvSpPr>
          <p:spPr>
            <a:xfrm>
              <a:off x="0" y="0"/>
              <a:ext cx="1434943" cy="1767756"/>
            </a:xfrm>
            <a:custGeom>
              <a:avLst/>
              <a:gdLst/>
              <a:ahLst/>
              <a:cxnLst/>
              <a:rect l="l" t="t" r="r" b="b"/>
              <a:pathLst>
                <a:path w="1434943" h="1767756">
                  <a:moveTo>
                    <a:pt x="28420" y="0"/>
                  </a:moveTo>
                  <a:lnTo>
                    <a:pt x="1406524" y="0"/>
                  </a:lnTo>
                  <a:cubicBezTo>
                    <a:pt x="1422219" y="0"/>
                    <a:pt x="1434943" y="12724"/>
                    <a:pt x="1434943" y="28420"/>
                  </a:cubicBezTo>
                  <a:lnTo>
                    <a:pt x="1434943" y="1739337"/>
                  </a:lnTo>
                  <a:cubicBezTo>
                    <a:pt x="1434943" y="1755033"/>
                    <a:pt x="1422219" y="1767756"/>
                    <a:pt x="1406524" y="1767756"/>
                  </a:cubicBezTo>
                  <a:lnTo>
                    <a:pt x="28420" y="1767756"/>
                  </a:lnTo>
                  <a:cubicBezTo>
                    <a:pt x="12724" y="1767756"/>
                    <a:pt x="0" y="1755033"/>
                    <a:pt x="0" y="1739337"/>
                  </a:cubicBezTo>
                  <a:lnTo>
                    <a:pt x="0" y="28420"/>
                  </a:lnTo>
                  <a:cubicBezTo>
                    <a:pt x="0" y="12724"/>
                    <a:pt x="12724" y="0"/>
                    <a:pt x="28420" y="0"/>
                  </a:cubicBezTo>
                  <a:close/>
                </a:path>
              </a:pathLst>
            </a:custGeom>
            <a:solidFill>
              <a:srgbClr val="F4F6F8"/>
            </a:solidFill>
          </p:spPr>
        </p:sp>
        <p:sp>
          <p:nvSpPr>
            <p:cNvPr id="10" name="TextBox 10"/>
            <p:cNvSpPr txBox="1"/>
            <p:nvPr/>
          </p:nvSpPr>
          <p:spPr>
            <a:xfrm>
              <a:off x="0" y="-38100"/>
              <a:ext cx="1434943" cy="1805856"/>
            </a:xfrm>
            <a:prstGeom prst="rect">
              <a:avLst/>
            </a:prstGeom>
          </p:spPr>
          <p:txBody>
            <a:bodyPr lIns="50800" tIns="50800" rIns="50800" bIns="50800" rtlCol="0" anchor="ctr"/>
            <a:lstStyle/>
            <a:p>
              <a:pPr marL="0" lvl="0" indent="0" algn="ctr">
                <a:lnSpc>
                  <a:spcPts val="1923"/>
                </a:lnSpc>
              </a:pPr>
              <a:endParaRPr/>
            </a:p>
          </p:txBody>
        </p:sp>
      </p:grpSp>
      <p:grpSp>
        <p:nvGrpSpPr>
          <p:cNvPr id="11" name="Group 11"/>
          <p:cNvGrpSpPr/>
          <p:nvPr/>
        </p:nvGrpSpPr>
        <p:grpSpPr>
          <a:xfrm>
            <a:off x="1066053" y="4248150"/>
            <a:ext cx="4649694" cy="3581400"/>
            <a:chOff x="0" y="0"/>
            <a:chExt cx="1259398" cy="970044"/>
          </a:xfrm>
        </p:grpSpPr>
        <p:sp>
          <p:nvSpPr>
            <p:cNvPr id="12" name="Freeform 12"/>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2"/>
              <a:stretch>
                <a:fillRect l="-342" r="-342"/>
              </a:stretch>
            </a:blipFill>
          </p:spPr>
        </p:sp>
      </p:grpSp>
      <p:grpSp>
        <p:nvGrpSpPr>
          <p:cNvPr id="13" name="Group 13"/>
          <p:cNvGrpSpPr/>
          <p:nvPr/>
        </p:nvGrpSpPr>
        <p:grpSpPr>
          <a:xfrm>
            <a:off x="6819153" y="4248150"/>
            <a:ext cx="4649694" cy="3581400"/>
            <a:chOff x="0" y="0"/>
            <a:chExt cx="1259398" cy="970044"/>
          </a:xfrm>
        </p:grpSpPr>
        <p:sp>
          <p:nvSpPr>
            <p:cNvPr id="14" name="Freeform 14"/>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3"/>
              <a:stretch>
                <a:fillRect l="-342" r="-342"/>
              </a:stretch>
            </a:blipFill>
          </p:spPr>
        </p:sp>
      </p:grpSp>
      <p:grpSp>
        <p:nvGrpSpPr>
          <p:cNvPr id="15" name="Group 15"/>
          <p:cNvGrpSpPr/>
          <p:nvPr/>
        </p:nvGrpSpPr>
        <p:grpSpPr>
          <a:xfrm>
            <a:off x="12572253" y="4248150"/>
            <a:ext cx="4649694" cy="3581400"/>
            <a:chOff x="0" y="0"/>
            <a:chExt cx="1259398" cy="970044"/>
          </a:xfrm>
        </p:grpSpPr>
        <p:sp>
          <p:nvSpPr>
            <p:cNvPr id="16" name="Freeform 16"/>
            <p:cNvSpPr/>
            <p:nvPr/>
          </p:nvSpPr>
          <p:spPr>
            <a:xfrm>
              <a:off x="0" y="0"/>
              <a:ext cx="1259398" cy="970044"/>
            </a:xfrm>
            <a:custGeom>
              <a:avLst/>
              <a:gdLst/>
              <a:ahLst/>
              <a:cxnLst/>
              <a:rect l="l" t="t" r="r" b="b"/>
              <a:pathLst>
                <a:path w="1259398" h="970044">
                  <a:moveTo>
                    <a:pt x="33301" y="0"/>
                  </a:moveTo>
                  <a:lnTo>
                    <a:pt x="1226097" y="0"/>
                  </a:lnTo>
                  <a:cubicBezTo>
                    <a:pt x="1244489" y="0"/>
                    <a:pt x="1259398" y="14909"/>
                    <a:pt x="1259398" y="33301"/>
                  </a:cubicBezTo>
                  <a:lnTo>
                    <a:pt x="1259398" y="936743"/>
                  </a:lnTo>
                  <a:cubicBezTo>
                    <a:pt x="1259398" y="955135"/>
                    <a:pt x="1244489" y="970044"/>
                    <a:pt x="1226097" y="970044"/>
                  </a:cubicBezTo>
                  <a:lnTo>
                    <a:pt x="33301" y="970044"/>
                  </a:lnTo>
                  <a:cubicBezTo>
                    <a:pt x="24469" y="970044"/>
                    <a:pt x="15999" y="966535"/>
                    <a:pt x="9754" y="960290"/>
                  </a:cubicBezTo>
                  <a:cubicBezTo>
                    <a:pt x="3508" y="954045"/>
                    <a:pt x="0" y="945575"/>
                    <a:pt x="0" y="936743"/>
                  </a:cubicBezTo>
                  <a:lnTo>
                    <a:pt x="0" y="33301"/>
                  </a:lnTo>
                  <a:cubicBezTo>
                    <a:pt x="0" y="24469"/>
                    <a:pt x="3508" y="15999"/>
                    <a:pt x="9754" y="9754"/>
                  </a:cubicBezTo>
                  <a:cubicBezTo>
                    <a:pt x="15999" y="3508"/>
                    <a:pt x="24469" y="0"/>
                    <a:pt x="33301" y="0"/>
                  </a:cubicBezTo>
                  <a:close/>
                </a:path>
              </a:pathLst>
            </a:custGeom>
            <a:blipFill>
              <a:blip r:embed="rId4"/>
              <a:stretch>
                <a:fillRect l="-342" r="-342"/>
              </a:stretch>
            </a:blipFill>
          </p:spPr>
        </p:sp>
      </p:grpSp>
      <p:sp>
        <p:nvSpPr>
          <p:cNvPr id="17" name="TextBox 17"/>
          <p:cNvSpPr txBox="1"/>
          <p:nvPr/>
        </p:nvSpPr>
        <p:spPr>
          <a:xfrm>
            <a:off x="1021783" y="8273471"/>
            <a:ext cx="4738234"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Compare adjacent elements to determine if they need swapping for sorting.</a:t>
            </a:r>
          </a:p>
        </p:txBody>
      </p:sp>
      <p:sp>
        <p:nvSpPr>
          <p:cNvPr id="18" name="TextBox 18"/>
          <p:cNvSpPr txBox="1"/>
          <p:nvPr/>
        </p:nvSpPr>
        <p:spPr>
          <a:xfrm>
            <a:off x="1041066" y="3381375"/>
            <a:ext cx="4699667"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Compare Elements</a:t>
            </a:r>
          </a:p>
        </p:txBody>
      </p:sp>
      <p:sp>
        <p:nvSpPr>
          <p:cNvPr id="19" name="TextBox 19"/>
          <p:cNvSpPr txBox="1"/>
          <p:nvPr/>
        </p:nvSpPr>
        <p:spPr>
          <a:xfrm>
            <a:off x="6773192" y="8273471"/>
            <a:ext cx="4741615"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Elements are swapped if they are in the wrong order, ensuring sorting progress.</a:t>
            </a:r>
          </a:p>
        </p:txBody>
      </p:sp>
      <p:sp>
        <p:nvSpPr>
          <p:cNvPr id="20" name="TextBox 20"/>
          <p:cNvSpPr txBox="1"/>
          <p:nvPr/>
        </p:nvSpPr>
        <p:spPr>
          <a:xfrm>
            <a:off x="6773192" y="3381375"/>
            <a:ext cx="4741615" cy="543561"/>
          </a:xfrm>
          <a:prstGeom prst="rect">
            <a:avLst/>
          </a:prstGeom>
        </p:spPr>
        <p:txBody>
          <a:bodyPr lIns="0" tIns="0" rIns="0" bIns="0" rtlCol="0" anchor="t">
            <a:spAutoFit/>
          </a:bodyPr>
          <a:lstStyle/>
          <a:p>
            <a:pPr marL="0" lvl="0" indent="0" algn="ctr">
              <a:lnSpc>
                <a:spcPts val="4180"/>
              </a:lnSpc>
              <a:spcBef>
                <a:spcPct val="0"/>
              </a:spcBef>
            </a:pPr>
            <a:r>
              <a:rPr lang="en-US" sz="3800" u="none" strike="noStrike" spc="-95">
                <a:solidFill>
                  <a:srgbClr val="2A3A66"/>
                </a:solidFill>
                <a:latin typeface="Georgia Pro Condensed"/>
                <a:ea typeface="Georgia Pro Condensed"/>
                <a:cs typeface="Georgia Pro Condensed"/>
                <a:sym typeface="Georgia Pro Condensed"/>
              </a:rPr>
              <a:t>Swap if Needed</a:t>
            </a:r>
          </a:p>
        </p:txBody>
      </p:sp>
      <p:sp>
        <p:nvSpPr>
          <p:cNvPr id="21" name="TextBox 21"/>
          <p:cNvSpPr txBox="1"/>
          <p:nvPr/>
        </p:nvSpPr>
        <p:spPr>
          <a:xfrm>
            <a:off x="12551109" y="8272319"/>
            <a:ext cx="4691983" cy="683577"/>
          </a:xfrm>
          <a:prstGeom prst="rect">
            <a:avLst/>
          </a:prstGeom>
        </p:spPr>
        <p:txBody>
          <a:bodyPr lIns="0" tIns="0" rIns="0" bIns="0" rtlCol="0" anchor="t">
            <a:spAutoFit/>
          </a:bodyPr>
          <a:lstStyle/>
          <a:p>
            <a:pPr marL="0" lvl="0" indent="0" algn="ctr">
              <a:lnSpc>
                <a:spcPts val="2747"/>
              </a:lnSpc>
            </a:pPr>
            <a:r>
              <a:rPr lang="en-US" sz="1962" spc="-29">
                <a:solidFill>
                  <a:srgbClr val="1C1C1C"/>
                </a:solidFill>
                <a:latin typeface="Helvetica World"/>
                <a:ea typeface="Helvetica World"/>
                <a:cs typeface="Helvetica World"/>
                <a:sym typeface="Helvetica World"/>
              </a:rPr>
              <a:t>The sorting process continues with repeated passes until the entire list is sorted.</a:t>
            </a:r>
          </a:p>
        </p:txBody>
      </p:sp>
      <p:sp>
        <p:nvSpPr>
          <p:cNvPr id="22" name="TextBox 22"/>
          <p:cNvSpPr txBox="1"/>
          <p:nvPr/>
        </p:nvSpPr>
        <p:spPr>
          <a:xfrm>
            <a:off x="12551109" y="3381375"/>
            <a:ext cx="4691983" cy="543561"/>
          </a:xfrm>
          <a:prstGeom prst="rect">
            <a:avLst/>
          </a:prstGeom>
        </p:spPr>
        <p:txBody>
          <a:bodyPr lIns="0" tIns="0" rIns="0" bIns="0" rtlCol="0" anchor="t">
            <a:spAutoFit/>
          </a:bodyPr>
          <a:lstStyle/>
          <a:p>
            <a:pPr marL="0" lvl="0" indent="0" algn="ctr">
              <a:lnSpc>
                <a:spcPts val="4180"/>
              </a:lnSpc>
            </a:pPr>
            <a:r>
              <a:rPr lang="en-US" sz="3800" spc="-95">
                <a:solidFill>
                  <a:srgbClr val="2A3A66"/>
                </a:solidFill>
                <a:latin typeface="Georgia Pro Condensed"/>
                <a:ea typeface="Georgia Pro Condensed"/>
                <a:cs typeface="Georgia Pro Condensed"/>
                <a:sym typeface="Georgia Pro Condensed"/>
              </a:rPr>
              <a:t>Repeat Passes</a:t>
            </a:r>
          </a:p>
        </p:txBody>
      </p:sp>
      <p:sp>
        <p:nvSpPr>
          <p:cNvPr id="23" name="TextBox 23"/>
          <p:cNvSpPr txBox="1"/>
          <p:nvPr/>
        </p:nvSpPr>
        <p:spPr>
          <a:xfrm>
            <a:off x="666750" y="809625"/>
            <a:ext cx="16954500" cy="1069976"/>
          </a:xfrm>
          <a:prstGeom prst="rect">
            <a:avLst/>
          </a:prstGeom>
        </p:spPr>
        <p:txBody>
          <a:bodyPr lIns="0" tIns="0" rIns="0" bIns="0" rtlCol="0" anchor="t">
            <a:spAutoFit/>
          </a:bodyPr>
          <a:lstStyle/>
          <a:p>
            <a:pPr marL="0" lvl="0" indent="0" algn="ctr">
              <a:lnSpc>
                <a:spcPts val="8000"/>
              </a:lnSpc>
            </a:pPr>
            <a:r>
              <a:rPr lang="en-US" sz="8000" spc="-200">
                <a:solidFill>
                  <a:srgbClr val="F4F6F8"/>
                </a:solidFill>
                <a:latin typeface="Georgia Pro Condensed"/>
                <a:ea typeface="Georgia Pro Condensed"/>
                <a:cs typeface="Georgia Pro Condensed"/>
                <a:sym typeface="Georgia Pro Condensed"/>
              </a:rPr>
              <a:t>Bubble Sort Steps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A3A6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457450"/>
            <a:chOff x="0" y="0"/>
            <a:chExt cx="4816593" cy="647230"/>
          </a:xfrm>
        </p:grpSpPr>
        <p:sp>
          <p:nvSpPr>
            <p:cNvPr id="3" name="Freeform 3"/>
            <p:cNvSpPr/>
            <p:nvPr/>
          </p:nvSpPr>
          <p:spPr>
            <a:xfrm>
              <a:off x="0" y="0"/>
              <a:ext cx="4816592" cy="647230"/>
            </a:xfrm>
            <a:custGeom>
              <a:avLst/>
              <a:gdLst/>
              <a:ahLst/>
              <a:cxnLst/>
              <a:rect l="l" t="t" r="r" b="b"/>
              <a:pathLst>
                <a:path w="4816592" h="647230">
                  <a:moveTo>
                    <a:pt x="0" y="0"/>
                  </a:moveTo>
                  <a:lnTo>
                    <a:pt x="4816592" y="0"/>
                  </a:lnTo>
                  <a:lnTo>
                    <a:pt x="4816592" y="647230"/>
                  </a:lnTo>
                  <a:lnTo>
                    <a:pt x="0" y="647230"/>
                  </a:lnTo>
                  <a:close/>
                </a:path>
              </a:pathLst>
            </a:custGeom>
            <a:solidFill>
              <a:srgbClr val="F4F6F8"/>
            </a:solidFill>
          </p:spPr>
        </p:sp>
        <p:sp>
          <p:nvSpPr>
            <p:cNvPr id="4" name="TextBox 4"/>
            <p:cNvSpPr txBox="1"/>
            <p:nvPr/>
          </p:nvSpPr>
          <p:spPr>
            <a:xfrm>
              <a:off x="0" y="-57150"/>
              <a:ext cx="4816593" cy="704380"/>
            </a:xfrm>
            <a:prstGeom prst="rect">
              <a:avLst/>
            </a:prstGeom>
          </p:spPr>
          <p:txBody>
            <a:bodyPr lIns="50800" tIns="50800" rIns="50800" bIns="50800" rtlCol="0" anchor="ctr"/>
            <a:lstStyle/>
            <a:p>
              <a:pPr marL="0" lvl="0" indent="0" algn="ctr">
                <a:lnSpc>
                  <a:spcPts val="2800"/>
                </a:lnSpc>
              </a:pPr>
              <a:endParaRPr/>
            </a:p>
          </p:txBody>
        </p:sp>
      </p:grpSp>
      <p:grpSp>
        <p:nvGrpSpPr>
          <p:cNvPr id="5" name="Group 5"/>
          <p:cNvGrpSpPr/>
          <p:nvPr/>
        </p:nvGrpSpPr>
        <p:grpSpPr>
          <a:xfrm>
            <a:off x="666750" y="3352800"/>
            <a:ext cx="11201400" cy="6267450"/>
            <a:chOff x="0" y="0"/>
            <a:chExt cx="1471052" cy="823089"/>
          </a:xfrm>
        </p:grpSpPr>
        <p:sp>
          <p:nvSpPr>
            <p:cNvPr id="6" name="Freeform 6"/>
            <p:cNvSpPr/>
            <p:nvPr/>
          </p:nvSpPr>
          <p:spPr>
            <a:xfrm>
              <a:off x="0" y="0"/>
              <a:ext cx="1471052" cy="823089"/>
            </a:xfrm>
            <a:custGeom>
              <a:avLst/>
              <a:gdLst/>
              <a:ahLst/>
              <a:cxnLst/>
              <a:rect l="l" t="t" r="r" b="b"/>
              <a:pathLst>
                <a:path w="1471052" h="823089">
                  <a:moveTo>
                    <a:pt x="13823" y="0"/>
                  </a:moveTo>
                  <a:lnTo>
                    <a:pt x="1457229" y="0"/>
                  </a:lnTo>
                  <a:cubicBezTo>
                    <a:pt x="1460895" y="0"/>
                    <a:pt x="1464411" y="1456"/>
                    <a:pt x="1467004" y="4049"/>
                  </a:cubicBezTo>
                  <a:cubicBezTo>
                    <a:pt x="1469596" y="6641"/>
                    <a:pt x="1471052" y="10157"/>
                    <a:pt x="1471052" y="13823"/>
                  </a:cubicBezTo>
                  <a:lnTo>
                    <a:pt x="1471052" y="809266"/>
                  </a:lnTo>
                  <a:cubicBezTo>
                    <a:pt x="1471052" y="812932"/>
                    <a:pt x="1469596" y="816448"/>
                    <a:pt x="1467004" y="819040"/>
                  </a:cubicBezTo>
                  <a:cubicBezTo>
                    <a:pt x="1464411" y="821632"/>
                    <a:pt x="1460895" y="823089"/>
                    <a:pt x="1457229" y="823089"/>
                  </a:cubicBezTo>
                  <a:lnTo>
                    <a:pt x="13823" y="823089"/>
                  </a:lnTo>
                  <a:cubicBezTo>
                    <a:pt x="10157" y="823089"/>
                    <a:pt x="6641" y="821632"/>
                    <a:pt x="4049" y="819040"/>
                  </a:cubicBezTo>
                  <a:cubicBezTo>
                    <a:pt x="1456" y="816448"/>
                    <a:pt x="0" y="812932"/>
                    <a:pt x="0" y="809266"/>
                  </a:cubicBezTo>
                  <a:lnTo>
                    <a:pt x="0" y="13823"/>
                  </a:lnTo>
                  <a:cubicBezTo>
                    <a:pt x="0" y="10157"/>
                    <a:pt x="1456" y="6641"/>
                    <a:pt x="4049" y="4049"/>
                  </a:cubicBezTo>
                  <a:cubicBezTo>
                    <a:pt x="6641" y="1456"/>
                    <a:pt x="10157" y="0"/>
                    <a:pt x="13823" y="0"/>
                  </a:cubicBezTo>
                  <a:close/>
                </a:path>
              </a:pathLst>
            </a:custGeom>
            <a:blipFill>
              <a:blip r:embed="rId2"/>
              <a:stretch>
                <a:fillRect l="-521" r="-521"/>
              </a:stretch>
            </a:blipFill>
          </p:spPr>
        </p:sp>
      </p:grpSp>
      <p:grpSp>
        <p:nvGrpSpPr>
          <p:cNvPr id="7" name="Group 7"/>
          <p:cNvGrpSpPr/>
          <p:nvPr/>
        </p:nvGrpSpPr>
        <p:grpSpPr>
          <a:xfrm>
            <a:off x="12172950" y="3352800"/>
            <a:ext cx="5448300" cy="6267450"/>
            <a:chOff x="0" y="0"/>
            <a:chExt cx="715512" cy="823089"/>
          </a:xfrm>
        </p:grpSpPr>
        <p:sp>
          <p:nvSpPr>
            <p:cNvPr id="8" name="Freeform 8"/>
            <p:cNvSpPr/>
            <p:nvPr/>
          </p:nvSpPr>
          <p:spPr>
            <a:xfrm>
              <a:off x="0" y="0"/>
              <a:ext cx="715512" cy="823089"/>
            </a:xfrm>
            <a:custGeom>
              <a:avLst/>
              <a:gdLst/>
              <a:ahLst/>
              <a:cxnLst/>
              <a:rect l="l" t="t" r="r" b="b"/>
              <a:pathLst>
                <a:path w="715512" h="823089">
                  <a:moveTo>
                    <a:pt x="28420" y="0"/>
                  </a:moveTo>
                  <a:lnTo>
                    <a:pt x="687092" y="0"/>
                  </a:lnTo>
                  <a:cubicBezTo>
                    <a:pt x="702788" y="0"/>
                    <a:pt x="715512" y="12724"/>
                    <a:pt x="715512" y="28420"/>
                  </a:cubicBezTo>
                  <a:lnTo>
                    <a:pt x="715512" y="794669"/>
                  </a:lnTo>
                  <a:cubicBezTo>
                    <a:pt x="715512" y="802206"/>
                    <a:pt x="712518" y="809435"/>
                    <a:pt x="707188" y="814765"/>
                  </a:cubicBezTo>
                  <a:cubicBezTo>
                    <a:pt x="701858" y="820095"/>
                    <a:pt x="694630" y="823089"/>
                    <a:pt x="687092" y="823089"/>
                  </a:cubicBezTo>
                  <a:lnTo>
                    <a:pt x="28420" y="823089"/>
                  </a:lnTo>
                  <a:cubicBezTo>
                    <a:pt x="12724" y="823089"/>
                    <a:pt x="0" y="810365"/>
                    <a:pt x="0" y="794669"/>
                  </a:cubicBezTo>
                  <a:lnTo>
                    <a:pt x="0" y="28420"/>
                  </a:lnTo>
                  <a:cubicBezTo>
                    <a:pt x="0" y="12724"/>
                    <a:pt x="12724" y="0"/>
                    <a:pt x="28420" y="0"/>
                  </a:cubicBezTo>
                  <a:close/>
                </a:path>
              </a:pathLst>
            </a:custGeom>
            <a:blipFill>
              <a:blip r:embed="rId3"/>
              <a:stretch>
                <a:fillRect t="-103" b="-103"/>
              </a:stretch>
            </a:blipFill>
          </p:spPr>
        </p:sp>
      </p:grpSp>
      <p:sp>
        <p:nvSpPr>
          <p:cNvPr id="9" name="TextBox 9"/>
          <p:cNvSpPr txBox="1"/>
          <p:nvPr/>
        </p:nvSpPr>
        <p:spPr>
          <a:xfrm>
            <a:off x="666750" y="809625"/>
            <a:ext cx="16954500" cy="1069976"/>
          </a:xfrm>
          <a:prstGeom prst="rect">
            <a:avLst/>
          </a:prstGeom>
        </p:spPr>
        <p:txBody>
          <a:bodyPr lIns="0" tIns="0" rIns="0" bIns="0" rtlCol="0" anchor="t">
            <a:spAutoFit/>
          </a:bodyPr>
          <a:lstStyle/>
          <a:p>
            <a:pPr marL="0" lvl="0" indent="0" algn="l">
              <a:lnSpc>
                <a:spcPts val="8000"/>
              </a:lnSpc>
            </a:pPr>
            <a:r>
              <a:rPr lang="en-US" sz="8000" spc="-240">
                <a:solidFill>
                  <a:srgbClr val="2A3A66"/>
                </a:solidFill>
                <a:latin typeface="Georgia Pro Condensed"/>
                <a:ea typeface="Georgia Pro Condensed"/>
                <a:cs typeface="Georgia Pro Condensed"/>
                <a:sym typeface="Georgia Pro Condensed"/>
              </a:rPr>
              <a:t>Tracing Bubble Sort Steps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2069630" cy="2709333"/>
          </a:xfrm>
        </p:grpSpPr>
        <p:sp>
          <p:nvSpPr>
            <p:cNvPr id="3" name="Freeform 3"/>
            <p:cNvSpPr/>
            <p:nvPr/>
          </p:nvSpPr>
          <p:spPr>
            <a:xfrm>
              <a:off x="0" y="0"/>
              <a:ext cx="2069630" cy="2709333"/>
            </a:xfrm>
            <a:custGeom>
              <a:avLst/>
              <a:gdLst/>
              <a:ahLst/>
              <a:cxnLst/>
              <a:rect l="l" t="t" r="r" b="b"/>
              <a:pathLst>
                <a:path w="2069630" h="2709333">
                  <a:moveTo>
                    <a:pt x="0" y="0"/>
                  </a:moveTo>
                  <a:lnTo>
                    <a:pt x="2069630" y="0"/>
                  </a:lnTo>
                  <a:lnTo>
                    <a:pt x="2069630" y="2709333"/>
                  </a:lnTo>
                  <a:lnTo>
                    <a:pt x="0" y="2709333"/>
                  </a:lnTo>
                  <a:close/>
                </a:path>
              </a:pathLst>
            </a:custGeom>
            <a:solidFill>
              <a:srgbClr val="A9BCEB"/>
            </a:solidFill>
            <a:ln cap="sq">
              <a:noFill/>
              <a:prstDash val="solid"/>
              <a:miter/>
            </a:ln>
          </p:spPr>
        </p:sp>
        <p:sp>
          <p:nvSpPr>
            <p:cNvPr id="4" name="TextBox 4"/>
            <p:cNvSpPr txBox="1"/>
            <p:nvPr/>
          </p:nvSpPr>
          <p:spPr>
            <a:xfrm>
              <a:off x="0" y="-57150"/>
              <a:ext cx="2069630" cy="2766483"/>
            </a:xfrm>
            <a:prstGeom prst="rect">
              <a:avLst/>
            </a:prstGeom>
          </p:spPr>
          <p:txBody>
            <a:bodyPr lIns="50800" tIns="50800" rIns="50800" bIns="50800" rtlCol="0" anchor="ctr"/>
            <a:lstStyle/>
            <a:p>
              <a:pPr marL="0" lvl="0" indent="0" algn="ctr">
                <a:lnSpc>
                  <a:spcPts val="3359"/>
                </a:lnSpc>
              </a:pPr>
              <a:endParaRPr/>
            </a:p>
          </p:txBody>
        </p:sp>
      </p:grpSp>
      <p:sp>
        <p:nvSpPr>
          <p:cNvPr id="5" name="TextBox 5"/>
          <p:cNvSpPr txBox="1"/>
          <p:nvPr/>
        </p:nvSpPr>
        <p:spPr>
          <a:xfrm>
            <a:off x="666750" y="809625"/>
            <a:ext cx="5448300" cy="3089279"/>
          </a:xfrm>
          <a:prstGeom prst="rect">
            <a:avLst/>
          </a:prstGeom>
        </p:spPr>
        <p:txBody>
          <a:bodyPr lIns="0" tIns="0" rIns="0" bIns="0" rtlCol="0" anchor="t">
            <a:spAutoFit/>
          </a:bodyPr>
          <a:lstStyle/>
          <a:p>
            <a:pPr marL="0" lvl="0" indent="0" algn="l">
              <a:lnSpc>
                <a:spcPts val="8000"/>
              </a:lnSpc>
            </a:pPr>
            <a:r>
              <a:rPr lang="en-US" sz="8000">
                <a:solidFill>
                  <a:srgbClr val="2A3A66"/>
                </a:solidFill>
                <a:latin typeface="Georgia Pro Condensed"/>
                <a:ea typeface="Georgia Pro Condensed"/>
                <a:cs typeface="Georgia Pro Condensed"/>
                <a:sym typeface="Georgia Pro Condensed"/>
              </a:rPr>
              <a:t>Key Takeaways and Insights</a:t>
            </a:r>
          </a:p>
        </p:txBody>
      </p:sp>
      <p:sp>
        <p:nvSpPr>
          <p:cNvPr id="6" name="Freeform 6"/>
          <p:cNvSpPr/>
          <p:nvPr/>
        </p:nvSpPr>
        <p:spPr>
          <a:xfrm>
            <a:off x="708153" y="7606302"/>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7" name="Group 7"/>
          <p:cNvGrpSpPr/>
          <p:nvPr/>
        </p:nvGrpSpPr>
        <p:grpSpPr>
          <a:xfrm>
            <a:off x="10734675" y="6944836"/>
            <a:ext cx="6886575" cy="1837373"/>
            <a:chOff x="0" y="0"/>
            <a:chExt cx="9182100" cy="2449830"/>
          </a:xfrm>
        </p:grpSpPr>
        <p:sp>
          <p:nvSpPr>
            <p:cNvPr id="8" name="TextBox 8"/>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Tracing Importance</a:t>
              </a:r>
            </a:p>
          </p:txBody>
        </p:sp>
        <p:sp>
          <p:nvSpPr>
            <p:cNvPr id="9" name="TextBox 9"/>
            <p:cNvSpPr txBox="1"/>
            <p:nvPr/>
          </p:nvSpPr>
          <p:spPr>
            <a:xfrm>
              <a:off x="0" y="1295189"/>
              <a:ext cx="9182100" cy="1154642"/>
            </a:xfrm>
            <a:prstGeom prst="rect">
              <a:avLst/>
            </a:prstGeom>
          </p:spPr>
          <p:txBody>
            <a:bodyPr lIns="0" tIns="0" rIns="0" bIns="0" rtlCol="0" anchor="t">
              <a:spAutoFit/>
            </a:bodyPr>
            <a:lstStyle/>
            <a:p>
              <a:pPr marL="0" lvl="0" indent="0" algn="l">
                <a:lnSpc>
                  <a:spcPts val="3249"/>
                </a:lnSpc>
                <a:spcBef>
                  <a:spcPct val="0"/>
                </a:spcBef>
              </a:pPr>
              <a:r>
                <a:rPr lang="en-US" sz="2499" u="none" strike="noStrike" spc="-37">
                  <a:solidFill>
                    <a:srgbClr val="1C1C1C"/>
                  </a:solidFill>
                  <a:latin typeface="Helvetica World"/>
                  <a:ea typeface="Helvetica World"/>
                  <a:cs typeface="Helvetica World"/>
                  <a:sym typeface="Helvetica World"/>
                </a:rPr>
                <a:t>Understanding algorithms requires </a:t>
              </a:r>
              <a:r>
                <a:rPr lang="en-US" sz="2499" b="1" u="none" strike="noStrike" spc="-37">
                  <a:solidFill>
                    <a:srgbClr val="1C1C1C"/>
                  </a:solidFill>
                  <a:latin typeface="Helvetica World Bold"/>
                  <a:ea typeface="Helvetica World Bold"/>
                  <a:cs typeface="Helvetica World Bold"/>
                  <a:sym typeface="Helvetica World Bold"/>
                </a:rPr>
                <a:t>step-by-step tracing practice.</a:t>
              </a:r>
            </a:p>
          </p:txBody>
        </p:sp>
      </p:grpSp>
      <p:sp>
        <p:nvSpPr>
          <p:cNvPr id="10" name="TextBox 10"/>
          <p:cNvSpPr txBox="1"/>
          <p:nvPr/>
        </p:nvSpPr>
        <p:spPr>
          <a:xfrm>
            <a:off x="9296400" y="425005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02</a:t>
            </a:r>
          </a:p>
        </p:txBody>
      </p:sp>
      <p:sp>
        <p:nvSpPr>
          <p:cNvPr id="11" name="TextBox 11"/>
          <p:cNvSpPr txBox="1"/>
          <p:nvPr/>
        </p:nvSpPr>
        <p:spPr>
          <a:xfrm>
            <a:off x="9296400" y="1553369"/>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01</a:t>
            </a:r>
          </a:p>
        </p:txBody>
      </p:sp>
      <p:sp>
        <p:nvSpPr>
          <p:cNvPr id="12" name="TextBox 12"/>
          <p:cNvSpPr txBox="1"/>
          <p:nvPr/>
        </p:nvSpPr>
        <p:spPr>
          <a:xfrm>
            <a:off x="9296400" y="6936105"/>
            <a:ext cx="864987" cy="428625"/>
          </a:xfrm>
          <a:prstGeom prst="rect">
            <a:avLst/>
          </a:prstGeom>
        </p:spPr>
        <p:txBody>
          <a:bodyPr lIns="0" tIns="0" rIns="0" bIns="0" rtlCol="0" anchor="t">
            <a:spAutoFit/>
          </a:bodyPr>
          <a:lstStyle/>
          <a:p>
            <a:pPr marL="0" lvl="0" indent="0" algn="l">
              <a:lnSpc>
                <a:spcPts val="3359"/>
              </a:lnSpc>
              <a:spcBef>
                <a:spcPct val="0"/>
              </a:spcBef>
            </a:pPr>
            <a:r>
              <a:rPr lang="en-US" sz="2799" u="none">
                <a:solidFill>
                  <a:srgbClr val="1C1C1C"/>
                </a:solidFill>
                <a:latin typeface="Georgia Pro Condensed"/>
                <a:ea typeface="Georgia Pro Condensed"/>
                <a:cs typeface="Georgia Pro Condensed"/>
                <a:sym typeface="Georgia Pro Condensed"/>
              </a:rPr>
              <a:t>03</a:t>
            </a:r>
          </a:p>
        </p:txBody>
      </p:sp>
      <p:grpSp>
        <p:nvGrpSpPr>
          <p:cNvPr id="13" name="Group 13"/>
          <p:cNvGrpSpPr/>
          <p:nvPr/>
        </p:nvGrpSpPr>
        <p:grpSpPr>
          <a:xfrm>
            <a:off x="10734675" y="4248150"/>
            <a:ext cx="6886575" cy="1808798"/>
            <a:chOff x="0" y="0"/>
            <a:chExt cx="9182100" cy="2411730"/>
          </a:xfrm>
        </p:grpSpPr>
        <p:sp>
          <p:nvSpPr>
            <p:cNvPr id="14" name="TextBox 14"/>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u="none" strike="noStrike" spc="-44">
                  <a:solidFill>
                    <a:srgbClr val="2A3A66"/>
                  </a:solidFill>
                  <a:latin typeface="Helvetica World Bold"/>
                  <a:ea typeface="Helvetica World Bold"/>
                  <a:cs typeface="Helvetica World Bold"/>
                  <a:sym typeface="Helvetica World Bold"/>
                </a:rPr>
                <a:t>Sorting Concepts</a:t>
              </a:r>
            </a:p>
          </p:txBody>
        </p:sp>
        <p:sp>
          <p:nvSpPr>
            <p:cNvPr id="15" name="TextBox 15"/>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Bubble sort</a:t>
              </a:r>
              <a:r>
                <a:rPr lang="en-US" sz="2499" u="none" strike="noStrike" spc="-37">
                  <a:solidFill>
                    <a:srgbClr val="1C1C1C"/>
                  </a:solidFill>
                  <a:latin typeface="Helvetica World"/>
                  <a:ea typeface="Helvetica World"/>
                  <a:cs typeface="Helvetica World"/>
                  <a:sym typeface="Helvetica World"/>
                </a:rPr>
                <a:t> is an essential foundational sorting algorithm.</a:t>
              </a:r>
            </a:p>
          </p:txBody>
        </p:sp>
      </p:grpSp>
      <p:grpSp>
        <p:nvGrpSpPr>
          <p:cNvPr id="16" name="Group 16"/>
          <p:cNvGrpSpPr/>
          <p:nvPr/>
        </p:nvGrpSpPr>
        <p:grpSpPr>
          <a:xfrm>
            <a:off x="10734675" y="1562100"/>
            <a:ext cx="6886575" cy="1808798"/>
            <a:chOff x="0" y="0"/>
            <a:chExt cx="9182100" cy="2411730"/>
          </a:xfrm>
        </p:grpSpPr>
        <p:sp>
          <p:nvSpPr>
            <p:cNvPr id="17" name="TextBox 17"/>
            <p:cNvSpPr txBox="1"/>
            <p:nvPr/>
          </p:nvSpPr>
          <p:spPr>
            <a:xfrm>
              <a:off x="0" y="-9525"/>
              <a:ext cx="9182100" cy="669925"/>
            </a:xfrm>
            <a:prstGeom prst="rect">
              <a:avLst/>
            </a:prstGeom>
          </p:spPr>
          <p:txBody>
            <a:bodyPr lIns="0" tIns="0" rIns="0" bIns="0" rtlCol="0" anchor="t">
              <a:spAutoFit/>
            </a:bodyPr>
            <a:lstStyle/>
            <a:p>
              <a:pPr marL="0" lvl="0" indent="0" algn="l">
                <a:lnSpc>
                  <a:spcPts val="3600"/>
                </a:lnSpc>
                <a:spcBef>
                  <a:spcPct val="0"/>
                </a:spcBef>
              </a:pPr>
              <a:r>
                <a:rPr lang="en-US" sz="3000" b="1" spc="-44">
                  <a:solidFill>
                    <a:srgbClr val="2A3A66"/>
                  </a:solidFill>
                  <a:latin typeface="Helvetica World Bold"/>
                  <a:ea typeface="Helvetica World Bold"/>
                  <a:cs typeface="Helvetica World Bold"/>
                  <a:sym typeface="Helvetica World Bold"/>
                </a:rPr>
                <a:t>Search Algorithms</a:t>
              </a:r>
            </a:p>
          </p:txBody>
        </p:sp>
        <p:sp>
          <p:nvSpPr>
            <p:cNvPr id="18" name="TextBox 18"/>
            <p:cNvSpPr txBox="1"/>
            <p:nvPr/>
          </p:nvSpPr>
          <p:spPr>
            <a:xfrm>
              <a:off x="0" y="1295189"/>
              <a:ext cx="9182100" cy="1116542"/>
            </a:xfrm>
            <a:prstGeom prst="rect">
              <a:avLst/>
            </a:prstGeom>
          </p:spPr>
          <p:txBody>
            <a:bodyPr lIns="0" tIns="0" rIns="0" bIns="0" rtlCol="0" anchor="t">
              <a:spAutoFit/>
            </a:bodyPr>
            <a:lstStyle/>
            <a:p>
              <a:pPr marL="0" lvl="0" indent="0" algn="l">
                <a:lnSpc>
                  <a:spcPts val="3249"/>
                </a:lnSpc>
                <a:spcBef>
                  <a:spcPct val="0"/>
                </a:spcBef>
              </a:pPr>
              <a:r>
                <a:rPr lang="en-US" sz="2499" b="1" u="none" strike="noStrike" spc="-37">
                  <a:solidFill>
                    <a:srgbClr val="1C1C1C"/>
                  </a:solidFill>
                  <a:latin typeface="Helvetica World Bold"/>
                  <a:ea typeface="Helvetica World Bold"/>
                  <a:cs typeface="Helvetica World Bold"/>
                  <a:sym typeface="Helvetica World Bold"/>
                </a:rPr>
                <a:t>Linear and binary searches</a:t>
              </a:r>
              <a:r>
                <a:rPr lang="en-US" sz="2499" u="none" strike="noStrike" spc="-37">
                  <a:solidFill>
                    <a:srgbClr val="1C1C1C"/>
                  </a:solidFill>
                  <a:latin typeface="Helvetica World"/>
                  <a:ea typeface="Helvetica World"/>
                  <a:cs typeface="Helvetica World"/>
                  <a:sym typeface="Helvetica World"/>
                </a:rPr>
                <a:t> each have distinct strengths.</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CCFF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858125" cy="10287000"/>
            <a:chOff x="0" y="0"/>
            <a:chExt cx="1031988" cy="1350966"/>
          </a:xfrm>
        </p:grpSpPr>
        <p:sp>
          <p:nvSpPr>
            <p:cNvPr id="3" name="Freeform 3"/>
            <p:cNvSpPr/>
            <p:nvPr/>
          </p:nvSpPr>
          <p:spPr>
            <a:xfrm>
              <a:off x="0" y="0"/>
              <a:ext cx="1031988" cy="1350966"/>
            </a:xfrm>
            <a:custGeom>
              <a:avLst/>
              <a:gdLst/>
              <a:ahLst/>
              <a:cxnLst/>
              <a:rect l="l" t="t" r="r" b="b"/>
              <a:pathLst>
                <a:path w="1031988" h="1350966">
                  <a:moveTo>
                    <a:pt x="0" y="0"/>
                  </a:moveTo>
                  <a:lnTo>
                    <a:pt x="1031988" y="0"/>
                  </a:lnTo>
                  <a:lnTo>
                    <a:pt x="1031988" y="1350966"/>
                  </a:lnTo>
                  <a:lnTo>
                    <a:pt x="0" y="1350966"/>
                  </a:lnTo>
                  <a:close/>
                </a:path>
              </a:pathLst>
            </a:custGeom>
            <a:solidFill>
              <a:srgbClr val="2A3A66"/>
            </a:solidFill>
            <a:ln w="12700">
              <a:solidFill>
                <a:srgbClr val="000000"/>
              </a:solidFill>
            </a:ln>
          </p:spPr>
        </p:sp>
      </p:grpSp>
      <p:grpSp>
        <p:nvGrpSpPr>
          <p:cNvPr id="4" name="Group 4"/>
          <p:cNvGrpSpPr/>
          <p:nvPr/>
        </p:nvGrpSpPr>
        <p:grpSpPr>
          <a:xfrm>
            <a:off x="1052512" y="666750"/>
            <a:ext cx="5753100" cy="8953500"/>
            <a:chOff x="0" y="0"/>
            <a:chExt cx="814724" cy="1267949"/>
          </a:xfrm>
        </p:grpSpPr>
        <p:sp>
          <p:nvSpPr>
            <p:cNvPr id="5" name="Freeform 5"/>
            <p:cNvSpPr/>
            <p:nvPr/>
          </p:nvSpPr>
          <p:spPr>
            <a:xfrm>
              <a:off x="0" y="0"/>
              <a:ext cx="814724" cy="1267949"/>
            </a:xfrm>
            <a:custGeom>
              <a:avLst/>
              <a:gdLst/>
              <a:ahLst/>
              <a:cxnLst/>
              <a:rect l="l" t="t" r="r" b="b"/>
              <a:pathLst>
                <a:path w="814724" h="1267949">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a:blip r:embed="rId2"/>
              <a:stretch>
                <a:fillRect t="-199" b="-199"/>
              </a:stretch>
            </a:blipFill>
          </p:spPr>
        </p:sp>
      </p:grpSp>
      <p:sp>
        <p:nvSpPr>
          <p:cNvPr id="6" name="TextBox 6"/>
          <p:cNvSpPr txBox="1"/>
          <p:nvPr/>
        </p:nvSpPr>
        <p:spPr>
          <a:xfrm>
            <a:off x="9296400" y="9001760"/>
            <a:ext cx="8324850" cy="618490"/>
          </a:xfrm>
          <a:prstGeom prst="rect">
            <a:avLst/>
          </a:prstGeom>
        </p:spPr>
        <p:txBody>
          <a:bodyPr lIns="0" tIns="0" rIns="0" bIns="0" rtlCol="0" anchor="t">
            <a:spAutoFit/>
          </a:bodyPr>
          <a:lstStyle/>
          <a:p>
            <a:pPr marL="0" lvl="0" indent="0" algn="l">
              <a:lnSpc>
                <a:spcPts val="4940"/>
              </a:lnSpc>
            </a:pPr>
            <a:r>
              <a:rPr lang="en-US" sz="3800" spc="-57">
                <a:solidFill>
                  <a:srgbClr val="1C1C1C"/>
                </a:solidFill>
                <a:latin typeface="Helvetica World"/>
                <a:ea typeface="Helvetica World"/>
                <a:cs typeface="Helvetica World"/>
                <a:sym typeface="Helvetica World"/>
              </a:rPr>
              <a:t>Practice tracing algorithms today!</a:t>
            </a:r>
          </a:p>
        </p:txBody>
      </p:sp>
      <p:sp>
        <p:nvSpPr>
          <p:cNvPr id="7" name="TextBox 7"/>
          <p:cNvSpPr txBox="1"/>
          <p:nvPr/>
        </p:nvSpPr>
        <p:spPr>
          <a:xfrm>
            <a:off x="9303759" y="942975"/>
            <a:ext cx="8317491" cy="3894609"/>
          </a:xfrm>
          <a:prstGeom prst="rect">
            <a:avLst/>
          </a:prstGeom>
        </p:spPr>
        <p:txBody>
          <a:bodyPr lIns="0" tIns="0" rIns="0" bIns="0" rtlCol="0" anchor="t">
            <a:spAutoFit/>
          </a:bodyPr>
          <a:lstStyle/>
          <a:p>
            <a:pPr marL="0" lvl="0" indent="0" algn="l">
              <a:lnSpc>
                <a:spcPts val="14956"/>
              </a:lnSpc>
            </a:pPr>
            <a:r>
              <a:rPr lang="en-US" sz="14956" spc="-523">
                <a:solidFill>
                  <a:srgbClr val="2A3A66"/>
                </a:solidFill>
                <a:latin typeface="Georgia Pro Condensed"/>
                <a:ea typeface="Georgia Pro Condensed"/>
                <a:cs typeface="Georgia Pro Condensed"/>
                <a:sym typeface="Georgia Pro Condensed"/>
              </a:rPr>
              <a:t>Continue Learning</a:t>
            </a:r>
          </a:p>
        </p:txBody>
      </p:sp>
      <p:sp>
        <p:nvSpPr>
          <p:cNvPr id="8" name="Freeform 8"/>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Lesson on Algorithm - Year 3</a:t>
            </a:r>
          </a:p>
        </p:txBody>
      </p:sp>
      <p:sp>
        <p:nvSpPr>
          <p:cNvPr id="3" name="Subtitle 2"/>
          <p:cNvSpPr>
            <a:spLocks noGrp="1"/>
          </p:cNvSpPr>
          <p:nvPr>
            <p:ph type="subTitle" idx="1"/>
          </p:nvPr>
        </p:nvSpPr>
        <p:spPr/>
        <p:txBody>
          <a:bodyPr/>
          <a:lstStyle/>
          <a:p>
            <a:r>
              <a:t>AI-Generated Teaching Slides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This lesson pack is designed for Year 3 (ages 7-8) to introduce the concept of a</a:t>
            </a:r>
          </a:p>
        </p:txBody>
      </p:sp>
      <p:sp>
        <p:nvSpPr>
          <p:cNvPr id="3" name="Content Placeholder 2"/>
          <p:cNvSpPr>
            <a:spLocks noGrp="1"/>
          </p:cNvSpPr>
          <p:nvPr>
            <p:ph idx="1"/>
          </p:nvPr>
        </p:nvSpPr>
        <p:spPr/>
        <p:txBody>
          <a:bodyPr/>
          <a:lstStyle/>
          <a:p>
            <a:r>
              <a:rPr sz="2000"/>
              <a:t>---</a:t>
            </a:r>
          </a:p>
          <a:p/>
          <a:p>
            <a:r>
              <a:rPr sz="2000"/>
              <a:t>## Lesson Pack: Algorithms - Year 3</a:t>
            </a:r>
          </a:p>
          <a:p/>
          <a:p>
            <a:r>
              <a:rPr sz="2000"/>
              <a:t>**Topic:** Introduction to Algorithms</a:t>
            </a:r>
          </a:p>
          <a:p>
            <a:r>
              <a:rPr sz="2000"/>
              <a:t>**Target Age:** Year 3 (7-8 years old)</a:t>
            </a:r>
          </a:p>
          <a:p>
            <a:r>
              <a:rPr sz="2000"/>
              <a:t>**Duration:** 60 minutes (flexible, can be extended with activity time)</a:t>
            </a:r>
          </a:p>
          <a:p/>
          <a:p>
            <a:r>
              <a:rPr sz="2000"/>
              <a:t>---</a:t>
            </a:r>
          </a:p>
          <a:p/>
          <a:p>
            <a:r>
              <a:rPr sz="2000"/>
              <a:t>### 1. Lesson Objectives</a:t>
            </a:r>
          </a:p>
          <a:p/>
          <a:p>
            <a:r>
              <a:rPr sz="2000"/>
              <a:t>By the end of this lesson, pupils will be able to:</a:t>
            </a:r>
          </a:p>
          <a:p/>
          <a:p>
            <a:r>
              <a:rPr sz="2000"/>
              <a:t>*   **I can explain** what an algorithm is using my own words.</a:t>
            </a:r>
          </a:p>
          <a:p>
            <a:r>
              <a:rPr sz="2000"/>
              <a:t>*   **I can identify** simple algorithms in everyday activities.</a:t>
            </a:r>
          </a:p>
          <a:p>
            <a:r>
              <a:rPr sz="2000"/>
              <a:t>*   **I can follow** a set of instructions (an algorithm) carefully.</a:t>
            </a:r>
          </a:p>
          <a:p>
            <a:r>
              <a:rPr sz="2000"/>
              <a:t>*   **I can create** a simple set of step-by-step instructions (an algorithm) for a task.</a:t>
            </a:r>
          </a:p>
          <a:p>
            <a:r>
              <a:rPr sz="2000"/>
              <a:t>*   **I can understand** why the order of steps is important in an algorithm.</a:t>
            </a:r>
          </a:p>
          <a:p/>
          <a:p>
            <a:r>
              <a:rPr sz="2000"/>
              <a:t>---</a:t>
            </a:r>
          </a:p>
          <a:p/>
          <a:p>
            <a:r>
              <a:rPr sz="2000"/>
              <a:t>### 2. Introduction / Starter Activity</a:t>
            </a:r>
          </a:p>
          <a:p/>
          <a:p>
            <a:r>
              <a:rPr sz="2000"/>
              <a:t>**Activity Title:** The Jam Sandwich Challenge!</a:t>
            </a:r>
          </a:p>
          <a:p>
            <a:r>
              <a:rPr sz="2000"/>
              <a:t>**Time:** 10-15 minutes</a:t>
            </a:r>
          </a:p>
          <a:p>
            <a:r>
              <a:rPr sz="2000"/>
              <a:t>**Materials:** Bread, jam, butter (optional), a butter knife, a plate, a whiteboard/flipchart.</a:t>
            </a:r>
          </a:p>
          <a:p>
            <a:r>
              <a:rPr sz="2000"/>
              <a:t>**Instructions:**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**Engage:** "Good morning, Year 3! Today we're going to learn about something su</a:t>
            </a:r>
          </a:p>
        </p:txBody>
      </p:sp>
      <p:sp>
        <p:nvSpPr>
          <p:cNvPr id="3" name="Content Placeholder 2"/>
          <p:cNvSpPr>
            <a:spLocks noGrp="1"/>
          </p:cNvSpPr>
          <p:nvPr>
            <p:ph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**Demonstrate (Incorrectly):** Bring out the materials. "I want to make a delici</a:t>
            </a:r>
          </a:p>
        </p:txBody>
      </p:sp>
      <p:sp>
        <p:nvSpPr>
          <p:cNvPr id="3" name="Content Placeholder 2"/>
          <p:cNvSpPr>
            <a:spLocks noGrp="1"/>
          </p:cNvSpPr>
          <p:nvPr>
            <p:ph idx="1"/>
          </p:nvPr>
        </p:nvSpPr>
        <p:spPr/>
        <p:txBody>
          <a:bodyP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**Follow Literally (and deliberately poorly):** As pupils give instructions, fol</a:t>
            </a:r>
          </a:p>
        </p:txBody>
      </p:sp>
      <p:sp>
        <p:nvSpPr>
          <p:cNvPr id="3" name="Content Placeholder 2"/>
          <p:cNvSpPr>
            <a:spLocks noGrp="1"/>
          </p:cNvSpPr>
          <p:nvPr>
            <p:ph idx="1"/>
          </p:nvPr>
        </p:nvSpPr>
        <p:spPr/>
        <p:txBody>
          <a:bodyPr/>
          <a:lstStyle/>
          <a:p>
            <a:r>
              <a:rPr sz="2000"/>
              <a:t>*   If they say: "Put jam on the bread." (Pick up the jar of jam and try to put the whole jar on the bread, or put it on the table *next* to the bread).</a:t>
            </a:r>
          </a:p>
          <a:p>
            <a:r>
              <a:rPr sz="2000"/>
              <a:t>    *   If they say: "Cut the bread." (Try to cut the bread *before* putting anything on it, or with the jam knife, or cut a random part of the bread).</a:t>
            </a:r>
          </a:p>
          <a:p>
            <a:r>
              <a:rPr sz="2000"/>
              <a:t>    *   If they say: "Get two slices of bread." (This is a good start!).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**Discuss:** "Oh dear! My sandwich isn't looking very tasty, is it? Why do you t</a:t>
            </a:r>
          </a:p>
        </p:txBody>
      </p:sp>
      <p:sp>
        <p:nvSpPr>
          <p:cNvPr id="3" name="Content Placeholder 2"/>
          <p:cNvSpPr>
            <a:spLocks noGrp="1"/>
          </p:cNvSpPr>
          <p:nvPr>
            <p:ph idx="1"/>
          </p:nvPr>
        </p:nvSpPr>
        <p:spPr/>
        <p:txBody>
          <a:bodyPr/>
          <a:lstStyle/>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**Re-do (Correctly):** "What if we try again, but this time, you give me *very c</a:t>
            </a:r>
          </a:p>
        </p:txBody>
      </p:sp>
      <p:sp>
        <p:nvSpPr>
          <p:cNvPr id="3" name="Content Placeholder 2"/>
          <p:cNvSpPr>
            <a:spLocks noGrp="1"/>
          </p:cNvSpPr>
          <p:nvPr>
            <p:ph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**Introduce Vocabulary:** "Fantastic! You just created a brilliant set of instru</a:t>
            </a:r>
          </a:p>
        </p:txBody>
      </p:sp>
      <p:sp>
        <p:nvSpPr>
          <p:cNvPr id="3" name="Content Placeholder 2"/>
          <p:cNvSpPr>
            <a:spLocks noGrp="1"/>
          </p:cNvSpPr>
          <p:nvPr>
            <p:ph idx="1"/>
          </p:nvPr>
        </p:nvSpPr>
        <p:spPr/>
        <p:txBody>
          <a:bodyPr/>
          <a:lstStyle/>
          <a:p>
            <a:r>
              <a:rPr sz="2000"/>
              <a:t>---</a:t>
            </a:r>
          </a:p>
          <a:p/>
          <a:p>
            <a:r>
              <a:rPr sz="2000"/>
              <a:t>### 3. Key Teaching Points</a:t>
            </a:r>
          </a:p>
          <a:p/>
          <a:p>
            <a:r>
              <a:rPr sz="2000"/>
              <a:t>**Time:** 10-15 minutes</a:t>
            </a:r>
          </a:p>
          <a:p>
            <a:r>
              <a:rPr sz="2000"/>
              <a:t>**Delivery:** Use the PowerPoint slides (see Section 7) to guide this section.</a:t>
            </a:r>
          </a:p>
          <a:p/>
          <a:p>
            <a:r>
              <a:rPr sz="2000"/>
              <a:t>*   **What is an Algorithm?**</a:t>
            </a:r>
          </a:p>
          <a:p>
            <a:r>
              <a:rPr sz="2000"/>
              <a:t>    *   Explain simply: "An algorithm is a set of clear, step-by-step instructions that tell you how to complete a task or solve a problem."</a:t>
            </a:r>
          </a:p>
          <a:p>
            <a:r>
              <a:rPr sz="2000"/>
              <a:t>    *   Use the analogy of a "recipe" – a recipe is an algorithm for cooking!</a:t>
            </a:r>
          </a:p>
          <a:p>
            <a:r>
              <a:rPr sz="2000"/>
              <a:t>    *   Key idea: You follow the steps one by one, in the right order.</a:t>
            </a:r>
          </a:p>
          <a:p/>
          <a:p>
            <a:r>
              <a:rPr sz="2000"/>
              <a:t>*   **Why are Algorithms Important?**</a:t>
            </a:r>
          </a:p>
          <a:p>
            <a:r>
              <a:rPr sz="2000"/>
              <a:t>    *   They help us make sure we get the right result every time.</a:t>
            </a:r>
          </a:p>
          <a:p>
            <a:r>
              <a:rPr sz="2000"/>
              <a:t>    *   They make sure nothing is missed.</a:t>
            </a:r>
          </a:p>
          <a:p>
            <a:r>
              <a:rPr sz="2000"/>
              <a:t>    *   They make things clear and easy to understand.</a:t>
            </a:r>
          </a:p>
          <a:p>
            <a:r>
              <a:rPr sz="2000"/>
              <a:t>    *   Emphasise the importance of **ORDER** – if steps are in the wrong order, the algorithm won't work (like our first jam sandwich!).</a:t>
            </a:r>
          </a:p>
          <a:p/>
          <a:p>
            <a:r>
              <a:rPr sz="2000"/>
              <a:t>*   **Algorithms in Everyday Life:**</a:t>
            </a:r>
          </a:p>
          <a:p>
            <a:r>
              <a:rPr sz="2000"/>
              <a:t>    *   **Morning Routine:** (Getting dressed, brushing teeth, eating breakfast). Ask pupils to list steps.</a:t>
            </a:r>
          </a:p>
          <a:p>
            <a:r>
              <a:rPr sz="2000"/>
              <a:t>    *   **Making a drink:** (e.g., hot chocolate, glass of juice).</a:t>
            </a:r>
          </a:p>
          <a:p>
            <a:r>
              <a:rPr sz="2000"/>
              <a:t>    *   **Playing a game:** (Instructions for a board game or a simple playground game).</a:t>
            </a:r>
          </a:p>
          <a:p>
            <a:r>
              <a:rPr sz="2000"/>
              <a:t>    *   **Tidying your room:** (Pick up toys, put clothes away, make bed).</a:t>
            </a:r>
          </a:p>
          <a:p>
            <a:r>
              <a:rPr sz="2000"/>
              <a:t>    *   *Quick check:* Ask pupils for another example of an algorithm they use every day.</a:t>
            </a:r>
          </a:p>
          <a:p/>
          <a:p>
            <a:r>
              <a:rPr sz="2000"/>
              <a:t>*   **Algorithms and Computers:**</a:t>
            </a:r>
          </a:p>
          <a:p>
            <a:r>
              <a:rPr sz="2000"/>
              <a:t>    *   "Computers and robots are very clever, but they can't think for themselves. They need algorithms!"</a:t>
            </a:r>
          </a:p>
          <a:p>
            <a:r>
              <a:rPr sz="2000"/>
              <a:t>    *   "When you play a game on a tablet or computer, or when a robot tidies up, someone wrote an algorithm (like a super-long list of instructions) to tell it exactly what to do."</a:t>
            </a:r>
          </a:p>
          <a:p>
            <a:r>
              <a:rPr sz="2000"/>
              <a:t>    *   "It's like you were the 'programmer' for the jam sandwich algorithm!" (Keep this brief and light).</a:t>
            </a:r>
          </a:p>
          <a:p/>
          <a:p>
            <a:r>
              <a:rPr sz="2000"/>
              <a:t>*   **Key Features of a Good Algorithm:**</a:t>
            </a:r>
          </a:p>
          <a:p>
            <a:r>
              <a:rPr sz="2000"/>
              <a:t>    *   **Clear steps:** Easy to understand.</a:t>
            </a:r>
          </a:p>
          <a:p>
            <a:r>
              <a:rPr sz="2000"/>
              <a:t>    *   **Correct order:** Steps must be in the right sequence.</a:t>
            </a:r>
          </a:p>
          <a:p>
            <a:r>
              <a:rPr sz="2000"/>
              <a:t>    *   **Leads to a goal:** It helps you finish the task.</a:t>
            </a:r>
          </a:p>
          <a:p/>
          <a:p>
            <a:r>
              <a:rPr sz="2000"/>
              <a:t>---</a:t>
            </a:r>
          </a:p>
          <a:p/>
          <a:p>
            <a:r>
              <a:rPr sz="2000"/>
              <a:t>### 4. Guided Practice or Activities</a:t>
            </a:r>
          </a:p>
          <a:p/>
          <a:p>
            <a:r>
              <a:rPr sz="2000"/>
              <a:t>**Time:** 20-25 minutes</a:t>
            </a:r>
          </a:p>
          <a:p>
            <a:r>
              <a:rPr sz="2000"/>
              <a:t>**Materials:** Activity sheets, scissors, glue, coloured pens/pencils, space to move.</a:t>
            </a:r>
          </a:p>
          <a:p/>
          <a:p>
            <a:r>
              <a:rPr sz="2000"/>
              <a:t>**Activity 1: "Order Up!" (Individual / Pair Work)**</a:t>
            </a:r>
          </a:p>
          <a:p>
            <a:r>
              <a:rPr sz="2000"/>
              <a:t>*   **Concept:** Understanding sequence and correcting errors.</a:t>
            </a:r>
          </a:p>
          <a:p>
            <a:r>
              <a:rPr sz="2000"/>
              <a:t>*   **Instructions:**</a:t>
            </a:r>
          </a:p>
          <a:p>
            <a:r>
              <a:rPr sz="2000"/>
              <a:t>    1.  Provide each pupil (or pair) with a worksheet containing jumbled step-by-step instructions for a familiar task (e.g., "How to Brush Your Teeth," "How to Plant a Seed," "How to Make a Paper Aeroplane").</a:t>
            </a:r>
          </a:p>
          <a:p>
            <a:r>
              <a:rPr sz="2000"/>
              <a:t>    2.  The steps should be printed on separate strips of paper for cutting, or numbered in a jumbled order for pupils to re-write.</a:t>
            </a:r>
          </a:p>
          <a:p>
            <a:r>
              <a:rPr sz="2000"/>
              <a:t>    3.  Pupils cut out the steps (if applicable) and arrange them in the correct logical order, then glue them onto a separate sheet or write them down.</a:t>
            </a:r>
          </a:p>
          <a:p>
            <a:r>
              <a:rPr sz="2000"/>
              <a:t>    4.  **Differentiation:** For support, provide fewer steps or use pictures. For challenge, include a 'trick' step that doesn't belong.</a:t>
            </a:r>
          </a:p>
          <a:p>
            <a:r>
              <a:rPr sz="2000"/>
              <a:t>*   **Teacher Role:** Circulate, offer support, ask questions like "What would happen if you did that step first?"</a:t>
            </a:r>
          </a:p>
          <a:p/>
          <a:p>
            <a:r>
              <a:rPr sz="2000"/>
              <a:t>**Activity 2: "Robot Teacher" (Pair / Small Group - Movement)**</a:t>
            </a:r>
          </a:p>
          <a:p>
            <a:r>
              <a:rPr sz="2000"/>
              <a:t>*   **Concept:** Creating precise algorithms, following instructions, debugging.</a:t>
            </a:r>
          </a:p>
          <a:p>
            <a:r>
              <a:rPr sz="2000"/>
              <a:t>*   **Instructions:**</a:t>
            </a:r>
          </a:p>
          <a:p>
            <a:r>
              <a:rPr sz="2000"/>
              <a:t>    1.  Divide the class into pairs or small groups.</a:t>
            </a:r>
          </a:p>
          <a:p>
            <a:r>
              <a:rPr sz="2000"/>
              <a:t>    2.  One child is the "Robot," the other is the "Programmer" (or "Teacher").</a:t>
            </a:r>
          </a:p>
          <a:p>
            <a:r>
              <a:rPr sz="2000"/>
              <a:t>    3.  The Programmer chooses a simple task for the Robot to complete within the classroom space (e.g., "Robot, go to the whiteboard and pick up the blue pen," "Robot, walk to the reading corner and sit down").</a:t>
            </a:r>
          </a:p>
          <a:p>
            <a:r>
              <a:rPr sz="2000"/>
              <a:t>    4.  The Programmer must give the Robot a clear, step-by-step algorithm using precise instructions (e.g., "Take two steps forward," "Turn right," "Take one step forward," "Bend down," "Pick up the pen," "Stand up").</a:t>
            </a:r>
          </a:p>
          <a:p>
            <a:r>
              <a:rPr sz="2000"/>
              <a:t>    5.  The Robot must follow the instructions *literally* – if the instruction isn't clear enough, the robot does it wrong or gets "stuck."</a:t>
            </a:r>
          </a:p>
          <a:p>
            <a:r>
              <a:rPr sz="2000"/>
              <a:t>    6.  The Programmer then "debugs" their algorithm (finds the errors) and corrects their instructions to make the robot complete the task successfully.</a:t>
            </a:r>
          </a:p>
          <a:p>
            <a:r>
              <a:rPr sz="2000"/>
              <a:t>    7.  Swap roles after a few minutes.</a:t>
            </a:r>
          </a:p>
          <a:p>
            <a:r>
              <a:rPr sz="2000"/>
              <a:t>*   **Teacher Role:** Observe, encourage clear communication, prompt "programmers" to be more specific, highlight "debugging" as finding and fixing errors in the algorithm.</a:t>
            </a:r>
          </a:p>
          <a:p/>
          <a:p>
            <a:r>
              <a:rPr sz="2000"/>
              <a:t>**Activity 3: "My Super Algorithm!" (Individual - Creative)**</a:t>
            </a:r>
          </a:p>
          <a:p>
            <a:r>
              <a:rPr sz="2000"/>
              <a:t>*   **Concept:** Applying understanding to create own algorithms.</a:t>
            </a:r>
          </a:p>
          <a:p>
            <a:r>
              <a:rPr sz="2000"/>
              <a:t>*   **Instructions:**</a:t>
            </a:r>
          </a:p>
          <a:p>
            <a:r>
              <a:rPr sz="2000"/>
              <a:t>    1.  Provide a worksheet with a blank space or numbered lines.</a:t>
            </a:r>
          </a:p>
          <a:p>
            <a:r>
              <a:rPr sz="2000"/>
              <a:t>    2.  "Now it's your turn to be the algorithm expert! Think of a simple task you do or know how to do really well. For example: 'How to Feed My Pet', 'How to Make a Cup of Tea (for an adult!)', 'How to Draw a Stick Person', 'How to Play a Simple Game'."</a:t>
            </a:r>
          </a:p>
          <a:p>
            <a:r>
              <a:rPr sz="2000"/>
              <a:t>    3.  Pupils write (or draw if preferred) their step-by-step algorithm for their chosen task. Encourage them to number their steps.</a:t>
            </a:r>
          </a:p>
          <a:p>
            <a:r>
              <a:rPr sz="2000"/>
              <a:t>*   **Teacher Role:** Help pupils choose appropriate tasks, remind them about clear steps and correct order, check for understanding.</a:t>
            </a:r>
          </a:p>
          <a:p/>
          <a:p>
            <a:r>
              <a:rPr sz="2000"/>
              <a:t>---</a:t>
            </a:r>
          </a:p>
          <a:p/>
          <a:p>
            <a:r>
              <a:rPr sz="2000"/>
              <a:t>### 5. Assessment Ideas</a:t>
            </a:r>
          </a:p>
          <a:p/>
          <a:p>
            <a:r>
              <a:rPr sz="2000"/>
              <a:t>**Informal (Ongoing during activities):**</a:t>
            </a:r>
          </a:p>
          <a:p/>
          <a:p>
            <a:r>
              <a:rPr sz="2000"/>
              <a:t>*   **Observation:** During "Robot Teacher," observe if pupils can give clear, precise instructions and if they can "debug" their algorithms. During "Order Up!," observe how pupils sequence the instructions and if they grasp the concept of order.</a:t>
            </a:r>
          </a:p>
          <a:p>
            <a:r>
              <a:rPr sz="2000"/>
              <a:t>*   **Questioning:** Ask pupils to explain their reasoning for placing steps in a particular order. "Why is step 3 important before step 4?" "What would happen if we swapped these two steps?"</a:t>
            </a:r>
          </a:p>
          <a:p>
            <a:r>
              <a:rPr sz="2000"/>
              <a:t>*   **Participation:** Are pupils engaged and contributing to discussions about algorithms?</a:t>
            </a:r>
          </a:p>
          <a:p/>
          <a:p>
            <a:r>
              <a:rPr sz="2000"/>
              <a:t>**Formal (Product-based):**</a:t>
            </a:r>
          </a:p>
          <a:p/>
          <a:p>
            <a:r>
              <a:rPr sz="2000"/>
              <a:t>*   **"My Super Algorithm!" Worksheet:** Collect and review these. Look for:</a:t>
            </a:r>
          </a:p>
          <a:p>
            <a:r>
              <a:rPr sz="2000"/>
              <a:t>    *   **Clarity:** Are the instructions easy to understand?</a:t>
            </a:r>
          </a:p>
          <a:p>
            <a:r>
              <a:rPr sz="2000"/>
              <a:t>    *   **Correct Order:** Are the steps in a logical sequence that would achieve the goal?</a:t>
            </a:r>
          </a:p>
          <a:p>
            <a:r>
              <a:rPr sz="2000"/>
              <a:t>    *   **Completeness:** Are all necessary steps included?</a:t>
            </a:r>
          </a:p>
          <a:p>
            <a:r>
              <a:rPr sz="2000"/>
              <a:t>    *   This provides a direct link to the objective "I can create a simple set of step-by-step instructions."</a:t>
            </a:r>
          </a:p>
          <a:p/>
          <a:p>
            <a:r>
              <a:rPr sz="2000"/>
              <a:t>---</a:t>
            </a:r>
          </a:p>
          <a:p/>
          <a:p>
            <a:r>
              <a:rPr sz="2000"/>
              <a:t>### 6. Summary / Conclusion</a:t>
            </a:r>
          </a:p>
          <a:p/>
          <a:p>
            <a:r>
              <a:rPr sz="2000"/>
              <a:t>**Time:** 5 minutes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**Recap:** "Wow, we've done a lot of amazing learning today! Who can tell me, in</a:t>
            </a:r>
          </a:p>
        </p:txBody>
      </p:sp>
      <p:sp>
        <p:nvSpPr>
          <p:cNvPr id="3" name="Content Placeholder 2"/>
          <p:cNvSpPr>
            <a:spLocks noGrp="1"/>
          </p:cNvSpPr>
          <p:nvPr>
            <p:ph idx="1"/>
          </p:nvPr>
        </p:nvSpPr>
        <p:spPr/>
        <p:txBody>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**Examples:** "Can you give me an example of an algorithm you use every day, or </a:t>
            </a:r>
          </a:p>
        </p:txBody>
      </p:sp>
      <p:sp>
        <p:nvSpPr>
          <p:cNvPr id="3" name="Content Placeholder 2"/>
          <p:cNvSpPr>
            <a:spLocks noGrp="1"/>
          </p:cNvSpPr>
          <p:nvPr>
            <p:ph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**Importance of Order:** "Why is it so important that the steps in an algorithm </a:t>
            </a:r>
          </a:p>
        </p:txBody>
      </p:sp>
      <p:sp>
        <p:nvSpPr>
          <p:cNvPr id="3" name="Content Placeholder 2"/>
          <p:cNvSpPr>
            <a:spLocks noGrp="1"/>
          </p:cNvSpPr>
          <p:nvPr>
            <p:ph idx="1"/>
          </p:nvPr>
        </p:nvSpPr>
        <p:spPr/>
        <p:txBody>
          <a:bodyPr/>
          <a:lstStyle/>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**Future Link:** "You've all been amazing algorithm creators and followers today</a:t>
            </a:r>
          </a:p>
        </p:txBody>
      </p:sp>
      <p:sp>
        <p:nvSpPr>
          <p:cNvPr id="3" name="Content Placeholder 2"/>
          <p:cNvSpPr>
            <a:spLocks noGrp="1"/>
          </p:cNvSpPr>
          <p:nvPr>
            <p:ph idx="1"/>
          </p:nvPr>
        </p:nvSpPr>
        <p:spPr/>
        <p:txBody>
          <a:bodyP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000"/>
              <a:t>**Positive Reinforcement:** Praise effort and understanding.</a:t>
            </a:r>
          </a:p>
        </p:txBody>
      </p:sp>
      <p:sp>
        <p:nvSpPr>
          <p:cNvPr id="3" name="Content Placeholder 2"/>
          <p:cNvSpPr>
            <a:spLocks noGrp="1"/>
          </p:cNvSpPr>
          <p:nvPr>
            <p:ph idx="1"/>
          </p:nvPr>
        </p:nvSpPr>
        <p:spPr/>
        <p:txBody>
          <a:bodyPr/>
          <a:lstStyle/>
          <a:p>
            <a:r>
              <a:rPr sz="2000"/>
              <a:t>---</a:t>
            </a:r>
          </a:p>
          <a:p/>
          <a:p>
            <a:r>
              <a:rPr sz="2000"/>
              <a:t>### 7. PowerPoint Slide Outline</a:t>
            </a:r>
          </a:p>
          <a:p/>
          <a:p>
            <a:r>
              <a:rPr sz="2000"/>
              <a:t>**Slide 1: Title Slide**</a:t>
            </a:r>
          </a:p>
          <a:p>
            <a:r>
              <a:rPr sz="2000"/>
              <a:t>*   **Title:** Algorithms: Step-by-Step Superstars!</a:t>
            </a:r>
          </a:p>
          <a:p>
            <a:r>
              <a:rPr sz="2000"/>
              <a:t>*   **Subtitle:** Year 3 Computing</a:t>
            </a:r>
          </a:p>
          <a:p>
            <a:r>
              <a:rPr sz="2000"/>
              <a:t>*   **Image:** Fun, friendly robot or animated character giving instructions.</a:t>
            </a:r>
          </a:p>
          <a:p/>
          <a:p>
            <a:r>
              <a:rPr sz="2000"/>
              <a:t>**Slide 2: Learning Objectives**</a:t>
            </a:r>
          </a:p>
          <a:p>
            <a:r>
              <a:rPr sz="2000"/>
              <a:t>*   **Title:** Our Learning Adventure Today!</a:t>
            </a:r>
          </a:p>
          <a:p>
            <a:r>
              <a:rPr sz="2000"/>
              <a:t>*   **Bullet Points:**</a:t>
            </a:r>
          </a:p>
          <a:p>
            <a:r>
              <a:rPr sz="2000"/>
              <a:t>    *   I can explain what an algorithm is.</a:t>
            </a:r>
          </a:p>
          <a:p>
            <a:r>
              <a:rPr sz="2000"/>
              <a:t>    *   I can find algorithms in everyday life.</a:t>
            </a:r>
          </a:p>
          <a:p>
            <a:r>
              <a:rPr sz="2000"/>
              <a:t>    *   I can follow instructions carefully.</a:t>
            </a:r>
          </a:p>
          <a:p>
            <a:r>
              <a:rPr sz="2000"/>
              <a:t>    *   I can make my own step-by-step instructions.</a:t>
            </a:r>
          </a:p>
          <a:p>
            <a:r>
              <a:rPr sz="2000"/>
              <a:t>    *   I can understand why the order of steps matters.</a:t>
            </a:r>
          </a:p>
          <a:p>
            <a:r>
              <a:rPr sz="2000"/>
              <a:t>*   **Image:** A checklist or a roadmap.</a:t>
            </a:r>
          </a:p>
          <a:p/>
          <a:p>
            <a:r>
              <a:rPr sz="2000"/>
              <a:t>**Slide 3: Starter Activity: The Jam Sandwich Challenge!**</a:t>
            </a:r>
          </a:p>
          <a:p>
            <a:r>
              <a:rPr sz="2000"/>
              <a:t>*   **Title:** Can You Make a Jam Sandwich?</a:t>
            </a:r>
          </a:p>
          <a:p>
            <a:r>
              <a:rPr sz="2000"/>
              <a:t>*   **Bullet Points:**</a:t>
            </a:r>
          </a:p>
          <a:p>
            <a:r>
              <a:rPr sz="2000"/>
              <a:t>    *   Listen carefully to my instructions.</a:t>
            </a:r>
          </a:p>
          <a:p>
            <a:r>
              <a:rPr sz="2000"/>
              <a:t>    *   I will follow exactly what you say!</a:t>
            </a:r>
          </a:p>
          <a:p>
            <a:r>
              <a:rPr sz="2000"/>
              <a:t>    *   Let's see if we can make a delicious sandwich together.</a:t>
            </a:r>
          </a:p>
          <a:p>
            <a:r>
              <a:rPr sz="2000"/>
              <a:t>*   **Image:** Ingredients for a jam sandwich.</a:t>
            </a:r>
          </a:p>
          <a:p/>
          <a:p>
            <a:r>
              <a:rPr sz="2000"/>
              <a:t>**Slide 4: What Went Wrong? (Or Right!)**</a:t>
            </a:r>
          </a:p>
          <a:p>
            <a:r>
              <a:rPr sz="2000"/>
              <a:t>*   **Title:** Oops! Or Yum! What Happened?</a:t>
            </a:r>
          </a:p>
          <a:p>
            <a:r>
              <a:rPr sz="2000"/>
              <a:t>*   **Bullet Points:**</a:t>
            </a:r>
          </a:p>
          <a:p>
            <a:r>
              <a:rPr sz="2000"/>
              <a:t>    *   Why did my first sandwich not work?</a:t>
            </a:r>
          </a:p>
          <a:p>
            <a:r>
              <a:rPr sz="2000"/>
              <a:t>    *   What did we need to make it better?</a:t>
            </a:r>
          </a:p>
          <a:p>
            <a:r>
              <a:rPr sz="2000"/>
              <a:t>    *   *Hint:* Clear steps and correct order!</a:t>
            </a:r>
          </a:p>
          <a:p>
            <a:r>
              <a:rPr sz="2000"/>
              <a:t>*   **Image:** A messy, badly made sandwich next to a perfectly made one.</a:t>
            </a:r>
          </a:p>
          <a:p/>
          <a:p>
            <a:r>
              <a:rPr sz="2000"/>
              <a:t>**Slide 5: What is an Algorithm?**</a:t>
            </a:r>
          </a:p>
          <a:p>
            <a:r>
              <a:rPr sz="2000"/>
              <a:t>*   **Title:** Introducing the Algorithm!</a:t>
            </a:r>
          </a:p>
          <a:p>
            <a:r>
              <a:rPr sz="2000"/>
              <a:t>*   **Bullet Points:**</a:t>
            </a:r>
          </a:p>
          <a:p>
            <a:r>
              <a:rPr sz="2000"/>
              <a:t>    *   An **Algorithm** is a set of clear, step-by-step instructions.</a:t>
            </a:r>
          </a:p>
          <a:p>
            <a:r>
              <a:rPr sz="2000"/>
              <a:t>    *   It tells you how to complete a task or solve a problem.</a:t>
            </a:r>
          </a:p>
          <a:p>
            <a:r>
              <a:rPr sz="2000"/>
              <a:t>    *   Think of it like a **recipe**!</a:t>
            </a:r>
          </a:p>
          <a:p>
            <a:r>
              <a:rPr sz="2000"/>
              <a:t>*   **Image:** A recipe book, or a sequence of simple steps (e.g., wash hands -&gt; dry hands).</a:t>
            </a:r>
          </a:p>
          <a:p/>
          <a:p>
            <a:r>
              <a:rPr sz="2000"/>
              <a:t>**Slide 6: Algorithms Everywhere!**</a:t>
            </a:r>
          </a:p>
          <a:p>
            <a:r>
              <a:rPr sz="2000"/>
              <a:t>*   **Title:** Algorithms in Our Daily Life</a:t>
            </a:r>
          </a:p>
          <a:p>
            <a:r>
              <a:rPr sz="2000"/>
              <a:t>*   **Bullet Points:**</a:t>
            </a:r>
          </a:p>
          <a:p>
            <a:r>
              <a:rPr sz="2000"/>
              <a:t>    *   Getting ready in the morning.</a:t>
            </a:r>
          </a:p>
          <a:p>
            <a:r>
              <a:rPr sz="2000"/>
              <a:t>    *   Making a cup of juice.</a:t>
            </a:r>
          </a:p>
          <a:p>
            <a:r>
              <a:rPr sz="2000"/>
              <a:t>    *   Tidying your room.</a:t>
            </a:r>
          </a:p>
          <a:p>
            <a:r>
              <a:rPr sz="2000"/>
              <a:t>    *   Playing a game.</a:t>
            </a:r>
          </a:p>
          <a:p>
            <a:r>
              <a:rPr sz="2000"/>
              <a:t>    *   What other algorithms do you use?</a:t>
            </a:r>
          </a:p>
          <a:p>
            <a:r>
              <a:rPr sz="2000"/>
              <a:t>*   **Image:** Collage of daily activities (brushing teeth, pouring juice, dressing).</a:t>
            </a:r>
          </a:p>
          <a:p/>
          <a:p>
            <a:r>
              <a:rPr sz="2000"/>
              <a:t>**Slide 7: Why Does Order Matter?**</a:t>
            </a:r>
          </a:p>
          <a:p>
            <a:r>
              <a:rPr sz="2000"/>
              <a:t>*   **Title:** The Super Power of Order!</a:t>
            </a:r>
          </a:p>
          <a:p>
            <a:r>
              <a:rPr sz="2000"/>
              <a:t>*   **Bullet Points:**</a:t>
            </a:r>
          </a:p>
          <a:p>
            <a:r>
              <a:rPr sz="2000"/>
              <a:t>    *   If steps are in the wrong order, the algorithm won't work!</a:t>
            </a:r>
          </a:p>
          <a:p>
            <a:r>
              <a:rPr sz="2000"/>
              <a:t>    *   (Show a simple example: put on socks, *then* put on shoes. What if we put shoes on first?)</a:t>
            </a:r>
          </a:p>
          <a:p>
            <a:r>
              <a:rPr sz="2000"/>
              <a:t>    *   Every step must be in the right place.</a:t>
            </a:r>
          </a:p>
          <a:p>
            <a:r>
              <a:rPr sz="2000"/>
              <a:t>*   **Image:** Two sequences for getting dressed, one correct, one clearly jumbled.</a:t>
            </a:r>
          </a:p>
          <a:p/>
          <a:p>
            <a:r>
              <a:rPr sz="2000"/>
              <a:t>**Slide 8: Activity 1: Order Up!**</a:t>
            </a:r>
          </a:p>
          <a:p>
            <a:r>
              <a:rPr sz="2000"/>
              <a:t>*   **Title:** Let's Get Our Steps in Order!</a:t>
            </a:r>
          </a:p>
          <a:p>
            <a:r>
              <a:rPr sz="2000"/>
              <a:t>*   **Bullet Points:**</a:t>
            </a:r>
          </a:p>
          <a:p>
            <a:r>
              <a:rPr sz="2000"/>
              <a:t>    *   You have a jumbled set of instructions.</a:t>
            </a:r>
          </a:p>
          <a:p>
            <a:r>
              <a:rPr sz="2000"/>
              <a:t>    *   Cut them out (or write them).</a:t>
            </a:r>
          </a:p>
          <a:p>
            <a:r>
              <a:rPr sz="2000"/>
              <a:t>    *   Put them in the correct step-by-step order.</a:t>
            </a:r>
          </a:p>
          <a:p>
            <a:r>
              <a:rPr sz="2000"/>
              <a:t>    *   What is your algorithm for...?</a:t>
            </a:r>
          </a:p>
          <a:p>
            <a:r>
              <a:rPr sz="2000"/>
              <a:t>*   **Image:** Scissors and glue icon, or a question mark over jumbled items.</a:t>
            </a:r>
          </a:p>
          <a:p/>
          <a:p>
            <a:r>
              <a:rPr sz="2000"/>
              <a:t>**Slide 9: Activity 2: Robot Teacher**</a:t>
            </a:r>
          </a:p>
          <a:p>
            <a:r>
              <a:rPr sz="2000"/>
              <a:t>*   **Title:** You Are the Robot! You Are the Programmer!</a:t>
            </a:r>
          </a:p>
          <a:p>
            <a:r>
              <a:rPr sz="2000"/>
              <a:t>*   **Bullet Points:**</a:t>
            </a:r>
          </a:p>
          <a:p>
            <a:r>
              <a:rPr sz="2000"/>
              <a:t>    *   Work in pairs or small groups.</a:t>
            </a:r>
          </a:p>
          <a:p>
            <a:r>
              <a:rPr sz="2000"/>
              <a:t>    *   One person is the "Programmer" (gives instructions).</a:t>
            </a:r>
          </a:p>
          <a:p>
            <a:r>
              <a:rPr sz="2000"/>
              <a:t>    *   One person is the "Robot" (follows *exactly*).</a:t>
            </a:r>
          </a:p>
          <a:p>
            <a:r>
              <a:rPr sz="2000"/>
              <a:t>    *   Give clear, step-by-step instructions for a simple task.</a:t>
            </a:r>
          </a:p>
          <a:p>
            <a:r>
              <a:rPr sz="2000"/>
              <a:t>    *   If the robot gets stuck, "debug" (fix) your algorithm!</a:t>
            </a:r>
          </a:p>
          <a:p>
            <a:r>
              <a:rPr sz="2000"/>
              <a:t>*   **Image:** Simple robot illustration, speech bubbles for instructions.</a:t>
            </a:r>
          </a:p>
          <a:p/>
          <a:p>
            <a:r>
              <a:rPr sz="2000"/>
              <a:t>**Slide 10: Activity 3: My Super Algorithm!**</a:t>
            </a:r>
          </a:p>
          <a:p>
            <a:r>
              <a:rPr sz="2000"/>
              <a:t>*   **Title:** Create Your Own Algorithm!</a:t>
            </a:r>
          </a:p>
          <a:p>
            <a:r>
              <a:rPr sz="2000"/>
              <a:t>*   **Bullet Points:**</a:t>
            </a:r>
          </a:p>
          <a:p>
            <a:r>
              <a:rPr sz="2000"/>
              <a:t>    *   Choose a simple task you know well (e.g., how to draw a simple shape, how to feed a pet, how to make a paper airplane).</a:t>
            </a:r>
          </a:p>
          <a:p>
            <a:r>
              <a:rPr sz="2000"/>
              <a:t>    *   Write or draw your clear, step-by-step instructions.</a:t>
            </a:r>
          </a:p>
          <a:p>
            <a:r>
              <a:rPr sz="2000"/>
              <a:t>    *   Make sure your steps are in the correct order!</a:t>
            </a:r>
          </a:p>
          <a:p>
            <a:r>
              <a:rPr sz="2000"/>
              <a:t>*   **Image:** A blank notebook and pencil, or a "thinking bubble" over a child.</a:t>
            </a:r>
          </a:p>
          <a:p/>
          <a:p>
            <a:r>
              <a:rPr sz="2000"/>
              <a:t>**Slide 11: What Did We Learn?**</a:t>
            </a:r>
          </a:p>
          <a:p>
            <a:r>
              <a:rPr sz="2000"/>
              <a:t>*   **Title:** Algorithm Champions!</a:t>
            </a:r>
          </a:p>
          <a:p>
            <a:r>
              <a:rPr sz="2000"/>
              <a:t>*   **Bullet Points:**</a:t>
            </a:r>
          </a:p>
          <a:p>
            <a:r>
              <a:rPr sz="2000"/>
              <a:t>    *   An algorithm is... (ask class for definition).</a:t>
            </a:r>
          </a:p>
          <a:p>
            <a:r>
              <a:rPr sz="2000"/>
              <a:t>    *   We see algorithms every day when we... (ask for examples).</a:t>
            </a:r>
          </a:p>
          <a:p>
            <a:r>
              <a:rPr sz="2000"/>
              <a:t>    *   The most important thing about an algorithm is the... (ask for 'order').</a:t>
            </a:r>
          </a:p>
          <a:p>
            <a:r>
              <a:rPr sz="2000"/>
              <a:t>    *   Computers need algorithms to... (ask for 'know what to do').</a:t>
            </a:r>
          </a:p>
          <a:p>
            <a:r>
              <a:rPr sz="2000"/>
              <a:t>*   **Image:** Checkmarks, stars, or a "lightbulb" moment.</a:t>
            </a:r>
          </a:p>
          <a:p/>
          <a:p>
            <a:r>
              <a:rPr sz="2000"/>
              <a:t>**Slide 12: Conclusion**</a:t>
            </a:r>
          </a:p>
          <a:p>
            <a:r>
              <a:rPr sz="2000"/>
              <a:t>*   **Title:** Keep Exploring Algorithms!</a:t>
            </a:r>
          </a:p>
          <a:p>
            <a:r>
              <a:rPr sz="2000"/>
              <a:t>*   **Bullet Points:**</a:t>
            </a:r>
          </a:p>
          <a:p>
            <a:r>
              <a:rPr sz="2000"/>
              <a:t>    *   You are all amazing algorithm creators and followers!</a:t>
            </a:r>
          </a:p>
          <a:p>
            <a:r>
              <a:rPr sz="2000"/>
              <a:t>    *   This is a fantastic skill for future coding and problem-solving.</a:t>
            </a:r>
          </a:p>
          <a:p>
            <a:r>
              <a:rPr sz="2000"/>
              <a:t>    *   Look for algorithms everywhere you go!</a:t>
            </a:r>
          </a:p>
          <a:p>
            <a:r>
              <a:rPr sz="2000"/>
              <a:t>*   **Image:** A child using a tablet to code, or a friendly robot waving goodbye.</a:t>
            </a:r>
          </a:p>
          <a:p/>
          <a:p>
            <a:r>
              <a:rPr sz="2000"/>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539</Words>
  <Application>Microsoft Office PowerPoint</Application>
  <PresentationFormat>Custom</PresentationFormat>
  <Paragraphs>66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Helvetica World</vt:lpstr>
      <vt:lpstr>Arial</vt:lpstr>
      <vt:lpstr>Helvetica World Bold</vt:lpstr>
      <vt:lpstr>Georgia Pro Condensed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Algorithms: Searching and Sorting</dc:title>
  <dc:description>Presentation - Algorithms: Searching and Sorting</dc:description>
  <cp:lastModifiedBy>user</cp:lastModifiedBy>
  <cp:revision>3</cp:revision>
  <dcterms:created xsi:type="dcterms:W3CDTF">2006-08-16T00:00:00Z</dcterms:created>
  <dcterms:modified xsi:type="dcterms:W3CDTF">2025-11-05T12:34:16Z</dcterms:modified>
  <dc:identifier>DAG3zzhZX2A</dc:identifier>
</cp:coreProperties>
</file>