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</p:sldIdLst>
  <p:sldSz cx="18288000" cy="10287000"/>
  <p:notesSz cx="6858000" cy="9144000"/>
  <p:embeddedFontLst>
    <p:embeddedFont>
      <p:font typeface="Helvetica World" panose="020B0604020202020204" charset="-128"/>
      <p:regular r:id="rId14"/>
    </p:embeddedFont>
    <p:embeddedFont>
      <p:font typeface="Helvetica World Bold" panose="020B0604020202020204" charset="-128"/>
      <p:regular r:id="rId15"/>
    </p:embeddedFont>
    <p:embeddedFont>
      <p:font typeface="Georgia Pro Condense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1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image" Target="../media/image1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3" Type="http://schemas.openxmlformats.org/officeDocument/2006/relationships/image" Target="../media/image14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4F6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9001760"/>
            <a:ext cx="6886575" cy="5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u="none" strike="noStrike" spc="-57" dirty="0" smtClean="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by Mr. Edward Paul</a:t>
            </a:r>
            <a:endParaRPr lang="en-US" sz="3800" u="none" strike="noStrike" spc="-57" dirty="0">
              <a:solidFill>
                <a:srgbClr val="1C1C1C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5380" y="975068"/>
            <a:ext cx="9754495" cy="579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u="none" strike="noStrike" spc="-523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Algorithms: Searching and Sorting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3581400"/>
            <a:chOff x="0" y="0"/>
            <a:chExt cx="17259300" cy="47752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Understanding Algorithms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Their Importance in Computer Science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059641"/>
              <a:ext cx="13512134" cy="1715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Algorithms are essential, defined as step-by-step procedures for solving problems. They enable computers to efficiently process information, making them a fundamental aspect of computer science and programming.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908300"/>
            <a:ext cx="5448300" cy="6711950"/>
            <a:chOff x="0" y="0"/>
            <a:chExt cx="1434943" cy="1767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2908300"/>
            <a:ext cx="5448300" cy="6711950"/>
            <a:chOff x="0" y="0"/>
            <a:chExt cx="1434943" cy="1767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2908300"/>
            <a:ext cx="5448300" cy="6711950"/>
            <a:chOff x="0" y="0"/>
            <a:chExt cx="1434943" cy="1767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053" y="4248150"/>
            <a:ext cx="4649694" cy="3581400"/>
            <a:chOff x="0" y="0"/>
            <a:chExt cx="1259398" cy="9700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r="-34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19153" y="4248150"/>
            <a:ext cx="4649694" cy="3581400"/>
            <a:chOff x="0" y="0"/>
            <a:chExt cx="1259398" cy="9700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r="-34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572253" y="4248150"/>
            <a:ext cx="4649694" cy="3581400"/>
            <a:chOff x="0" y="0"/>
            <a:chExt cx="1259398" cy="9700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r="-34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1783" y="8282996"/>
            <a:ext cx="4738234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 how algorithms locate data effectively through different searching techniques.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Search Algorithms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73192" y="8282996"/>
            <a:ext cx="4741615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Learn the efficiency differences between linear and binary search methods in data retrieval.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Compare Efficiencies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1109" y="8281844"/>
            <a:ext cx="4691983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 the basics of bubble sort and how it organizes data through comparisons.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</a:pPr>
            <a:r>
              <a:rPr lang="en-US" sz="3800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Bubble Sort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spc="-20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Learning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Linear Search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Sequential Scanning for Data Retrieval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197100"/>
            <a:chOff x="0" y="0"/>
            <a:chExt cx="5744662" cy="29294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Definition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186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is a straightforward algorithm that checks each element in a list sequentially until it finds the target value or reaches the end of the list.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Simple Mechanism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method is easy to implement but can be inefficient for large datasets, as it might require examining every single item before locating the desired information.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549525"/>
            <a:chOff x="0" y="0"/>
            <a:chExt cx="5346700" cy="33993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 Cases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is particularly useful for small or unsorted datasets where quick implementation is necessary, making it an ideal choice for simple search tasks.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B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4F6F8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Binary Search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Divide and Conquer Method Explained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197100"/>
            <a:chOff x="0" y="0"/>
            <a:chExt cx="5744662" cy="29294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Definition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186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Binary search is a fast search algorithm that finds the position of a target value within a sorted array, using a divide-and-conquer strategy for efficiency.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Mechanism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algorithm repeatedly divides the search interval in half; comparing the target value to the middle element, it narrows down the potential location until the target is found.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901950"/>
            <a:chOff x="0" y="0"/>
            <a:chExt cx="5346700" cy="38692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Requirements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808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For binary search to work, the data must be sorted beforehand; this prerequisite allows the algorithm to efficiently eliminate half of the remaining elements with each comparison.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C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66750"/>
            <a:ext cx="4010025" cy="6716121"/>
            <a:chOff x="0" y="0"/>
            <a:chExt cx="698915" cy="1170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3611225" y="666750"/>
            <a:ext cx="4010025" cy="6716121"/>
            <a:chOff x="0" y="0"/>
            <a:chExt cx="698915" cy="11705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3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A66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7829550"/>
            <a:ext cx="2876550" cy="1231011"/>
            <a:chOff x="0" y="0"/>
            <a:chExt cx="3835400" cy="164134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3835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Efficiency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79653"/>
              <a:ext cx="3835400" cy="86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has O(n) time complexity.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7865173"/>
            <a:ext cx="2876550" cy="1231011"/>
            <a:chOff x="0" y="0"/>
            <a:chExt cx="3835400" cy="164134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3835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Pros and Cons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79653"/>
              <a:ext cx="3835400" cy="86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Binary search is faster but needs sorted data.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733425"/>
            <a:ext cx="7021245" cy="44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Comparing Efficiency of Search Algorithms</a:t>
            </a:r>
          </a:p>
        </p:txBody>
      </p:sp>
      <p:sp>
        <p:nvSpPr>
          <p:cNvPr id="16" name="Freeform 1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B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9118" y="3357562"/>
            <a:ext cx="544593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Linear Search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9118" y="5086350"/>
            <a:ext cx="5445932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linear search, each element is examined sequentially until the target is found. This straightforward approach is effective for small or unsorted datasets, but can be slow for larger lists.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9850" y="3357562"/>
            <a:ext cx="5446184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Binary Search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21966" y="5086350"/>
            <a:ext cx="5446184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Binary search requires a sorted list, dividing the search space in half repeatedly, which drastically reduces the number of checks needed to find the target value, making it more efficient than linear search.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72950" y="3357562"/>
            <a:ext cx="54483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Efficiency Comparison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72950" y="5086350"/>
            <a:ext cx="5448300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Comparing the two searches, linear search has a time complexity of O(n), while binary search operates at O(log n), highlighting the significant efficiency gained through the divide-and-conquer strategy of binary search.</a:t>
            </a:r>
          </a:p>
        </p:txBody>
      </p:sp>
      <p:sp>
        <p:nvSpPr>
          <p:cNvPr id="8" name="AutoShape 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w="19050" cap="flat">
            <a:solidFill>
              <a:srgbClr val="2A3A6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669118" y="4248150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21966" y="4248150"/>
            <a:ext cx="323850" cy="32385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172950" y="4248150"/>
            <a:ext cx="323850" cy="323850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Algorithm Tracing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Bubble Sort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Introducing Sorting Algorithms and Their Importance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908300"/>
            <a:ext cx="5448300" cy="6711950"/>
            <a:chOff x="0" y="0"/>
            <a:chExt cx="1434943" cy="1767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2908300"/>
            <a:ext cx="5448300" cy="6711950"/>
            <a:chOff x="0" y="0"/>
            <a:chExt cx="1434943" cy="1767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2908300"/>
            <a:ext cx="5448300" cy="6711950"/>
            <a:chOff x="0" y="0"/>
            <a:chExt cx="1434943" cy="1767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053" y="4248150"/>
            <a:ext cx="4649694" cy="3581400"/>
            <a:chOff x="0" y="0"/>
            <a:chExt cx="1259398" cy="9700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r="-34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19153" y="4248150"/>
            <a:ext cx="4649694" cy="3581400"/>
            <a:chOff x="0" y="0"/>
            <a:chExt cx="1259398" cy="9700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r="-34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572253" y="4248150"/>
            <a:ext cx="4649694" cy="3581400"/>
            <a:chOff x="0" y="0"/>
            <a:chExt cx="1259398" cy="9700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r="-34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1783" y="8273471"/>
            <a:ext cx="4738234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Compare adjacent elements to determine if they need swapping for sorting.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Compare Elements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73192" y="8273471"/>
            <a:ext cx="4741615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Elements are swapped if they are in the wrong order, ensuring sorting progress.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Swap if Needed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1109" y="8272319"/>
            <a:ext cx="4691983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sorting process continues with repeated passes until the entire list is sorted.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</a:pPr>
            <a:r>
              <a:rPr lang="en-US" sz="3800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Repeat Passes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spc="-20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Bubble Sort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3352800"/>
            <a:ext cx="11201400" cy="6267450"/>
            <a:chOff x="0" y="0"/>
            <a:chExt cx="1471052" cy="8230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1052" cy="823089"/>
            </a:xfrm>
            <a:custGeom>
              <a:avLst/>
              <a:gdLst/>
              <a:ahLst/>
              <a:cxnLst/>
              <a:rect l="l" t="t" r="r" b="b"/>
              <a:pathLst>
                <a:path w="1471052" h="823089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r="-52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172950" y="3352800"/>
            <a:ext cx="5448300" cy="6267450"/>
            <a:chOff x="0" y="0"/>
            <a:chExt cx="715512" cy="8230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5512" cy="823089"/>
            </a:xfrm>
            <a:custGeom>
              <a:avLst/>
              <a:gdLst/>
              <a:ahLst/>
              <a:cxnLst/>
              <a:rect l="l" t="t" r="r" b="b"/>
              <a:pathLst>
                <a:path w="715512" h="823089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t="-103" b="-10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Tracing Bubble Sort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9BCEB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09625"/>
            <a:ext cx="5448300" cy="308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Takeaways and Insights</a:t>
            </a:r>
          </a:p>
        </p:txBody>
      </p:sp>
      <p:sp>
        <p:nvSpPr>
          <p:cNvPr id="6" name="Freeform 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734675" y="6944836"/>
            <a:ext cx="6886575" cy="1837373"/>
            <a:chOff x="0" y="0"/>
            <a:chExt cx="9182100" cy="244983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Tracing Importance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295189"/>
              <a:ext cx="9182100" cy="1154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algorithms requires </a:t>
              </a: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step-by-step tracing practice.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425005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0" y="1553369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96400" y="693610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34675" y="4248150"/>
            <a:ext cx="6886575" cy="1808798"/>
            <a:chOff x="0" y="0"/>
            <a:chExt cx="9182100" cy="241173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Sorting Concepts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95189"/>
              <a:ext cx="9182100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Bubble sort</a:t>
              </a: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an essential foundational sorting algorithm.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34675" y="1562100"/>
            <a:ext cx="6886575" cy="1808798"/>
            <a:chOff x="0" y="0"/>
            <a:chExt cx="9182100" cy="241173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Search Algorithms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95189"/>
              <a:ext cx="9182100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Linear and binary searches</a:t>
              </a: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each have distinct strengths.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C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A3A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9001760"/>
            <a:ext cx="8324850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spc="-57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Practice tracing algorithms today!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03759" y="942975"/>
            <a:ext cx="8317491" cy="3894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Continue Learning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on Photosynthesis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AI-Generated Teaching Slides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As an expert teacher and PowerPoint creator, I've designed a comprehensive lesso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---</a:t>
            </a:r>
          </a:p>
          <a:p/>
          <a:p>
            <a:r>
              <a:rPr sz="2000"/>
              <a:t>## Photosynthesis: How Plants Make Their Food!</a:t>
            </a:r>
          </a:p>
          <a:p/>
          <a:p>
            <a:r>
              <a:rPr sz="2000"/>
              <a:t>### 1. Lesson Objectives</a:t>
            </a:r>
          </a:p>
          <a:p/>
          <a:p>
            <a:r>
              <a:rPr sz="2000"/>
              <a:t>By the end of this lesson, students should be able to:</a:t>
            </a:r>
          </a:p>
          <a:p/>
          <a:p>
            <a:r>
              <a:rPr sz="2000"/>
              <a:t>*   **Define** photosynthesis in their own words.</a:t>
            </a:r>
          </a:p>
          <a:p>
            <a:r>
              <a:rPr sz="2000"/>
              <a:t>*   **Identify** the essential reactants (inputs) and products (outputs) of photosynthesis.</a:t>
            </a:r>
          </a:p>
          <a:p>
            <a:r>
              <a:rPr sz="2000"/>
              <a:t>*   **State** the word equation for photosynthesis.</a:t>
            </a:r>
          </a:p>
          <a:p>
            <a:r>
              <a:rPr sz="2000"/>
              <a:t>*   **Explain** the role of chlorophyll and chloroplasts in the process.</a:t>
            </a:r>
          </a:p>
          <a:p>
            <a:r>
              <a:rPr sz="2000"/>
              <a:t>*   **List and describe** the key environmental factors that affect the rate of photosynthesis.</a:t>
            </a:r>
          </a:p>
          <a:p>
            <a:r>
              <a:rPr sz="2000"/>
              <a:t>*   **Articulate** the significance of photosynthesis for life on Earth, including its role in food chains and oxygen production.</a:t>
            </a:r>
          </a:p>
          <a:p/>
          <a:p>
            <a:r>
              <a:rPr sz="2000"/>
              <a:t>### 2. Introduction / Starter Activity</a:t>
            </a:r>
          </a:p>
          <a:p/>
          <a:p>
            <a:r>
              <a:rPr sz="2000"/>
              <a:t>**Activity Title: "Plant's Essential Wishlist"**</a:t>
            </a:r>
          </a:p>
          <a:p/>
          <a:p>
            <a:r>
              <a:rPr sz="2000"/>
              <a:t>**Time:** 5-7 minutes</a:t>
            </a:r>
          </a:p>
          <a:p/>
          <a:p>
            <a:r>
              <a:rPr sz="2000"/>
              <a:t>**Materials:** Whiteboard/Projector, markers/pens, small slips of paper or mini whiteboards.</a:t>
            </a:r>
          </a:p>
          <a:p/>
          <a:p>
            <a:r>
              <a:rPr sz="2000"/>
              <a:t>**Instructions:**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**Display:** Show an image of a thriving, healthy plant on the screen.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**Prompt:** "Imagine you are a plant. What three things do you absolutely *need*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**Think-Pair-Share:**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**Think (2 minutes):** Students individually brainstorm and jot down their three essential needs.</a:t>
            </a:r>
          </a:p>
          <a:p>
            <a:r>
              <a:rPr sz="2000"/>
              <a:t>    *   **Pair (2 minutes):** Students turn to a partner and share their lists, discussing any similarities or differences.</a:t>
            </a:r>
          </a:p>
          <a:p>
            <a:r>
              <a:rPr sz="2000"/>
              <a:t>    *   **Share (1-2 minutes):** Invite a few pairs to share their ideas with the whole class.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**Teacher Link:** As students share, gently guide the discussion towards sunligh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### 3. Key Teaching Points</a:t>
            </a:r>
          </a:p>
          <a:p/>
          <a:p>
            <a:r>
              <a:rPr sz="2000"/>
              <a:t>**A. What is Photosynthesis?**</a:t>
            </a:r>
          </a:p>
          <a:p>
            <a:r>
              <a:rPr sz="2000"/>
              <a:t>*   **Definition:** The process by which green plants and some other organisms use sunlight to synthesize foods from carbon dioxide and water.</a:t>
            </a:r>
          </a:p>
          <a:p>
            <a:r>
              <a:rPr sz="2000"/>
              <a:t>*   **Etymology:** "Photo" (light) + "Synthesis" (to make) = Making with Light.</a:t>
            </a:r>
          </a:p>
          <a:p>
            <a:r>
              <a:rPr sz="2000"/>
              <a:t>*   **Autotrophs:** Plants are 'self-feeders' (autotrophs) – they produce their own food.</a:t>
            </a:r>
          </a:p>
          <a:p/>
          <a:p>
            <a:r>
              <a:rPr sz="2000"/>
              <a:t>**B. Where Does it Happen? (The Plant's Kitchen)**</a:t>
            </a:r>
          </a:p>
          <a:p>
            <a:r>
              <a:rPr sz="2000"/>
              <a:t>*   **Location:** Primarily in the leaves of plants.</a:t>
            </a:r>
          </a:p>
          <a:p>
            <a:r>
              <a:rPr sz="2000"/>
              <a:t>*   **Cellular Organelle:** Inside specialized structures within plant cells called **chloroplasts**.</a:t>
            </a:r>
          </a:p>
          <a:p>
            <a:r>
              <a:rPr sz="2000"/>
              <a:t>*   **Chlorophyll:** Chloroplasts contain a green pigment called **chlorophyll**.</a:t>
            </a:r>
          </a:p>
          <a:p>
            <a:r>
              <a:rPr sz="2000"/>
              <a:t>    *   **Role:** Chlorophyll's job is to absorb light energy, especially red and blue light (it reflects green light, which is why plants look green).</a:t>
            </a:r>
          </a:p>
          <a:p/>
          <a:p>
            <a:r>
              <a:rPr sz="2000"/>
              <a:t>**C. The Ingredients (Reactants)**</a:t>
            </a:r>
          </a:p>
          <a:p>
            <a:r>
              <a:rPr sz="2000"/>
              <a:t>*   **Carbon Dioxide (CO₂):**</a:t>
            </a:r>
          </a:p>
          <a:p>
            <a:r>
              <a:rPr sz="2000"/>
              <a:t>    *   **Source:** Absorbed from the atmosphere.</a:t>
            </a:r>
          </a:p>
          <a:p>
            <a:r>
              <a:rPr sz="2000"/>
              <a:t>    *   **Entry:** Enters the leaf through tiny pores on the underside called **stomata** (singular: stoma).</a:t>
            </a:r>
          </a:p>
          <a:p>
            <a:r>
              <a:rPr sz="2000"/>
              <a:t>*   **Water (H₂O):**</a:t>
            </a:r>
          </a:p>
          <a:p>
            <a:r>
              <a:rPr sz="2000"/>
              <a:t>    *   **Source:** Absorbed from the soil by the plant's roots.</a:t>
            </a:r>
          </a:p>
          <a:p>
            <a:r>
              <a:rPr sz="2000"/>
              <a:t>    *   **Transport:** Travels up the stem to the leaves through specialized tubes called xylem.</a:t>
            </a:r>
          </a:p>
          <a:p>
            <a:r>
              <a:rPr sz="2000"/>
              <a:t>*   **Light Energy:**</a:t>
            </a:r>
          </a:p>
          <a:p>
            <a:r>
              <a:rPr sz="2000"/>
              <a:t>    *   **Source:** The sun (or artificial light).</a:t>
            </a:r>
          </a:p>
          <a:p>
            <a:r>
              <a:rPr sz="2000"/>
              <a:t>    *   **Role:** Provides the energy needed to power the chemical reaction.</a:t>
            </a:r>
          </a:p>
          <a:p/>
          <a:p>
            <a:r>
              <a:rPr sz="2000"/>
              <a:t>**D. The Products (The Plant's Food and By-product)**</a:t>
            </a:r>
          </a:p>
          <a:p>
            <a:r>
              <a:rPr sz="2000"/>
              <a:t>*   **Glucose (C₆H₁₂O₆):**</a:t>
            </a:r>
          </a:p>
          <a:p>
            <a:r>
              <a:rPr sz="2000"/>
              <a:t>    *   **Role:** A sugar, the plant's primary food source.</a:t>
            </a:r>
          </a:p>
          <a:p>
            <a:r>
              <a:rPr sz="2000"/>
              <a:t>    *   **Uses:**</a:t>
            </a:r>
          </a:p>
          <a:p>
            <a:r>
              <a:rPr sz="2000"/>
              <a:t>        *   Used immediately for energy through respiration.</a:t>
            </a:r>
          </a:p>
          <a:p>
            <a:r>
              <a:rPr sz="2000"/>
              <a:t>        *   Converted into other substances like cellulose for growth and repair.</a:t>
            </a:r>
          </a:p>
          <a:p>
            <a:r>
              <a:rPr sz="2000"/>
              <a:t>        *   Stored as starch (a complex carbohydrate) for later use.</a:t>
            </a:r>
          </a:p>
          <a:p>
            <a:r>
              <a:rPr sz="2000"/>
              <a:t>*   **Oxygen (O₂):**</a:t>
            </a:r>
          </a:p>
          <a:p>
            <a:r>
              <a:rPr sz="2000"/>
              <a:t>    *   **Role:** A waste product for the plant.</a:t>
            </a:r>
          </a:p>
          <a:p>
            <a:r>
              <a:rPr sz="2000"/>
              <a:t>    *   **Release:** Diffuses out of the leaf through the stomata into the atmosphere.</a:t>
            </a:r>
          </a:p>
          <a:p>
            <a:r>
              <a:rPr sz="2000"/>
              <a:t>    *   **Significance:** Essential for the respiration of most living organisms (including humans).</a:t>
            </a:r>
          </a:p>
          <a:p/>
          <a:p>
            <a:r>
              <a:rPr sz="2000"/>
              <a:t>**E. The Word Equation**</a:t>
            </a:r>
          </a:p>
          <a:p>
            <a:r>
              <a:rPr sz="2000"/>
              <a:t>*   Carbon Dioxide + Water $\xrightarrow{\text{Light Energy (Chlorophyll)}}$ Glucose + Oxygen</a:t>
            </a:r>
          </a:p>
          <a:p>
            <a:r>
              <a:rPr sz="2000"/>
              <a:t>*   Emphasize that 'Light Energy' and 'Chlorophyll' are *conditions* necessary for the reaction, not reactants themselves, hence why they are written above the arrow.</a:t>
            </a:r>
          </a:p>
          <a:p/>
          <a:p>
            <a:r>
              <a:rPr sz="2000"/>
              <a:t>**F. The Balanced Chemical Equation (Optional, depending on student level)**</a:t>
            </a:r>
          </a:p>
          <a:p>
            <a:r>
              <a:rPr sz="2000"/>
              <a:t>*   6CO₂ + 6H₂O $\xrightarrow{\text{Light Energy (Chlorophyll)}}$ C₆H₁₂O₆ + 6O₂</a:t>
            </a:r>
          </a:p>
          <a:p>
            <a:r>
              <a:rPr sz="2000"/>
              <a:t>*   Briefly explain that the numbers in front (coefficients) ensure the same number of atoms of each element are present on both sides (conservation of mass).</a:t>
            </a:r>
          </a:p>
          <a:p/>
          <a:p>
            <a:r>
              <a:rPr sz="2000"/>
              <a:t>**G. Factors Affecting the Rate of Photosynthesis (Limiting Factors Concept)**</a:t>
            </a:r>
          </a:p>
          <a:p>
            <a:r>
              <a:rPr sz="2000"/>
              <a:t>*   The rate at which a plant photosynthesise can be affected by the availability of its reactants and conditions.</a:t>
            </a:r>
          </a:p>
          <a:p>
            <a:r>
              <a:rPr sz="2000"/>
              <a:t>*   **Light Intensity:**</a:t>
            </a:r>
          </a:p>
          <a:p>
            <a:r>
              <a:rPr sz="2000"/>
              <a:t>    *   **Effect:** As light intensity increases, the rate of photosynthesis increases (up to a point).</a:t>
            </a:r>
          </a:p>
          <a:p>
            <a:r>
              <a:rPr sz="2000"/>
              <a:t>    *   **Limiting Factor:** If light is scarce, it becomes the limiting factor.</a:t>
            </a:r>
          </a:p>
          <a:p>
            <a:r>
              <a:rPr sz="2000"/>
              <a:t>*   **Carbon Dioxide Concentration:**</a:t>
            </a:r>
          </a:p>
          <a:p>
            <a:r>
              <a:rPr sz="2000"/>
              <a:t>    *   **Effect:** As CO₂ concentration increases, the rate of photosynthesis increases (up to a point).</a:t>
            </a:r>
          </a:p>
          <a:p>
            <a:r>
              <a:rPr sz="2000"/>
              <a:t>    *   **Limiting Factor:** If CO₂ is scarce, it becomes the limiting factor.</a:t>
            </a:r>
          </a:p>
          <a:p>
            <a:r>
              <a:rPr sz="2000"/>
              <a:t>*   **Temperature:**</a:t>
            </a:r>
          </a:p>
          <a:p>
            <a:r>
              <a:rPr sz="2000"/>
              <a:t>    *   **Effect:** Photosynthesis is controlled by enzymes. There's an optimum temperature; too cold (slows enzyme activity) or too hot (denatures enzymes) will decrease the rate.</a:t>
            </a:r>
          </a:p>
          <a:p>
            <a:r>
              <a:rPr sz="2000"/>
              <a:t>    *   **Limiting Factor:** Extreme temperatures.</a:t>
            </a:r>
          </a:p>
          <a:p>
            <a:r>
              <a:rPr sz="2000"/>
              <a:t>*   **Water Availability:**</a:t>
            </a:r>
          </a:p>
          <a:p>
            <a:r>
              <a:rPr sz="2000"/>
              <a:t>    *   **Effect:** While usually not a primary limiting factor unless severely scarce, a lack of water can cause stomata to close, reducing CO₂ intake and thus photosynthesis.</a:t>
            </a:r>
          </a:p>
          <a:p/>
          <a:p>
            <a:r>
              <a:rPr sz="2000"/>
              <a:t>**H. Importance of Photosynthesis for Life on Earth**</a:t>
            </a:r>
          </a:p>
          <a:p>
            <a:r>
              <a:rPr sz="2000"/>
              <a:t>*   **Food Source:** It forms the base of almost all food chains, providing food directly for herbivores and indirectly for carnivores and omnivores.</a:t>
            </a:r>
          </a:p>
          <a:p>
            <a:r>
              <a:rPr sz="2000"/>
              <a:t>*   **Oxygen Production:** It continuously replenishes the oxygen in the atmosphere, which is vital for aerobic respiration in most living organisms.</a:t>
            </a:r>
          </a:p>
          <a:p>
            <a:r>
              <a:rPr sz="2000"/>
              <a:t>*   **Carbon Cycle:** It removes carbon dioxide from the atmosphere, helping to regulate Earth's climate.</a:t>
            </a:r>
          </a:p>
          <a:p/>
          <a:p>
            <a:r>
              <a:rPr sz="2000"/>
              <a:t>### 4. Guided Practice or Activities</a:t>
            </a:r>
          </a:p>
          <a:p/>
          <a:p>
            <a:r>
              <a:rPr sz="2000"/>
              <a:t>**Activity 1: "Equation Builder Challenge"**</a:t>
            </a:r>
          </a:p>
          <a:p/>
          <a:p>
            <a:r>
              <a:rPr sz="2000"/>
              <a:t>**Time:** 10 minutes</a:t>
            </a:r>
          </a:p>
          <a:p>
            <a:r>
              <a:rPr sz="2000"/>
              <a:t>**Materials:** Printed cards with "Carbon Dioxide", "Water", "Glucose", "Oxygen", "Light Energy", "Chlorophyll", and an arrow symbol (→). One set per pair/small group.</a:t>
            </a:r>
          </a:p>
          <a:p>
            <a:r>
              <a:rPr sz="2000"/>
              <a:t>**Instructions:**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Divide students into pairs or small groups.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Give each group a shuffled set of cards.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Challenge them to arrange the cards correctly to form the word equation for phot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Circulate and provide support. Once groups are confident, ask them to explain 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*Extension:* Challenge advanced groups to represent it pictorially using simple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**Activity 2: "Leaf's Day Job" Diagram Labeling**</a:t>
            </a:r>
          </a:p>
          <a:p/>
          <a:p>
            <a:r>
              <a:rPr sz="2000"/>
              <a:t>**Time:** 8-10 minutes</a:t>
            </a:r>
          </a:p>
          <a:p>
            <a:r>
              <a:rPr sz="2000"/>
              <a:t>**Materials:** Worksheet with a simple diagram of a plant leaf and a cross-section of a leaf showing stomata, veins, and ideally, chloroplasts within cells.</a:t>
            </a:r>
          </a:p>
          <a:p>
            <a:r>
              <a:rPr sz="2000"/>
              <a:t>**Instructions:**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Students label the diagram, identifying where carbon dioxide enters, water arriv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Provide a word bank if needed (e.g., Stomata, Xylem, Chloroplast, Sunlight, Carb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**Discussion:** After labeling, ask students to explain *how* each part contribu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**Activity 3: "Photosynthesis Rate Predictor" (Graph Interpretation)**</a:t>
            </a:r>
          </a:p>
          <a:p/>
          <a:p>
            <a:r>
              <a:rPr sz="2000"/>
              <a:t>**Time:** 10-12 minutes</a:t>
            </a:r>
          </a:p>
          <a:p>
            <a:r>
              <a:rPr sz="2000"/>
              <a:t>**Materials:** Worksheet with 2-3 simple graphs showing the effect of light intensity, CO₂ concentration, and/or temperature on the rate of photosynthesis. Each graph should have clearly labeled axes.</a:t>
            </a:r>
          </a:p>
          <a:p>
            <a:r>
              <a:rPr sz="2000"/>
              <a:t>**Instructions:**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Students analyze each graph individually or in pairs.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For each graph, they answer questions such as: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"What happens to the rate of photosynthesis as [factor] increases?"</a:t>
            </a:r>
          </a:p>
          <a:p>
            <a:r>
              <a:rPr sz="2000"/>
              <a:t>    *   "At what point does [factor] no longer increase the rate significantly?"</a:t>
            </a:r>
          </a:p>
          <a:p>
            <a:r>
              <a:rPr sz="2000"/>
              <a:t>    *   "What do you think is limiting the rate at that point?"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**Class Discussion:** Review answers as a class, discussing the concept of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### 5. Assessment Ideas</a:t>
            </a:r>
          </a:p>
          <a:p/>
          <a:p>
            <a:r>
              <a:rPr sz="2000"/>
              <a:t>*   **Exit Ticket (5 minutes):**</a:t>
            </a:r>
          </a:p>
          <a:p>
            <a:r>
              <a:rPr sz="2000"/>
              <a:t>    *   On a small slip of paper, students answer:</a:t>
            </a:r>
          </a:p>
          <a:p>
            <a:r>
              <a:rPr sz="2000"/>
              <a:t>        1.  List two things a plant takes in for photosynthesis.</a:t>
            </a:r>
          </a:p>
          <a:p>
            <a:r>
              <a:rPr sz="2000"/>
              <a:t>        2.  Name one product of photosynthesis.</a:t>
            </a:r>
          </a:p>
          <a:p>
            <a:r>
              <a:rPr sz="2000"/>
              <a:t>        3.  Why is photosynthesis important for animals?</a:t>
            </a:r>
          </a:p>
          <a:p>
            <a:r>
              <a:rPr sz="2000"/>
              <a:t>    *   Collect at the door to quickly gauge understanding of key concepts.</a:t>
            </a:r>
          </a:p>
          <a:p/>
          <a:p>
            <a:r>
              <a:rPr sz="2000"/>
              <a:t>*   **"Explain to a Friend" Task (Homework/Short in-class task):**</a:t>
            </a:r>
          </a:p>
          <a:p>
            <a:r>
              <a:rPr sz="2000"/>
              <a:t>    *   "Imagine you need to explain photosynthesis to a friend who missed today's lesson. Write a short paragraph or draw a simple annotated diagram explaining the process, its ingredients, and its importance."</a:t>
            </a:r>
          </a:p>
          <a:p>
            <a:r>
              <a:rPr sz="2000"/>
              <a:t>    *   This assesses their ability to synthesize information and communicate it clearly.</a:t>
            </a:r>
          </a:p>
          <a:p/>
          <a:p>
            <a:r>
              <a:rPr sz="2000"/>
              <a:t>*   **Quick Quiz (10 minutes):**</a:t>
            </a:r>
          </a:p>
          <a:p>
            <a:r>
              <a:rPr sz="2000"/>
              <a:t>    *   A short multiple-choice or fill-in-the-blank quiz covering:</a:t>
            </a:r>
          </a:p>
          <a:p>
            <a:r>
              <a:rPr sz="2000"/>
              <a:t>        *   Definition of photosynthesis.</a:t>
            </a:r>
          </a:p>
          <a:p>
            <a:r>
              <a:rPr sz="2000"/>
              <a:t>        *   Reactants and products.</a:t>
            </a:r>
          </a:p>
          <a:p>
            <a:r>
              <a:rPr sz="2000"/>
              <a:t>        *   Location (chloroplasts, chlorophyll).</a:t>
            </a:r>
          </a:p>
          <a:p>
            <a:r>
              <a:rPr sz="2000"/>
              <a:t>        *   Role of stomata.</a:t>
            </a:r>
          </a:p>
          <a:p>
            <a:r>
              <a:rPr sz="2000"/>
              <a:t>        *   Basic understanding of limiting factors.</a:t>
            </a:r>
          </a:p>
          <a:p/>
          <a:p>
            <a:r>
              <a:rPr sz="2000"/>
              <a:t>*   **Concept Map Creation (Project/Extended Activity):**</a:t>
            </a:r>
          </a:p>
          <a:p>
            <a:r>
              <a:rPr sz="2000"/>
              <a:t>    *   Students create a concept map connecting key terms: Photosynthesis, Sunlight, Water, Carbon Dioxide, Glucose, Oxygen, Chlorophyll, Chloroplast, Stomata, Roots, Food Chain, Respiration, Starch, Cellulose.</a:t>
            </a:r>
          </a:p>
          <a:p/>
          <a:p>
            <a:r>
              <a:rPr sz="2000"/>
              <a:t>### 6. Summary / Conclusion</a:t>
            </a:r>
          </a:p>
          <a:p/>
          <a:p>
            <a:r>
              <a:rPr sz="2000"/>
              <a:t>**Activity Title: "The Big Picture Recap"**</a:t>
            </a:r>
          </a:p>
          <a:p/>
          <a:p>
            <a:r>
              <a:rPr sz="2000"/>
              <a:t>**Time:** 5 minutes</a:t>
            </a:r>
          </a:p>
          <a:p/>
          <a:p>
            <a:r>
              <a:rPr sz="2000"/>
              <a:t>**Instructions:**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**Review Objectives:** Revisit the lesson objectives displayed at the beginning.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**Quick Fire Questions:**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"What's the main energy source for photosynthesis?" (Sunlight)</a:t>
            </a:r>
          </a:p>
          <a:p>
            <a:r>
              <a:rPr sz="2000"/>
              <a:t>    *   "Which gas do plants take in from the air?" (Carbon Dioxide)</a:t>
            </a:r>
          </a:p>
          <a:p>
            <a:r>
              <a:rPr sz="2000"/>
              <a:t>    *   "Which gas do plants release that we breathe?" (Oxygen)</a:t>
            </a:r>
          </a:p>
          <a:p>
            <a:r>
              <a:rPr sz="2000"/>
              <a:t>    *   "What food do plants make for themselves?" (Glucose)</a:t>
            </a:r>
          </a:p>
          <a:p>
            <a:r>
              <a:rPr sz="2000"/>
              <a:t>    *   "Where does the magic happen inside the plant cell?" (Chloroplasts)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**The Grand Finale:** "Remember, photosynthesis isn't just about plants making 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**Preview/Link:** Briefly mention that in the next lesson, we might explore how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### 7. PowerPoint Slide Outline</a:t>
            </a:r>
          </a:p>
          <a:p/>
          <a:p>
            <a:r>
              <a:rPr sz="2000"/>
              <a:t>**Slide 1: Title Slide**</a:t>
            </a:r>
          </a:p>
          <a:p>
            <a:r>
              <a:rPr sz="2000"/>
              <a:t>*   **Title:** Photosynthesis: How Plants Make Their Food!</a:t>
            </a:r>
          </a:p>
          <a:p>
            <a:r>
              <a:rPr sz="2000"/>
              <a:t>*   **Subtitle:** The Basis of Life on Earth</a:t>
            </a:r>
          </a:p>
          <a:p>
            <a:r>
              <a:rPr sz="2000"/>
              <a:t>*   **Image:** Lush green plants bathed in sunlight, perhaps a stylized sun.</a:t>
            </a:r>
          </a:p>
          <a:p/>
          <a:p>
            <a:r>
              <a:rPr sz="2000"/>
              <a:t>**Slide 2: Lesson Objectives**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Define photosynthesis.</a:t>
            </a:r>
          </a:p>
          <a:p>
            <a:r>
              <a:rPr sz="2000"/>
              <a:t>    *   State the word equation for photosynthesis.</a:t>
            </a:r>
          </a:p>
          <a:p>
            <a:r>
              <a:rPr sz="2000"/>
              <a:t>    *   Identify the reactants and products.</a:t>
            </a:r>
          </a:p>
          <a:p>
            <a:r>
              <a:rPr sz="2000"/>
              <a:t>    *   Explain the role of chlorophyll and chloroplasts.</a:t>
            </a:r>
          </a:p>
          <a:p>
            <a:r>
              <a:rPr sz="2000"/>
              <a:t>    *   List key factors affecting the rate of photosynthesis.</a:t>
            </a:r>
          </a:p>
          <a:p>
            <a:r>
              <a:rPr sz="2000"/>
              <a:t>    *   Explain the importance of photosynthesis for life.</a:t>
            </a:r>
          </a:p>
          <a:p>
            <a:r>
              <a:rPr sz="2000"/>
              <a:t>*   **Image:** A small icon representing learning or a checklist.</a:t>
            </a:r>
          </a:p>
          <a:p/>
          <a:p>
            <a:r>
              <a:rPr sz="2000"/>
              <a:t>**Slide 3: Starter Activity: Plant's Essential Wishlist**</a:t>
            </a:r>
          </a:p>
          <a:p>
            <a:r>
              <a:rPr sz="2000"/>
              <a:t>*   **Question:** "What three things do you absolutely *need* to survive and grow big and strong?"</a:t>
            </a:r>
          </a:p>
          <a:p>
            <a:r>
              <a:rPr sz="2000"/>
              <a:t>*   **Instructions:** Think-Pair-Share, jot down ideas.</a:t>
            </a:r>
          </a:p>
          <a:p>
            <a:r>
              <a:rPr sz="2000"/>
              <a:t>*   **Image:** A vibrant, healthy potted plant.</a:t>
            </a:r>
          </a:p>
          <a:p/>
          <a:p>
            <a:r>
              <a:rPr sz="2000"/>
              <a:t>**Slide 4: Introduction to Photosynthesis**</a:t>
            </a:r>
          </a:p>
          <a:p>
            <a:r>
              <a:rPr sz="2000"/>
              <a:t>*   **Definition:** "Photo" (light) + "Synthesis" (to make) = "Making with Light"</a:t>
            </a:r>
          </a:p>
          <a:p>
            <a:r>
              <a:rPr sz="2000"/>
              <a:t>*   **Key Idea:** It's how green plants (and some other organisms) make their own food (glucose) using sunlight.</a:t>
            </a:r>
          </a:p>
          <a:p>
            <a:r>
              <a:rPr sz="2000"/>
              <a:t>*   **Impact:** Crucial for ALL life on Earth!</a:t>
            </a:r>
          </a:p>
          <a:p>
            <a:r>
              <a:rPr sz="2000"/>
              <a:t>*   **Image:** Diagram showing sunlight hitting a plant.</a:t>
            </a:r>
          </a:p>
          <a:p/>
          <a:p>
            <a:r>
              <a:rPr sz="2000"/>
              <a:t>**Slide 5: Where Does It Happen? (The Plant's Kitchen)**</a:t>
            </a:r>
          </a:p>
          <a:p>
            <a:r>
              <a:rPr sz="2000"/>
              <a:t>*   **Location:** Mainly in the leaves.</a:t>
            </a:r>
          </a:p>
          <a:p>
            <a:r>
              <a:rPr sz="2000"/>
              <a:t>*   **Inside Cells:** In specialized organelles called **chloroplasts**.</a:t>
            </a:r>
          </a:p>
          <a:p>
            <a:r>
              <a:rPr sz="2000"/>
              <a:t>*   **The Green Stuff:** Chloroplasts contain **chlorophyll**, the green pigment that captures light energy.</a:t>
            </a:r>
          </a:p>
          <a:p>
            <a:r>
              <a:rPr sz="2000"/>
              <a:t>*   **Image:** A plant cell diagram with a magnified chloroplast, showing chlorophyll.</a:t>
            </a:r>
          </a:p>
          <a:p/>
          <a:p>
            <a:r>
              <a:rPr sz="2000"/>
              <a:t>**Slide 6: The Ingredients (Reactants)**</a:t>
            </a:r>
          </a:p>
          <a:p>
            <a:r>
              <a:rPr sz="2000"/>
              <a:t>*   **Carbon Dioxide (CO₂):** From the air, enters via **stomata**.</a:t>
            </a:r>
          </a:p>
          <a:p>
            <a:r>
              <a:rPr sz="2000"/>
              <a:t>*   **Water (H₂O):** From the soil, absorbed by roots.</a:t>
            </a:r>
          </a:p>
          <a:p>
            <a:r>
              <a:rPr sz="2000"/>
              <a:t>*   **Light Energy:** From the sun, captured by chlorophyll.</a:t>
            </a:r>
          </a:p>
          <a:p>
            <a:r>
              <a:rPr sz="2000"/>
              <a:t>*   **Image:** Three arrows pointing towards a leaf: one from the sun (light), one from the air (CO₂), one from the roots (water).</a:t>
            </a:r>
          </a:p>
          <a:p/>
          <a:p>
            <a:r>
              <a:rPr sz="2000"/>
              <a:t>**Slide 7: The Photosynthesis Process (Simplified Flow)**</a:t>
            </a:r>
          </a:p>
          <a:p>
            <a:r>
              <a:rPr sz="2000"/>
              <a:t>*   Light energy captured by chlorophyll powers the conversion of ingredients.</a:t>
            </a:r>
          </a:p>
          <a:p>
            <a:r>
              <a:rPr sz="2000"/>
              <a:t>*   It's like a plant cooking its food!</a:t>
            </a:r>
          </a:p>
          <a:p>
            <a:r>
              <a:rPr sz="2000"/>
              <a:t>*   **Image:** A simple flow diagram: CO₂ + H₂O + Light Energy → Glucose + O₂ (inside a leaf icon).</a:t>
            </a:r>
          </a:p>
          <a:p/>
          <a:p>
            <a:r>
              <a:rPr sz="2000"/>
              <a:t>**Slide 8: The Products (Food &amp; By-product)**</a:t>
            </a:r>
          </a:p>
          <a:p>
            <a:r>
              <a:rPr sz="2000"/>
              <a:t>*   **Glucose (C₆H₁₂O₆):**</a:t>
            </a:r>
          </a:p>
          <a:p>
            <a:r>
              <a:rPr sz="2000"/>
              <a:t>    *   Plant's food for energy, growth, and storage (as starch).</a:t>
            </a:r>
          </a:p>
          <a:p>
            <a:r>
              <a:rPr sz="2000"/>
              <a:t>*   **Oxygen (O₂):**</a:t>
            </a:r>
          </a:p>
          <a:p>
            <a:r>
              <a:rPr sz="2000"/>
              <a:t>    *   Released into the atmosphere.</a:t>
            </a:r>
          </a:p>
          <a:p>
            <a:r>
              <a:rPr sz="2000"/>
              <a:t>    *   Essential for animal respiration.</a:t>
            </a:r>
          </a:p>
          <a:p>
            <a:r>
              <a:rPr sz="2000"/>
              <a:t>*   **Image:** Glucose molecule representation, oxygen bubbles rising from a leaf in water.</a:t>
            </a:r>
          </a:p>
          <a:p/>
          <a:p>
            <a:r>
              <a:rPr sz="2000"/>
              <a:t>**Slide 9: The Word Equation**</a:t>
            </a:r>
          </a:p>
          <a:p>
            <a:r>
              <a:rPr sz="2000"/>
              <a:t>*   **Equation:** Carbon Dioxide + Water $\xrightarrow{\text{Light Energy (Chlorophyll)}}$ Glucose + Oxygen</a:t>
            </a:r>
          </a:p>
          <a:p>
            <a:r>
              <a:rPr sz="2000"/>
              <a:t>*   **Emphasis:** Highlight 'Light Energy' and 'Chlorophyll' as conditions above the arrow.</a:t>
            </a:r>
          </a:p>
          <a:p>
            <a:r>
              <a:rPr sz="2000"/>
              <a:t>*   **Image:** Visually appealing word equation, perhaps with small icons for each component.</a:t>
            </a:r>
          </a:p>
          <a:p/>
          <a:p>
            <a:r>
              <a:rPr sz="2000"/>
              <a:t>**Slide 10: The Chemical Equation (Optional/Advanced)**</a:t>
            </a:r>
          </a:p>
          <a:p>
            <a:r>
              <a:rPr sz="2000"/>
              <a:t>*   **Equation:** 6CO₂ + 6H₂O $\xrightarrow{\text{Light Energy (Chlorophyll)}}$ C₆H₁₂O₆ + 6O₂</a:t>
            </a:r>
          </a:p>
          <a:p>
            <a:r>
              <a:rPr sz="2000"/>
              <a:t>*   **Note:** Explaining the balancing briefly.</a:t>
            </a:r>
          </a:p>
          <a:p>
            <a:r>
              <a:rPr sz="2000"/>
              <a:t>*   **Image:** Chemical formulas clearly displayed.</a:t>
            </a:r>
          </a:p>
          <a:p/>
          <a:p>
            <a:r>
              <a:rPr sz="2000"/>
              <a:t>**Slide 11: Guided Practice: Equation Builder Challenge!**</a:t>
            </a:r>
          </a:p>
          <a:p>
            <a:r>
              <a:rPr sz="2000"/>
              <a:t>*   **Instructions:** Arrange the provided cards to form the correct word equation.</a:t>
            </a:r>
          </a:p>
          <a:p>
            <a:r>
              <a:rPr sz="2000"/>
              <a:t>*   **Image:** Scrambled word equation components, perhaps with a timer icon.</a:t>
            </a:r>
          </a:p>
          <a:p/>
          <a:p>
            <a:r>
              <a:rPr sz="2000"/>
              <a:t>**Slide 12: Factors Affecting Photosynthesis Rate**</a:t>
            </a:r>
          </a:p>
          <a:p>
            <a:r>
              <a:rPr sz="2000"/>
              <a:t>*   **List:**</a:t>
            </a:r>
          </a:p>
          <a:p>
            <a:r>
              <a:rPr sz="2000"/>
              <a:t>    *   Light Intensity</a:t>
            </a:r>
          </a:p>
          <a:p>
            <a:r>
              <a:rPr sz="2000"/>
              <a:t>    *   Carbon Dioxide Concentration</a:t>
            </a:r>
          </a:p>
          <a:p>
            <a:r>
              <a:rPr sz="2000"/>
              <a:t>    *   Temperature</a:t>
            </a:r>
          </a:p>
          <a:p>
            <a:r>
              <a:rPr sz="2000"/>
              <a:t>    *   Water Availability</a:t>
            </a:r>
          </a:p>
          <a:p>
            <a:r>
              <a:rPr sz="2000"/>
              <a:t>*   **Concept:** Explain that one factor can 'limit' the rate if it's in short supply.</a:t>
            </a:r>
          </a:p>
          <a:p>
            <a:r>
              <a:rPr sz="2000"/>
              <a:t>*   **Image:** Small, simple graphs illustrating the effect of each factor on reaction rate.</a:t>
            </a:r>
          </a:p>
          <a:p/>
          <a:p>
            <a:r>
              <a:rPr sz="2000"/>
              <a:t>**Slide 13: Activity: "Photosynthesis Rate Predictor"**</a:t>
            </a:r>
          </a:p>
          <a:p>
            <a:r>
              <a:rPr sz="2000"/>
              <a:t>*   **Instructions:** Analyze the graphs to understand how different factors affect the rate of photosynthesis.</a:t>
            </a:r>
          </a:p>
          <a:p>
            <a:r>
              <a:rPr sz="2000"/>
              <a:t>*   **Question Prompts:** What happens as [factor] increases? What's the limiting factor here?</a:t>
            </a:r>
          </a:p>
          <a:p>
            <a:r>
              <a:rPr sz="2000"/>
              <a:t>*   **Image:** Example graphs (e.g., light intensity vs. rate).</a:t>
            </a:r>
          </a:p>
          <a:p/>
          <a:p>
            <a:r>
              <a:rPr sz="2000"/>
              <a:t>**Slide 14: Why is Photosynthesis So Important? (The Big Picture)**</a:t>
            </a:r>
          </a:p>
          <a:p>
            <a:r>
              <a:rPr sz="2000"/>
              <a:t>*   **Food Source:** Base of almost all food chains.</a:t>
            </a:r>
          </a:p>
          <a:p>
            <a:r>
              <a:rPr sz="2000"/>
              <a:t>*   **Oxygen Production:** Replenishes atmospheric oxygen for respiration.</a:t>
            </a:r>
          </a:p>
          <a:p>
            <a:r>
              <a:rPr sz="2000"/>
              <a:t>*   **Carbon Cycle:** Removes CO₂ from the atmosphere, helping climate regulation.</a:t>
            </a:r>
          </a:p>
          <a:p>
            <a:r>
              <a:rPr sz="2000"/>
              <a:t>*   **Image:** Food chain diagram, Earth with oxygen symbol, simplified carbon cycle.</a:t>
            </a:r>
          </a:p>
          <a:p/>
          <a:p>
            <a:r>
              <a:rPr sz="2000"/>
              <a:t>**Slide 15: Assessment Check-in: Exit Ticket**</a:t>
            </a:r>
          </a:p>
          <a:p>
            <a:r>
              <a:rPr sz="2000"/>
              <a:t>*   **Questions:**</a:t>
            </a:r>
          </a:p>
          <a:p>
            <a:r>
              <a:rPr sz="2000"/>
              <a:t>    1.  Name two things a plant needs for photosynthesis.</a:t>
            </a:r>
          </a:p>
          <a:p>
            <a:r>
              <a:rPr sz="2000"/>
              <a:t>    2.  Name one product of photosynthesis.</a:t>
            </a:r>
          </a:p>
          <a:p>
            <a:r>
              <a:rPr sz="2000"/>
              <a:t>    3.  Where does photosynthesis happen in a plant cell?</a:t>
            </a:r>
          </a:p>
          <a:p>
            <a:r>
              <a:rPr sz="2000"/>
              <a:t>*   **Instructions:** Write answers on a slip of paper.</a:t>
            </a:r>
          </a:p>
          <a:p>
            <a:r>
              <a:rPr sz="2000"/>
              <a:t>*   **Image:** An exit door icon or a pencil and paper icon.</a:t>
            </a:r>
          </a:p>
          <a:p/>
          <a:p>
            <a:r>
              <a:rPr sz="2000"/>
              <a:t>**Slide 16: Summary &amp; Conclusion**</a:t>
            </a:r>
          </a:p>
          <a:p>
            <a:r>
              <a:rPr sz="2000"/>
              <a:t>*   **Key Recap:** Definition, Reactants, Products, Location, Importance.</a:t>
            </a:r>
          </a:p>
          <a:p>
            <a:r>
              <a:rPr sz="2000"/>
              <a:t>*   **Final Thought:** The fundamental process sustaining life on Earth!</a:t>
            </a:r>
          </a:p>
          <a:p>
            <a:r>
              <a:rPr sz="2000"/>
              <a:t>*   **Image:** A beautiful, thriving natural landscape.</a:t>
            </a:r>
          </a:p>
          <a:p/>
          <a:p>
            <a:r>
              <a:rPr sz="2000"/>
              <a:t>**Slide 17: Q&amp;A / Further Exploration**</a:t>
            </a:r>
          </a:p>
          <a:p>
            <a:r>
              <a:rPr sz="2000"/>
              <a:t>*   **Title:** Questions?</a:t>
            </a:r>
          </a:p>
          <a:p>
            <a:r>
              <a:rPr sz="2000"/>
              <a:t>*   **Bullet Points:**</a:t>
            </a:r>
          </a:p>
          <a:p>
            <a:r>
              <a:rPr sz="2000"/>
              <a:t>    *   What next? (e.g., measuring photosynthesis rate, plant adaptations).</a:t>
            </a:r>
          </a:p>
          <a:p>
            <a:r>
              <a:rPr sz="2000"/>
              <a:t>    *   Thank you!</a:t>
            </a:r>
          </a:p>
          <a:p>
            <a:r>
              <a:rPr sz="2000"/>
              <a:t>*   **Image:** Lightbulb icon, or a plant with a question 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539</Words>
  <Application>Microsoft Office PowerPoint</Application>
  <PresentationFormat>Custom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Helvetica World</vt:lpstr>
      <vt:lpstr>Arial</vt:lpstr>
      <vt:lpstr>Helvetica World Bold</vt:lpstr>
      <vt:lpstr>Georgia Pro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Algorithms: Searching and Sorting</dc:title>
  <dc:description>Presentation - Algorithms: Searching and Sorting</dc:description>
  <cp:lastModifiedBy>user</cp:lastModifiedBy>
  <cp:revision>3</cp:revision>
  <dcterms:created xsi:type="dcterms:W3CDTF">2006-08-16T00:00:00Z</dcterms:created>
  <dcterms:modified xsi:type="dcterms:W3CDTF">2025-11-05T12:34:16Z</dcterms:modified>
  <dc:identifier>DAG3zzhZX2A</dc:identifier>
</cp:coreProperties>
</file>