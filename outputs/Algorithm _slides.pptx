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2.svg" ContentType="image/svg+xml"/>
  <Override PartName="/ppt/media/image3.svg" ContentType="image/svg+xml"/>
  <Override PartName="/ppt/media/image5.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Lst>
  <p:sldSz cx="18288000" cy="10287000"/>
  <p:notesSz cx="6858000" cy="9144000"/>
  <p:embeddedFontLst>
    <p:embeddedFont>
      <p:font typeface="Helvetica World" panose="020B0604020202020204" charset="-128"/>
      <p:regular r:id="rId14"/>
    </p:embeddedFont>
    <p:embeddedFont>
      <p:font typeface="Helvetica World Bold" panose="020B0604020202020204" charset="-128"/>
      <p:regular r:id="rId15"/>
    </p:embeddedFont>
    <p:embeddedFont>
      <p:font typeface="Georgia Pro Condensed" panose="020B0604020202020204" charset="0"/>
      <p:regular r:id="rId16"/>
    </p:embeddedFont>
    <p:embeddedFont>
      <p:font typeface="Calibri" panose="020F0502020204030204" pitchFamily="34" charset="0"/>
      <p:regular r:id="rId17"/>
      <p:bold r:id="rId18"/>
      <p:italic r:id="rId19"/>
      <p:boldItalic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3" d="100"/>
          <a:sy n="53" d="100"/>
        </p:scale>
        <p:origin x="110"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schemas.openxmlformats.org/officeDocument/2006/relationships/font" Target="fonts/font7.fntdata"/><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eg"/><Relationship Id="rId3" Type="http://schemas.openxmlformats.org/officeDocument/2006/relationships/image" Target="../media/image5.jpeg"/><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eg"/><Relationship Id="rId3" Type="http://schemas.openxmlformats.org/officeDocument/2006/relationships/image" Target="../media/image8.jpeg"/><Relationship Id="rId4" Type="http://schemas.openxmlformats.org/officeDocument/2006/relationships/image" Target="../media/image9.png"/><Relationship Id="rId5" Type="http://schemas.openxmlformats.org/officeDocument/2006/relationships/image" Target="../media/image12.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eg"/><Relationship Id="rId3" Type="http://schemas.openxmlformats.org/officeDocument/2006/relationships/image" Target="../media/image11.jpeg"/><Relationship Id="rId4" Type="http://schemas.openxmlformats.org/officeDocument/2006/relationships/image" Target="../media/image12.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eg"/><Relationship Id="rId3" Type="http://schemas.openxmlformats.org/officeDocument/2006/relationships/image" Target="../media/image14.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eg"/><Relationship Id="rId3" Type="http://schemas.openxmlformats.org/officeDocument/2006/relationships/image" Target="../media/image2.png"/><Relationship Id="rId4" Type="http://schemas.openxmlformats.org/officeDocument/2006/relationships/image" Target="../media/image3.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A3A66"/>
        </a:solidFill>
        <a:effectLst/>
      </p:bgPr>
    </p:bg>
    <p:spTree>
      <p:nvGrpSpPr>
        <p:cNvPr id="1" name=""/>
        <p:cNvGrpSpPr/>
        <p:nvPr/>
      </p:nvGrpSpPr>
      <p:grpSpPr>
        <a:xfrm>
          <a:off x="0" y="0"/>
          <a:ext cx="0" cy="0"/>
          <a:chOff x="0" y="0"/>
          <a:chExt cx="0" cy="0"/>
        </a:xfrm>
      </p:grpSpPr>
      <p:grpSp>
        <p:nvGrpSpPr>
          <p:cNvPr id="2" name="Group 2"/>
          <p:cNvGrpSpPr/>
          <p:nvPr/>
        </p:nvGrpSpPr>
        <p:grpSpPr>
          <a:xfrm>
            <a:off x="0" y="-12700"/>
            <a:ext cx="11201400" cy="10299700"/>
            <a:chOff x="0" y="0"/>
            <a:chExt cx="963348" cy="885799"/>
          </a:xfrm>
        </p:grpSpPr>
        <p:sp>
          <p:nvSpPr>
            <p:cNvPr id="3" name="Freeform 3"/>
            <p:cNvSpPr/>
            <p:nvPr/>
          </p:nvSpPr>
          <p:spPr>
            <a:xfrm>
              <a:off x="0" y="0"/>
              <a:ext cx="963348" cy="885799"/>
            </a:xfrm>
            <a:custGeom>
              <a:avLst/>
              <a:gdLst/>
              <a:ahLst/>
              <a:cxnLst/>
              <a:rect l="l" t="t" r="r" b="b"/>
              <a:pathLst>
                <a:path w="963348" h="885799">
                  <a:moveTo>
                    <a:pt x="0" y="0"/>
                  </a:moveTo>
                  <a:lnTo>
                    <a:pt x="963348" y="0"/>
                  </a:lnTo>
                  <a:lnTo>
                    <a:pt x="963348" y="885799"/>
                  </a:lnTo>
                  <a:lnTo>
                    <a:pt x="0" y="885799"/>
                  </a:lnTo>
                  <a:close/>
                </a:path>
              </a:pathLst>
            </a:custGeom>
            <a:solidFill>
              <a:srgbClr val="F4F6F8"/>
            </a:solidFill>
            <a:ln w="12700">
              <a:solidFill>
                <a:srgbClr val="000000"/>
              </a:solidFill>
            </a:ln>
          </p:spPr>
        </p:sp>
      </p:grpSp>
      <p:grpSp>
        <p:nvGrpSpPr>
          <p:cNvPr id="4" name="Group 4"/>
          <p:cNvGrpSpPr/>
          <p:nvPr/>
        </p:nvGrpSpPr>
        <p:grpSpPr>
          <a:xfrm>
            <a:off x="11868150" y="666750"/>
            <a:ext cx="5753100" cy="8953500"/>
            <a:chOff x="0" y="0"/>
            <a:chExt cx="814724" cy="1267949"/>
          </a:xfrm>
        </p:grpSpPr>
        <p:sp>
          <p:nvSpPr>
            <p:cNvPr id="5" name="Freeform 5"/>
            <p:cNvSpPr/>
            <p:nvPr/>
          </p:nvSpPr>
          <p:spPr>
            <a:xfrm>
              <a:off x="0" y="0"/>
              <a:ext cx="814724" cy="1267949"/>
            </a:xfrm>
            <a:custGeom>
              <a:avLst/>
              <a:gdLst/>
              <a:ahLst/>
              <a:cxnLst/>
              <a:rect l="l" t="t" r="r" b="b"/>
              <a:pathLst>
                <a:path w="814724" h="1267949">
                  <a:moveTo>
                    <a:pt x="26914" y="0"/>
                  </a:moveTo>
                  <a:lnTo>
                    <a:pt x="787810" y="0"/>
                  </a:lnTo>
                  <a:cubicBezTo>
                    <a:pt x="802675" y="0"/>
                    <a:pt x="814724" y="12050"/>
                    <a:pt x="814724" y="26914"/>
                  </a:cubicBezTo>
                  <a:lnTo>
                    <a:pt x="814724" y="1241035"/>
                  </a:lnTo>
                  <a:cubicBezTo>
                    <a:pt x="814724" y="1255899"/>
                    <a:pt x="802675" y="1267949"/>
                    <a:pt x="787810" y="1267949"/>
                  </a:cubicBezTo>
                  <a:lnTo>
                    <a:pt x="26914" y="1267949"/>
                  </a:lnTo>
                  <a:cubicBezTo>
                    <a:pt x="12050" y="1267949"/>
                    <a:pt x="0" y="1255899"/>
                    <a:pt x="0" y="1241035"/>
                  </a:cubicBezTo>
                  <a:lnTo>
                    <a:pt x="0" y="26914"/>
                  </a:lnTo>
                  <a:cubicBezTo>
                    <a:pt x="0" y="12050"/>
                    <a:pt x="12050" y="0"/>
                    <a:pt x="26914" y="0"/>
                  </a:cubicBezTo>
                  <a:close/>
                </a:path>
              </a:pathLst>
            </a:custGeom>
            <a:blipFill>
              <a:blip r:embed="rId2"/>
              <a:stretch>
                <a:fillRect t="-199" b="-199"/>
              </a:stretch>
            </a:blipFill>
          </p:spPr>
        </p:sp>
      </p:grpSp>
      <p:sp>
        <p:nvSpPr>
          <p:cNvPr id="6" name="TextBox 6"/>
          <p:cNvSpPr txBox="1"/>
          <p:nvPr/>
        </p:nvSpPr>
        <p:spPr>
          <a:xfrm>
            <a:off x="666750" y="9001760"/>
            <a:ext cx="6886575" cy="593752"/>
          </a:xfrm>
          <a:prstGeom prst="rect">
            <a:avLst/>
          </a:prstGeom>
        </p:spPr>
        <p:txBody>
          <a:bodyPr lIns="0" tIns="0" rIns="0" bIns="0" rtlCol="0" anchor="t">
            <a:spAutoFit/>
          </a:bodyPr>
          <a:lstStyle/>
          <a:p>
            <a:pPr marL="0" lvl="0" indent="0" algn="l">
              <a:lnSpc>
                <a:spcPts val="4940"/>
              </a:lnSpc>
            </a:pPr>
            <a:r>
              <a:rPr lang="en-US" sz="3800" u="none" strike="noStrike" spc="-57" dirty="0" smtClean="0">
                <a:solidFill>
                  <a:srgbClr val="1C1C1C"/>
                </a:solidFill>
                <a:latin typeface="Helvetica World"/>
                <a:ea typeface="Helvetica World"/>
                <a:cs typeface="Helvetica World"/>
                <a:sym typeface="Helvetica World"/>
              </a:rPr>
              <a:t>by Mr. Edward Paul</a:t>
            </a:r>
            <a:endParaRPr lang="en-US" sz="3800" u="none" strike="noStrike" spc="-57" dirty="0">
              <a:solidFill>
                <a:srgbClr val="1C1C1C"/>
              </a:solidFill>
              <a:latin typeface="Helvetica World"/>
              <a:ea typeface="Helvetica World"/>
              <a:cs typeface="Helvetica World"/>
              <a:sym typeface="Helvetica World"/>
            </a:endParaRPr>
          </a:p>
        </p:txBody>
      </p:sp>
      <p:sp>
        <p:nvSpPr>
          <p:cNvPr id="7" name="TextBox 7"/>
          <p:cNvSpPr txBox="1"/>
          <p:nvPr/>
        </p:nvSpPr>
        <p:spPr>
          <a:xfrm>
            <a:off x="675380" y="975068"/>
            <a:ext cx="9754495" cy="5790084"/>
          </a:xfrm>
          <a:prstGeom prst="rect">
            <a:avLst/>
          </a:prstGeom>
        </p:spPr>
        <p:txBody>
          <a:bodyPr lIns="0" tIns="0" rIns="0" bIns="0" rtlCol="0" anchor="t">
            <a:spAutoFit/>
          </a:bodyPr>
          <a:lstStyle/>
          <a:p>
            <a:pPr marL="0" lvl="0" indent="0" algn="l">
              <a:lnSpc>
                <a:spcPts val="14956"/>
              </a:lnSpc>
            </a:pPr>
            <a:r>
              <a:rPr lang="en-US" sz="14956" u="none" strike="noStrike" spc="-523">
                <a:solidFill>
                  <a:srgbClr val="2A3A66"/>
                </a:solidFill>
                <a:latin typeface="Georgia Pro Condensed"/>
                <a:ea typeface="Georgia Pro Condensed"/>
                <a:cs typeface="Georgia Pro Condensed"/>
                <a:sym typeface="Georgia Pro Condensed"/>
              </a:rPr>
              <a:t>Algorithms: Searching and Sorting</a:t>
            </a:r>
          </a:p>
        </p:txBody>
      </p:sp>
      <p:sp>
        <p:nvSpPr>
          <p:cNvPr id="8" name="Freeform 8"/>
          <p:cNvSpPr/>
          <p:nvPr/>
        </p:nvSpPr>
        <p:spPr>
          <a:xfrm rot="-3117037">
            <a:off x="8947742" y="7656091"/>
            <a:ext cx="2112604" cy="1859092"/>
          </a:xfrm>
          <a:custGeom>
            <a:avLst/>
            <a:gdLst/>
            <a:ahLst/>
            <a:cxnLst/>
            <a:rect l="l" t="t" r="r" b="b"/>
            <a:pathLst>
              <a:path w="2112604" h="1859092">
                <a:moveTo>
                  <a:pt x="0" y="0"/>
                </a:moveTo>
                <a:lnTo>
                  <a:pt x="2112604" y="0"/>
                </a:lnTo>
                <a:lnTo>
                  <a:pt x="2112604" y="1859091"/>
                </a:lnTo>
                <a:lnTo>
                  <a:pt x="0" y="1859091"/>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p:cNvGrpSpPr/>
        <p:nvPr/>
      </p:nvGrpSpPr>
      <p:grpSpPr>
        <a:xfrm>
          <a:off x="0" y="0"/>
          <a:ext cx="0" cy="0"/>
          <a:chOff x="0" y="0"/>
          <a:chExt cx="0" cy="0"/>
        </a:xfrm>
      </p:grpSpPr>
      <p:sp>
        <p:nvSpPr>
          <p:cNvPr id="2" name="TextBox 2"/>
          <p:cNvSpPr txBox="1"/>
          <p:nvPr/>
        </p:nvSpPr>
        <p:spPr>
          <a:xfrm>
            <a:off x="17259300" y="9201150"/>
            <a:ext cx="152400" cy="209550"/>
          </a:xfrm>
          <a:prstGeom prst="rect">
            <a:avLst/>
          </a:prstGeom>
        </p:spPr>
        <p:txBody>
          <a:bodyPr wrap="none" lIns="0" tIns="0" rIns="0" bIns="0" rtlCol="0" anchor="t">
            <a:spAutoFit/>
          </a:bodyPr>
          <a:lstStyle/>
          <a:p>
            <a:pPr marL="0" lvl="0" indent="0" algn="ctr">
              <a:lnSpc>
                <a:spcPts val="2800"/>
              </a:lnSpc>
              <a:spcBef>
                <a:spcPct val="0"/>
              </a:spcBef>
            </a:pPr>
            <a:r>
              <a:rPr lang="en-US" sz="2000">
                <a:solidFill>
                  <a:srgbClr val="1C1C1C"/>
                </a:solidFill>
                <a:latin typeface="Helvetica World"/>
                <a:ea typeface="Helvetica World"/>
                <a:cs typeface="Helvetica World"/>
                <a:sym typeface="Helvetica World"/>
              </a:rPr>
              <a:t>2</a:t>
            </a:r>
          </a:p>
        </p:txBody>
      </p:sp>
      <p:grpSp>
        <p:nvGrpSpPr>
          <p:cNvPr id="3" name="Group 3"/>
          <p:cNvGrpSpPr/>
          <p:nvPr/>
        </p:nvGrpSpPr>
        <p:grpSpPr>
          <a:xfrm>
            <a:off x="666750" y="666750"/>
            <a:ext cx="16954500" cy="8953500"/>
            <a:chOff x="0" y="0"/>
            <a:chExt cx="4465383" cy="2358123"/>
          </a:xfrm>
        </p:grpSpPr>
        <p:sp>
          <p:nvSpPr>
            <p:cNvPr id="4" name="Freeform 4"/>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BCCFFE"/>
            </a:solidFill>
            <a:ln cap="rnd">
              <a:noFill/>
              <a:prstDash val="solid"/>
              <a:round/>
            </a:ln>
          </p:spPr>
        </p:sp>
        <p:sp>
          <p:nvSpPr>
            <p:cNvPr id="5" name="TextBox 5"/>
            <p:cNvSpPr txBox="1"/>
            <p:nvPr/>
          </p:nvSpPr>
          <p:spPr>
            <a:xfrm>
              <a:off x="0" y="-57150"/>
              <a:ext cx="4465383" cy="2415273"/>
            </a:xfrm>
            <a:prstGeom prst="rect">
              <a:avLst/>
            </a:prstGeom>
          </p:spPr>
          <p:txBody>
            <a:bodyPr lIns="50800" tIns="50800" rIns="50800" bIns="50800" rtlCol="0" anchor="ctr"/>
            <a:lstStyle/>
            <a:p>
              <a:pPr marL="0" lvl="0" indent="0" algn="ctr">
                <a:lnSpc>
                  <a:spcPts val="3359"/>
                </a:lnSpc>
                <a:spcBef>
                  <a:spcPct val="0"/>
                </a:spcBef>
              </a:pPr>
              <a:endParaRPr/>
            </a:p>
          </p:txBody>
        </p:sp>
      </p:grpSp>
      <p:grpSp>
        <p:nvGrpSpPr>
          <p:cNvPr id="6" name="Group 6"/>
          <p:cNvGrpSpPr/>
          <p:nvPr/>
        </p:nvGrpSpPr>
        <p:grpSpPr>
          <a:xfrm>
            <a:off x="1800225" y="1562100"/>
            <a:ext cx="12944475" cy="3581400"/>
            <a:chOff x="0" y="0"/>
            <a:chExt cx="17259300" cy="4775200"/>
          </a:xfrm>
        </p:grpSpPr>
        <p:sp>
          <p:nvSpPr>
            <p:cNvPr id="7" name="TextBox 7"/>
            <p:cNvSpPr txBox="1"/>
            <p:nvPr/>
          </p:nvSpPr>
          <p:spPr>
            <a:xfrm>
              <a:off x="0" y="-85725"/>
              <a:ext cx="17259300" cy="1702858"/>
            </a:xfrm>
            <a:prstGeom prst="rect">
              <a:avLst/>
            </a:prstGeom>
          </p:spPr>
          <p:txBody>
            <a:bodyPr lIns="0" tIns="0" rIns="0" bIns="0" rtlCol="0" anchor="t">
              <a:spAutoFit/>
            </a:bodyPr>
            <a:lstStyle/>
            <a:p>
              <a:pPr marL="0" lvl="0" indent="0" algn="l">
                <a:lnSpc>
                  <a:spcPts val="10400"/>
                </a:lnSpc>
              </a:pPr>
              <a:r>
                <a:rPr lang="en-US" sz="8000" spc="-240">
                  <a:solidFill>
                    <a:srgbClr val="2A3A66"/>
                  </a:solidFill>
                  <a:latin typeface="Georgia Pro Condensed"/>
                  <a:ea typeface="Georgia Pro Condensed"/>
                  <a:cs typeface="Georgia Pro Condensed"/>
                  <a:sym typeface="Georgia Pro Condensed"/>
                </a:rPr>
                <a:t>Understanding Algorithms</a:t>
              </a:r>
            </a:p>
          </p:txBody>
        </p:sp>
        <p:sp>
          <p:nvSpPr>
            <p:cNvPr id="8" name="TextBox 8"/>
            <p:cNvSpPr txBox="1"/>
            <p:nvPr/>
          </p:nvSpPr>
          <p:spPr>
            <a:xfrm>
              <a:off x="0" y="2187687"/>
              <a:ext cx="17259300" cy="568325"/>
            </a:xfrm>
            <a:prstGeom prst="rect">
              <a:avLst/>
            </a:prstGeom>
          </p:spPr>
          <p:txBody>
            <a:bodyPr lIns="0" tIns="0" rIns="0" bIns="0" rtlCol="0" anchor="t">
              <a:spAutoFit/>
            </a:bodyPr>
            <a:lstStyle/>
            <a:p>
              <a:pPr marL="0" lvl="0" indent="0" algn="l">
                <a:lnSpc>
                  <a:spcPts val="3000"/>
                </a:lnSpc>
                <a:spcBef>
                  <a:spcPct val="0"/>
                </a:spcBef>
              </a:pPr>
              <a:r>
                <a:rPr lang="en-US" sz="2500" b="1" spc="-37">
                  <a:solidFill>
                    <a:srgbClr val="2A3A66"/>
                  </a:solidFill>
                  <a:latin typeface="Helvetica World Bold"/>
                  <a:ea typeface="Helvetica World Bold"/>
                  <a:cs typeface="Helvetica World Bold"/>
                  <a:sym typeface="Helvetica World Bold"/>
                </a:rPr>
                <a:t>Their Importance in Computer Science</a:t>
              </a:r>
            </a:p>
          </p:txBody>
        </p:sp>
        <p:sp>
          <p:nvSpPr>
            <p:cNvPr id="9" name="TextBox 9"/>
            <p:cNvSpPr txBox="1"/>
            <p:nvPr/>
          </p:nvSpPr>
          <p:spPr>
            <a:xfrm>
              <a:off x="0" y="3059641"/>
              <a:ext cx="13512134" cy="1715559"/>
            </a:xfrm>
            <a:prstGeom prst="rect">
              <a:avLst/>
            </a:prstGeom>
          </p:spPr>
          <p:txBody>
            <a:bodyPr lIns="0" tIns="0" rIns="0" bIns="0" rtlCol="0" anchor="t">
              <a:spAutoFit/>
            </a:bodyPr>
            <a:lstStyle/>
            <a:p>
              <a:pPr marL="0" lvl="0" indent="0" algn="l">
                <a:lnSpc>
                  <a:spcPts val="3499"/>
                </a:lnSpc>
              </a:pPr>
              <a:r>
                <a:rPr lang="en-US" sz="2499" spc="-37">
                  <a:solidFill>
                    <a:srgbClr val="1C1C1C"/>
                  </a:solidFill>
                  <a:latin typeface="Helvetica World"/>
                  <a:ea typeface="Helvetica World"/>
                  <a:cs typeface="Helvetica World"/>
                  <a:sym typeface="Helvetica World"/>
                </a:rPr>
                <a:t>Algorithms are essential, defined as step-by-step procedures for solving problems. They enable computers to efficiently process information, making them a fundamental aspect of computer science and programming.</a:t>
              </a:r>
            </a:p>
          </p:txBody>
        </p:sp>
      </p:grpSp>
      <p:sp>
        <p:nvSpPr>
          <p:cNvPr id="10" name="Freeform 10"/>
          <p:cNvSpPr/>
          <p:nvPr/>
        </p:nvSpPr>
        <p:spPr>
          <a:xfrm rot="-3117037">
            <a:off x="16099474" y="7952721"/>
            <a:ext cx="2112604" cy="1859092"/>
          </a:xfrm>
          <a:custGeom>
            <a:avLst/>
            <a:gdLst/>
            <a:ahLst/>
            <a:cxnLst/>
            <a:rect l="l" t="t" r="r" b="b"/>
            <a:pathLst>
              <a:path w="2112604" h="1859092">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A3A66"/>
        </a:solidFill>
        <a:effectLst/>
      </p:bgPr>
    </p:bg>
    <p:spTree>
      <p:nvGrpSpPr>
        <p:cNvPr id="1" name=""/>
        <p:cNvGrpSpPr/>
        <p:nvPr/>
      </p:nvGrpSpPr>
      <p:grpSpPr>
        <a:xfrm>
          <a:off x="0" y="0"/>
          <a:ext cx="0" cy="0"/>
          <a:chOff x="0" y="0"/>
          <a:chExt cx="0" cy="0"/>
        </a:xfrm>
      </p:grpSpPr>
      <p:grpSp>
        <p:nvGrpSpPr>
          <p:cNvPr id="2" name="Group 2"/>
          <p:cNvGrpSpPr/>
          <p:nvPr/>
        </p:nvGrpSpPr>
        <p:grpSpPr>
          <a:xfrm>
            <a:off x="666750" y="2908300"/>
            <a:ext cx="5448300" cy="6711950"/>
            <a:chOff x="0" y="0"/>
            <a:chExt cx="1434943" cy="1767756"/>
          </a:xfrm>
        </p:grpSpPr>
        <p:sp>
          <p:nvSpPr>
            <p:cNvPr id="3" name="Freeform 3"/>
            <p:cNvSpPr/>
            <p:nvPr/>
          </p:nvSpPr>
          <p:spPr>
            <a:xfrm>
              <a:off x="0" y="0"/>
              <a:ext cx="1434943" cy="1767756"/>
            </a:xfrm>
            <a:custGeom>
              <a:avLst/>
              <a:gdLst/>
              <a:ahLst/>
              <a:cxnLst/>
              <a:rect l="l" t="t" r="r" b="b"/>
              <a:pathLst>
                <a:path w="1434943" h="1767756">
                  <a:moveTo>
                    <a:pt x="28420" y="0"/>
                  </a:moveTo>
                  <a:lnTo>
                    <a:pt x="1406524" y="0"/>
                  </a:lnTo>
                  <a:cubicBezTo>
                    <a:pt x="1422219" y="0"/>
                    <a:pt x="1434943" y="12724"/>
                    <a:pt x="1434943" y="28420"/>
                  </a:cubicBezTo>
                  <a:lnTo>
                    <a:pt x="1434943" y="1739337"/>
                  </a:lnTo>
                  <a:cubicBezTo>
                    <a:pt x="1434943" y="1755033"/>
                    <a:pt x="1422219" y="1767756"/>
                    <a:pt x="1406524" y="1767756"/>
                  </a:cubicBezTo>
                  <a:lnTo>
                    <a:pt x="28420" y="1767756"/>
                  </a:lnTo>
                  <a:cubicBezTo>
                    <a:pt x="12724" y="1767756"/>
                    <a:pt x="0" y="1755033"/>
                    <a:pt x="0" y="1739337"/>
                  </a:cubicBezTo>
                  <a:lnTo>
                    <a:pt x="0" y="28420"/>
                  </a:lnTo>
                  <a:cubicBezTo>
                    <a:pt x="0" y="12724"/>
                    <a:pt x="12724" y="0"/>
                    <a:pt x="28420" y="0"/>
                  </a:cubicBezTo>
                  <a:close/>
                </a:path>
              </a:pathLst>
            </a:custGeom>
            <a:solidFill>
              <a:srgbClr val="F4F6F8"/>
            </a:solidFill>
          </p:spPr>
        </p:sp>
        <p:sp>
          <p:nvSpPr>
            <p:cNvPr id="4" name="TextBox 4"/>
            <p:cNvSpPr txBox="1"/>
            <p:nvPr/>
          </p:nvSpPr>
          <p:spPr>
            <a:xfrm>
              <a:off x="0" y="-28575"/>
              <a:ext cx="1434943" cy="1796331"/>
            </a:xfrm>
            <a:prstGeom prst="rect">
              <a:avLst/>
            </a:prstGeom>
          </p:spPr>
          <p:txBody>
            <a:bodyPr lIns="50800" tIns="50800" rIns="50800" bIns="50800" rtlCol="0" anchor="ctr"/>
            <a:lstStyle/>
            <a:p>
              <a:pPr marL="0" lvl="0" indent="0" algn="ctr">
                <a:lnSpc>
                  <a:spcPts val="1736"/>
                </a:lnSpc>
              </a:pPr>
              <a:endParaRPr/>
            </a:p>
          </p:txBody>
        </p:sp>
      </p:grpSp>
      <p:grpSp>
        <p:nvGrpSpPr>
          <p:cNvPr id="5" name="Group 5"/>
          <p:cNvGrpSpPr/>
          <p:nvPr/>
        </p:nvGrpSpPr>
        <p:grpSpPr>
          <a:xfrm>
            <a:off x="6419850" y="2908300"/>
            <a:ext cx="5448300" cy="6711950"/>
            <a:chOff x="0" y="0"/>
            <a:chExt cx="1434943" cy="1767756"/>
          </a:xfrm>
        </p:grpSpPr>
        <p:sp>
          <p:nvSpPr>
            <p:cNvPr id="6" name="Freeform 6"/>
            <p:cNvSpPr/>
            <p:nvPr/>
          </p:nvSpPr>
          <p:spPr>
            <a:xfrm>
              <a:off x="0" y="0"/>
              <a:ext cx="1434943" cy="1767756"/>
            </a:xfrm>
            <a:custGeom>
              <a:avLst/>
              <a:gdLst/>
              <a:ahLst/>
              <a:cxnLst/>
              <a:rect l="l" t="t" r="r" b="b"/>
              <a:pathLst>
                <a:path w="1434943" h="1767756">
                  <a:moveTo>
                    <a:pt x="28420" y="0"/>
                  </a:moveTo>
                  <a:lnTo>
                    <a:pt x="1406524" y="0"/>
                  </a:lnTo>
                  <a:cubicBezTo>
                    <a:pt x="1422219" y="0"/>
                    <a:pt x="1434943" y="12724"/>
                    <a:pt x="1434943" y="28420"/>
                  </a:cubicBezTo>
                  <a:lnTo>
                    <a:pt x="1434943" y="1739337"/>
                  </a:lnTo>
                  <a:cubicBezTo>
                    <a:pt x="1434943" y="1755033"/>
                    <a:pt x="1422219" y="1767756"/>
                    <a:pt x="1406524" y="1767756"/>
                  </a:cubicBezTo>
                  <a:lnTo>
                    <a:pt x="28420" y="1767756"/>
                  </a:lnTo>
                  <a:cubicBezTo>
                    <a:pt x="12724" y="1767756"/>
                    <a:pt x="0" y="1755033"/>
                    <a:pt x="0" y="1739337"/>
                  </a:cubicBezTo>
                  <a:lnTo>
                    <a:pt x="0" y="28420"/>
                  </a:lnTo>
                  <a:cubicBezTo>
                    <a:pt x="0" y="12724"/>
                    <a:pt x="12724" y="0"/>
                    <a:pt x="28420" y="0"/>
                  </a:cubicBezTo>
                  <a:close/>
                </a:path>
              </a:pathLst>
            </a:custGeom>
            <a:solidFill>
              <a:srgbClr val="F4F6F8"/>
            </a:solidFill>
          </p:spPr>
        </p:sp>
        <p:sp>
          <p:nvSpPr>
            <p:cNvPr id="7" name="TextBox 7"/>
            <p:cNvSpPr txBox="1"/>
            <p:nvPr/>
          </p:nvSpPr>
          <p:spPr>
            <a:xfrm>
              <a:off x="0" y="-28575"/>
              <a:ext cx="1434943" cy="1796331"/>
            </a:xfrm>
            <a:prstGeom prst="rect">
              <a:avLst/>
            </a:prstGeom>
          </p:spPr>
          <p:txBody>
            <a:bodyPr lIns="50800" tIns="50800" rIns="50800" bIns="50800" rtlCol="0" anchor="ctr"/>
            <a:lstStyle/>
            <a:p>
              <a:pPr marL="0" lvl="0" indent="0" algn="ctr">
                <a:lnSpc>
                  <a:spcPts val="1736"/>
                </a:lnSpc>
              </a:pPr>
              <a:endParaRPr/>
            </a:p>
          </p:txBody>
        </p:sp>
      </p:grpSp>
      <p:grpSp>
        <p:nvGrpSpPr>
          <p:cNvPr id="8" name="Group 8"/>
          <p:cNvGrpSpPr/>
          <p:nvPr/>
        </p:nvGrpSpPr>
        <p:grpSpPr>
          <a:xfrm>
            <a:off x="12172950" y="2908300"/>
            <a:ext cx="5448300" cy="6711950"/>
            <a:chOff x="0" y="0"/>
            <a:chExt cx="1434943" cy="1767756"/>
          </a:xfrm>
        </p:grpSpPr>
        <p:sp>
          <p:nvSpPr>
            <p:cNvPr id="9" name="Freeform 9"/>
            <p:cNvSpPr/>
            <p:nvPr/>
          </p:nvSpPr>
          <p:spPr>
            <a:xfrm>
              <a:off x="0" y="0"/>
              <a:ext cx="1434943" cy="1767756"/>
            </a:xfrm>
            <a:custGeom>
              <a:avLst/>
              <a:gdLst/>
              <a:ahLst/>
              <a:cxnLst/>
              <a:rect l="l" t="t" r="r" b="b"/>
              <a:pathLst>
                <a:path w="1434943" h="1767756">
                  <a:moveTo>
                    <a:pt x="28420" y="0"/>
                  </a:moveTo>
                  <a:lnTo>
                    <a:pt x="1406524" y="0"/>
                  </a:lnTo>
                  <a:cubicBezTo>
                    <a:pt x="1422219" y="0"/>
                    <a:pt x="1434943" y="12724"/>
                    <a:pt x="1434943" y="28420"/>
                  </a:cubicBezTo>
                  <a:lnTo>
                    <a:pt x="1434943" y="1739337"/>
                  </a:lnTo>
                  <a:cubicBezTo>
                    <a:pt x="1434943" y="1755033"/>
                    <a:pt x="1422219" y="1767756"/>
                    <a:pt x="1406524" y="1767756"/>
                  </a:cubicBezTo>
                  <a:lnTo>
                    <a:pt x="28420" y="1767756"/>
                  </a:lnTo>
                  <a:cubicBezTo>
                    <a:pt x="12724" y="1767756"/>
                    <a:pt x="0" y="1755033"/>
                    <a:pt x="0" y="1739337"/>
                  </a:cubicBezTo>
                  <a:lnTo>
                    <a:pt x="0" y="28420"/>
                  </a:lnTo>
                  <a:cubicBezTo>
                    <a:pt x="0" y="12724"/>
                    <a:pt x="12724" y="0"/>
                    <a:pt x="28420" y="0"/>
                  </a:cubicBezTo>
                  <a:close/>
                </a:path>
              </a:pathLst>
            </a:custGeom>
            <a:solidFill>
              <a:srgbClr val="F4F6F8"/>
            </a:solidFill>
          </p:spPr>
        </p:sp>
        <p:sp>
          <p:nvSpPr>
            <p:cNvPr id="10" name="TextBox 10"/>
            <p:cNvSpPr txBox="1"/>
            <p:nvPr/>
          </p:nvSpPr>
          <p:spPr>
            <a:xfrm>
              <a:off x="0" y="-28575"/>
              <a:ext cx="1434943" cy="1796331"/>
            </a:xfrm>
            <a:prstGeom prst="rect">
              <a:avLst/>
            </a:prstGeom>
          </p:spPr>
          <p:txBody>
            <a:bodyPr lIns="50800" tIns="50800" rIns="50800" bIns="50800" rtlCol="0" anchor="ctr"/>
            <a:lstStyle/>
            <a:p>
              <a:pPr marL="0" lvl="0" indent="0" algn="ctr">
                <a:lnSpc>
                  <a:spcPts val="1736"/>
                </a:lnSpc>
              </a:pPr>
              <a:endParaRPr/>
            </a:p>
          </p:txBody>
        </p:sp>
      </p:grpSp>
      <p:grpSp>
        <p:nvGrpSpPr>
          <p:cNvPr id="11" name="Group 11"/>
          <p:cNvGrpSpPr/>
          <p:nvPr/>
        </p:nvGrpSpPr>
        <p:grpSpPr>
          <a:xfrm>
            <a:off x="1066053" y="4248150"/>
            <a:ext cx="4649694" cy="3581400"/>
            <a:chOff x="0" y="0"/>
            <a:chExt cx="1259398" cy="970044"/>
          </a:xfrm>
        </p:grpSpPr>
        <p:sp>
          <p:nvSpPr>
            <p:cNvPr id="12" name="Freeform 12"/>
            <p:cNvSpPr/>
            <p:nvPr/>
          </p:nvSpPr>
          <p:spPr>
            <a:xfrm>
              <a:off x="0" y="0"/>
              <a:ext cx="1259398" cy="970044"/>
            </a:xfrm>
            <a:custGeom>
              <a:avLst/>
              <a:gdLst/>
              <a:ahLst/>
              <a:cxnLst/>
              <a:rect l="l" t="t" r="r" b="b"/>
              <a:pathLst>
                <a:path w="1259398" h="970044">
                  <a:moveTo>
                    <a:pt x="33301" y="0"/>
                  </a:moveTo>
                  <a:lnTo>
                    <a:pt x="1226097" y="0"/>
                  </a:lnTo>
                  <a:cubicBezTo>
                    <a:pt x="1244489" y="0"/>
                    <a:pt x="1259398" y="14909"/>
                    <a:pt x="1259398" y="33301"/>
                  </a:cubicBezTo>
                  <a:lnTo>
                    <a:pt x="1259398" y="936743"/>
                  </a:lnTo>
                  <a:cubicBezTo>
                    <a:pt x="1259398" y="955135"/>
                    <a:pt x="1244489" y="970044"/>
                    <a:pt x="1226097" y="970044"/>
                  </a:cubicBezTo>
                  <a:lnTo>
                    <a:pt x="33301" y="970044"/>
                  </a:lnTo>
                  <a:cubicBezTo>
                    <a:pt x="24469" y="970044"/>
                    <a:pt x="15999" y="966535"/>
                    <a:pt x="9754" y="960290"/>
                  </a:cubicBezTo>
                  <a:cubicBezTo>
                    <a:pt x="3508" y="954045"/>
                    <a:pt x="0" y="945575"/>
                    <a:pt x="0" y="936743"/>
                  </a:cubicBezTo>
                  <a:lnTo>
                    <a:pt x="0" y="33301"/>
                  </a:lnTo>
                  <a:cubicBezTo>
                    <a:pt x="0" y="24469"/>
                    <a:pt x="3508" y="15999"/>
                    <a:pt x="9754" y="9754"/>
                  </a:cubicBezTo>
                  <a:cubicBezTo>
                    <a:pt x="15999" y="3508"/>
                    <a:pt x="24469" y="0"/>
                    <a:pt x="33301" y="0"/>
                  </a:cubicBezTo>
                  <a:close/>
                </a:path>
              </a:pathLst>
            </a:custGeom>
            <a:blipFill>
              <a:blip r:embed="rId2"/>
              <a:stretch>
                <a:fillRect l="-342" r="-342"/>
              </a:stretch>
            </a:blipFill>
          </p:spPr>
        </p:sp>
      </p:grpSp>
      <p:grpSp>
        <p:nvGrpSpPr>
          <p:cNvPr id="13" name="Group 13"/>
          <p:cNvGrpSpPr/>
          <p:nvPr/>
        </p:nvGrpSpPr>
        <p:grpSpPr>
          <a:xfrm>
            <a:off x="6819153" y="4248150"/>
            <a:ext cx="4649694" cy="3581400"/>
            <a:chOff x="0" y="0"/>
            <a:chExt cx="1259398" cy="970044"/>
          </a:xfrm>
        </p:grpSpPr>
        <p:sp>
          <p:nvSpPr>
            <p:cNvPr id="14" name="Freeform 14"/>
            <p:cNvSpPr/>
            <p:nvPr/>
          </p:nvSpPr>
          <p:spPr>
            <a:xfrm>
              <a:off x="0" y="0"/>
              <a:ext cx="1259398" cy="970044"/>
            </a:xfrm>
            <a:custGeom>
              <a:avLst/>
              <a:gdLst/>
              <a:ahLst/>
              <a:cxnLst/>
              <a:rect l="l" t="t" r="r" b="b"/>
              <a:pathLst>
                <a:path w="1259398" h="970044">
                  <a:moveTo>
                    <a:pt x="33301" y="0"/>
                  </a:moveTo>
                  <a:lnTo>
                    <a:pt x="1226097" y="0"/>
                  </a:lnTo>
                  <a:cubicBezTo>
                    <a:pt x="1244489" y="0"/>
                    <a:pt x="1259398" y="14909"/>
                    <a:pt x="1259398" y="33301"/>
                  </a:cubicBezTo>
                  <a:lnTo>
                    <a:pt x="1259398" y="936743"/>
                  </a:lnTo>
                  <a:cubicBezTo>
                    <a:pt x="1259398" y="955135"/>
                    <a:pt x="1244489" y="970044"/>
                    <a:pt x="1226097" y="970044"/>
                  </a:cubicBezTo>
                  <a:lnTo>
                    <a:pt x="33301" y="970044"/>
                  </a:lnTo>
                  <a:cubicBezTo>
                    <a:pt x="24469" y="970044"/>
                    <a:pt x="15999" y="966535"/>
                    <a:pt x="9754" y="960290"/>
                  </a:cubicBezTo>
                  <a:cubicBezTo>
                    <a:pt x="3508" y="954045"/>
                    <a:pt x="0" y="945575"/>
                    <a:pt x="0" y="936743"/>
                  </a:cubicBezTo>
                  <a:lnTo>
                    <a:pt x="0" y="33301"/>
                  </a:lnTo>
                  <a:cubicBezTo>
                    <a:pt x="0" y="24469"/>
                    <a:pt x="3508" y="15999"/>
                    <a:pt x="9754" y="9754"/>
                  </a:cubicBezTo>
                  <a:cubicBezTo>
                    <a:pt x="15999" y="3508"/>
                    <a:pt x="24469" y="0"/>
                    <a:pt x="33301" y="0"/>
                  </a:cubicBezTo>
                  <a:close/>
                </a:path>
              </a:pathLst>
            </a:custGeom>
            <a:blipFill>
              <a:blip r:embed="rId3"/>
              <a:stretch>
                <a:fillRect l="-342" r="-342"/>
              </a:stretch>
            </a:blipFill>
          </p:spPr>
        </p:sp>
      </p:grpSp>
      <p:grpSp>
        <p:nvGrpSpPr>
          <p:cNvPr id="15" name="Group 15"/>
          <p:cNvGrpSpPr/>
          <p:nvPr/>
        </p:nvGrpSpPr>
        <p:grpSpPr>
          <a:xfrm>
            <a:off x="12572253" y="4248150"/>
            <a:ext cx="4649694" cy="3581400"/>
            <a:chOff x="0" y="0"/>
            <a:chExt cx="1259398" cy="970044"/>
          </a:xfrm>
        </p:grpSpPr>
        <p:sp>
          <p:nvSpPr>
            <p:cNvPr id="16" name="Freeform 16"/>
            <p:cNvSpPr/>
            <p:nvPr/>
          </p:nvSpPr>
          <p:spPr>
            <a:xfrm>
              <a:off x="0" y="0"/>
              <a:ext cx="1259398" cy="970044"/>
            </a:xfrm>
            <a:custGeom>
              <a:avLst/>
              <a:gdLst/>
              <a:ahLst/>
              <a:cxnLst/>
              <a:rect l="l" t="t" r="r" b="b"/>
              <a:pathLst>
                <a:path w="1259398" h="970044">
                  <a:moveTo>
                    <a:pt x="33301" y="0"/>
                  </a:moveTo>
                  <a:lnTo>
                    <a:pt x="1226097" y="0"/>
                  </a:lnTo>
                  <a:cubicBezTo>
                    <a:pt x="1244489" y="0"/>
                    <a:pt x="1259398" y="14909"/>
                    <a:pt x="1259398" y="33301"/>
                  </a:cubicBezTo>
                  <a:lnTo>
                    <a:pt x="1259398" y="936743"/>
                  </a:lnTo>
                  <a:cubicBezTo>
                    <a:pt x="1259398" y="955135"/>
                    <a:pt x="1244489" y="970044"/>
                    <a:pt x="1226097" y="970044"/>
                  </a:cubicBezTo>
                  <a:lnTo>
                    <a:pt x="33301" y="970044"/>
                  </a:lnTo>
                  <a:cubicBezTo>
                    <a:pt x="24469" y="970044"/>
                    <a:pt x="15999" y="966535"/>
                    <a:pt x="9754" y="960290"/>
                  </a:cubicBezTo>
                  <a:cubicBezTo>
                    <a:pt x="3508" y="954045"/>
                    <a:pt x="0" y="945575"/>
                    <a:pt x="0" y="936743"/>
                  </a:cubicBezTo>
                  <a:lnTo>
                    <a:pt x="0" y="33301"/>
                  </a:lnTo>
                  <a:cubicBezTo>
                    <a:pt x="0" y="24469"/>
                    <a:pt x="3508" y="15999"/>
                    <a:pt x="9754" y="9754"/>
                  </a:cubicBezTo>
                  <a:cubicBezTo>
                    <a:pt x="15999" y="3508"/>
                    <a:pt x="24469" y="0"/>
                    <a:pt x="33301" y="0"/>
                  </a:cubicBezTo>
                  <a:close/>
                </a:path>
              </a:pathLst>
            </a:custGeom>
            <a:blipFill>
              <a:blip r:embed="rId4"/>
              <a:stretch>
                <a:fillRect l="-342" r="-342"/>
              </a:stretch>
            </a:blipFill>
          </p:spPr>
        </p:sp>
      </p:grpSp>
      <p:sp>
        <p:nvSpPr>
          <p:cNvPr id="17" name="TextBox 17"/>
          <p:cNvSpPr txBox="1"/>
          <p:nvPr/>
        </p:nvSpPr>
        <p:spPr>
          <a:xfrm>
            <a:off x="1021783" y="8282996"/>
            <a:ext cx="4738234" cy="621736"/>
          </a:xfrm>
          <a:prstGeom prst="rect">
            <a:avLst/>
          </a:prstGeom>
        </p:spPr>
        <p:txBody>
          <a:bodyPr lIns="0" tIns="0" rIns="0" bIns="0" rtlCol="0" anchor="t">
            <a:spAutoFit/>
          </a:bodyPr>
          <a:lstStyle/>
          <a:p>
            <a:pPr marL="0" lvl="0" indent="0" algn="ctr">
              <a:lnSpc>
                <a:spcPts val="2481"/>
              </a:lnSpc>
            </a:pPr>
            <a:r>
              <a:rPr lang="en-US" sz="1772" spc="-26">
                <a:solidFill>
                  <a:srgbClr val="1C1C1C"/>
                </a:solidFill>
                <a:latin typeface="Helvetica World"/>
                <a:ea typeface="Helvetica World"/>
                <a:cs typeface="Helvetica World"/>
                <a:sym typeface="Helvetica World"/>
              </a:rPr>
              <a:t>Understand how algorithms locate data effectively through different searching techniques.</a:t>
            </a:r>
          </a:p>
        </p:txBody>
      </p:sp>
      <p:sp>
        <p:nvSpPr>
          <p:cNvPr id="18" name="TextBox 18"/>
          <p:cNvSpPr txBox="1"/>
          <p:nvPr/>
        </p:nvSpPr>
        <p:spPr>
          <a:xfrm>
            <a:off x="1041066" y="3381375"/>
            <a:ext cx="4699667" cy="543561"/>
          </a:xfrm>
          <a:prstGeom prst="rect">
            <a:avLst/>
          </a:prstGeom>
        </p:spPr>
        <p:txBody>
          <a:bodyPr lIns="0" tIns="0" rIns="0" bIns="0" rtlCol="0" anchor="t">
            <a:spAutoFit/>
          </a:bodyPr>
          <a:lstStyle/>
          <a:p>
            <a:pPr marL="0" lvl="0" indent="0" algn="ctr">
              <a:lnSpc>
                <a:spcPts val="4180"/>
              </a:lnSpc>
              <a:spcBef>
                <a:spcPct val="0"/>
              </a:spcBef>
            </a:pPr>
            <a:r>
              <a:rPr lang="en-US" sz="3800" u="none" strike="noStrike" spc="-95">
                <a:solidFill>
                  <a:srgbClr val="2A3A66"/>
                </a:solidFill>
                <a:latin typeface="Georgia Pro Condensed"/>
                <a:ea typeface="Georgia Pro Condensed"/>
                <a:cs typeface="Georgia Pro Condensed"/>
                <a:sym typeface="Georgia Pro Condensed"/>
              </a:rPr>
              <a:t>Search Algorithms</a:t>
            </a:r>
          </a:p>
        </p:txBody>
      </p:sp>
      <p:sp>
        <p:nvSpPr>
          <p:cNvPr id="19" name="TextBox 19"/>
          <p:cNvSpPr txBox="1"/>
          <p:nvPr/>
        </p:nvSpPr>
        <p:spPr>
          <a:xfrm>
            <a:off x="6773192" y="8282996"/>
            <a:ext cx="4741615" cy="621736"/>
          </a:xfrm>
          <a:prstGeom prst="rect">
            <a:avLst/>
          </a:prstGeom>
        </p:spPr>
        <p:txBody>
          <a:bodyPr lIns="0" tIns="0" rIns="0" bIns="0" rtlCol="0" anchor="t">
            <a:spAutoFit/>
          </a:bodyPr>
          <a:lstStyle/>
          <a:p>
            <a:pPr marL="0" lvl="0" indent="0" algn="ctr">
              <a:lnSpc>
                <a:spcPts val="2481"/>
              </a:lnSpc>
            </a:pPr>
            <a:r>
              <a:rPr lang="en-US" sz="1772" spc="-26">
                <a:solidFill>
                  <a:srgbClr val="1C1C1C"/>
                </a:solidFill>
                <a:latin typeface="Helvetica World"/>
                <a:ea typeface="Helvetica World"/>
                <a:cs typeface="Helvetica World"/>
                <a:sym typeface="Helvetica World"/>
              </a:rPr>
              <a:t>Learn the efficiency differences between linear and binary search methods in data retrieval.</a:t>
            </a:r>
          </a:p>
        </p:txBody>
      </p:sp>
      <p:sp>
        <p:nvSpPr>
          <p:cNvPr id="20" name="TextBox 20"/>
          <p:cNvSpPr txBox="1"/>
          <p:nvPr/>
        </p:nvSpPr>
        <p:spPr>
          <a:xfrm>
            <a:off x="6773192" y="3381375"/>
            <a:ext cx="4741615" cy="543561"/>
          </a:xfrm>
          <a:prstGeom prst="rect">
            <a:avLst/>
          </a:prstGeom>
        </p:spPr>
        <p:txBody>
          <a:bodyPr lIns="0" tIns="0" rIns="0" bIns="0" rtlCol="0" anchor="t">
            <a:spAutoFit/>
          </a:bodyPr>
          <a:lstStyle/>
          <a:p>
            <a:pPr marL="0" lvl="0" indent="0" algn="ctr">
              <a:lnSpc>
                <a:spcPts val="4180"/>
              </a:lnSpc>
              <a:spcBef>
                <a:spcPct val="0"/>
              </a:spcBef>
            </a:pPr>
            <a:r>
              <a:rPr lang="en-US" sz="3800" u="none" strike="noStrike" spc="-95">
                <a:solidFill>
                  <a:srgbClr val="2A3A66"/>
                </a:solidFill>
                <a:latin typeface="Georgia Pro Condensed"/>
                <a:ea typeface="Georgia Pro Condensed"/>
                <a:cs typeface="Georgia Pro Condensed"/>
                <a:sym typeface="Georgia Pro Condensed"/>
              </a:rPr>
              <a:t>Compare Efficiencies</a:t>
            </a:r>
          </a:p>
        </p:txBody>
      </p:sp>
      <p:sp>
        <p:nvSpPr>
          <p:cNvPr id="21" name="TextBox 21"/>
          <p:cNvSpPr txBox="1"/>
          <p:nvPr/>
        </p:nvSpPr>
        <p:spPr>
          <a:xfrm>
            <a:off x="12551109" y="8281844"/>
            <a:ext cx="4691983" cy="621736"/>
          </a:xfrm>
          <a:prstGeom prst="rect">
            <a:avLst/>
          </a:prstGeom>
        </p:spPr>
        <p:txBody>
          <a:bodyPr lIns="0" tIns="0" rIns="0" bIns="0" rtlCol="0" anchor="t">
            <a:spAutoFit/>
          </a:bodyPr>
          <a:lstStyle/>
          <a:p>
            <a:pPr marL="0" lvl="0" indent="0" algn="ctr">
              <a:lnSpc>
                <a:spcPts val="2481"/>
              </a:lnSpc>
            </a:pPr>
            <a:r>
              <a:rPr lang="en-US" sz="1772" spc="-26">
                <a:solidFill>
                  <a:srgbClr val="1C1C1C"/>
                </a:solidFill>
                <a:latin typeface="Helvetica World"/>
                <a:ea typeface="Helvetica World"/>
                <a:cs typeface="Helvetica World"/>
                <a:sym typeface="Helvetica World"/>
              </a:rPr>
              <a:t>Understand the basics of bubble sort and how it organizes data through comparisons.</a:t>
            </a:r>
          </a:p>
        </p:txBody>
      </p:sp>
      <p:sp>
        <p:nvSpPr>
          <p:cNvPr id="22" name="TextBox 22"/>
          <p:cNvSpPr txBox="1"/>
          <p:nvPr/>
        </p:nvSpPr>
        <p:spPr>
          <a:xfrm>
            <a:off x="12551109" y="3381375"/>
            <a:ext cx="4691983" cy="543561"/>
          </a:xfrm>
          <a:prstGeom prst="rect">
            <a:avLst/>
          </a:prstGeom>
        </p:spPr>
        <p:txBody>
          <a:bodyPr lIns="0" tIns="0" rIns="0" bIns="0" rtlCol="0" anchor="t">
            <a:spAutoFit/>
          </a:bodyPr>
          <a:lstStyle/>
          <a:p>
            <a:pPr marL="0" lvl="0" indent="0" algn="ctr">
              <a:lnSpc>
                <a:spcPts val="4180"/>
              </a:lnSpc>
            </a:pPr>
            <a:r>
              <a:rPr lang="en-US" sz="3800" spc="-95">
                <a:solidFill>
                  <a:srgbClr val="2A3A66"/>
                </a:solidFill>
                <a:latin typeface="Georgia Pro Condensed"/>
                <a:ea typeface="Georgia Pro Condensed"/>
                <a:cs typeface="Georgia Pro Condensed"/>
                <a:sym typeface="Georgia Pro Condensed"/>
              </a:rPr>
              <a:t>Bubble Sort</a:t>
            </a:r>
          </a:p>
        </p:txBody>
      </p:sp>
      <p:sp>
        <p:nvSpPr>
          <p:cNvPr id="23" name="TextBox 23"/>
          <p:cNvSpPr txBox="1"/>
          <p:nvPr/>
        </p:nvSpPr>
        <p:spPr>
          <a:xfrm>
            <a:off x="666750" y="809625"/>
            <a:ext cx="16954500" cy="1069976"/>
          </a:xfrm>
          <a:prstGeom prst="rect">
            <a:avLst/>
          </a:prstGeom>
        </p:spPr>
        <p:txBody>
          <a:bodyPr lIns="0" tIns="0" rIns="0" bIns="0" rtlCol="0" anchor="t">
            <a:spAutoFit/>
          </a:bodyPr>
          <a:lstStyle/>
          <a:p>
            <a:pPr marL="0" lvl="0" indent="0" algn="ctr">
              <a:lnSpc>
                <a:spcPts val="8000"/>
              </a:lnSpc>
            </a:pPr>
            <a:r>
              <a:rPr lang="en-US" sz="8000" spc="-200">
                <a:solidFill>
                  <a:srgbClr val="F4F6F8"/>
                </a:solidFill>
                <a:latin typeface="Georgia Pro Condensed"/>
                <a:ea typeface="Georgia Pro Condensed"/>
                <a:cs typeface="Georgia Pro Condensed"/>
                <a:sym typeface="Georgia Pro Condensed"/>
              </a:rPr>
              <a:t>Learning Objectives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p:cNvGrpSpPr/>
        <p:nvPr/>
      </p:nvGrpSpPr>
      <p:grpSpPr>
        <a:xfrm>
          <a:off x="0" y="0"/>
          <a:ext cx="0" cy="0"/>
          <a:chOff x="0" y="0"/>
          <a:chExt cx="0" cy="0"/>
        </a:xfrm>
      </p:grpSpPr>
      <p:sp>
        <p:nvSpPr>
          <p:cNvPr id="2" name="TextBox 2"/>
          <p:cNvSpPr txBox="1"/>
          <p:nvPr/>
        </p:nvSpPr>
        <p:spPr>
          <a:xfrm>
            <a:off x="17259300" y="9201150"/>
            <a:ext cx="152400" cy="209550"/>
          </a:xfrm>
          <a:prstGeom prst="rect">
            <a:avLst/>
          </a:prstGeom>
        </p:spPr>
        <p:txBody>
          <a:bodyPr wrap="none" lIns="0" tIns="0" rIns="0" bIns="0" rtlCol="0" anchor="t">
            <a:spAutoFit/>
          </a:bodyPr>
          <a:lstStyle/>
          <a:p>
            <a:pPr marL="0" lvl="0" indent="0" algn="ctr">
              <a:lnSpc>
                <a:spcPts val="2800"/>
              </a:lnSpc>
              <a:spcBef>
                <a:spcPct val="0"/>
              </a:spcBef>
            </a:pPr>
            <a:r>
              <a:rPr lang="en-US" sz="2000">
                <a:solidFill>
                  <a:srgbClr val="1C1C1C"/>
                </a:solidFill>
                <a:latin typeface="Helvetica World"/>
                <a:ea typeface="Helvetica World"/>
                <a:cs typeface="Helvetica World"/>
                <a:sym typeface="Helvetica World"/>
              </a:rPr>
              <a:t>4</a:t>
            </a:r>
          </a:p>
        </p:txBody>
      </p:sp>
      <p:grpSp>
        <p:nvGrpSpPr>
          <p:cNvPr id="3" name="Group 3"/>
          <p:cNvGrpSpPr/>
          <p:nvPr/>
        </p:nvGrpSpPr>
        <p:grpSpPr>
          <a:xfrm>
            <a:off x="666750" y="666750"/>
            <a:ext cx="16954500" cy="8953500"/>
            <a:chOff x="0" y="0"/>
            <a:chExt cx="4465383" cy="2358123"/>
          </a:xfrm>
        </p:grpSpPr>
        <p:sp>
          <p:nvSpPr>
            <p:cNvPr id="4" name="Freeform 4"/>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BCCFFE"/>
            </a:solidFill>
            <a:ln cap="rnd">
              <a:noFill/>
              <a:prstDash val="solid"/>
              <a:round/>
            </a:ln>
          </p:spPr>
        </p:sp>
        <p:sp>
          <p:nvSpPr>
            <p:cNvPr id="5" name="TextBox 5"/>
            <p:cNvSpPr txBox="1"/>
            <p:nvPr/>
          </p:nvSpPr>
          <p:spPr>
            <a:xfrm>
              <a:off x="0" y="-57150"/>
              <a:ext cx="4465383" cy="2415273"/>
            </a:xfrm>
            <a:prstGeom prst="rect">
              <a:avLst/>
            </a:prstGeom>
          </p:spPr>
          <p:txBody>
            <a:bodyPr lIns="50800" tIns="50800" rIns="50800" bIns="50800" rtlCol="0" anchor="ctr"/>
            <a:lstStyle/>
            <a:p>
              <a:pPr marL="0" lvl="0" indent="0" algn="ctr">
                <a:lnSpc>
                  <a:spcPts val="3359"/>
                </a:lnSpc>
                <a:spcBef>
                  <a:spcPct val="0"/>
                </a:spcBef>
              </a:pPr>
              <a:endParaRPr/>
            </a:p>
          </p:txBody>
        </p:sp>
      </p:grpSp>
      <p:grpSp>
        <p:nvGrpSpPr>
          <p:cNvPr id="6" name="Group 6"/>
          <p:cNvGrpSpPr/>
          <p:nvPr/>
        </p:nvGrpSpPr>
        <p:grpSpPr>
          <a:xfrm>
            <a:off x="1800225" y="1562100"/>
            <a:ext cx="13249275" cy="2067009"/>
            <a:chOff x="0" y="0"/>
            <a:chExt cx="17665700" cy="2756012"/>
          </a:xfrm>
        </p:grpSpPr>
        <p:sp>
          <p:nvSpPr>
            <p:cNvPr id="7" name="TextBox 7"/>
            <p:cNvSpPr txBox="1"/>
            <p:nvPr/>
          </p:nvSpPr>
          <p:spPr>
            <a:xfrm>
              <a:off x="0" y="-85725"/>
              <a:ext cx="17665700" cy="1702858"/>
            </a:xfrm>
            <a:prstGeom prst="rect">
              <a:avLst/>
            </a:prstGeom>
          </p:spPr>
          <p:txBody>
            <a:bodyPr lIns="0" tIns="0" rIns="0" bIns="0" rtlCol="0" anchor="t">
              <a:spAutoFit/>
            </a:bodyPr>
            <a:lstStyle/>
            <a:p>
              <a:pPr marL="0" lvl="0" indent="0" algn="l">
                <a:lnSpc>
                  <a:spcPts val="10400"/>
                </a:lnSpc>
              </a:pPr>
              <a:r>
                <a:rPr lang="en-US" sz="8000" spc="-240">
                  <a:solidFill>
                    <a:srgbClr val="2A3A66"/>
                  </a:solidFill>
                  <a:latin typeface="Georgia Pro Condensed"/>
                  <a:ea typeface="Georgia Pro Condensed"/>
                  <a:cs typeface="Georgia Pro Condensed"/>
                  <a:sym typeface="Georgia Pro Condensed"/>
                </a:rPr>
                <a:t>Linear Search</a:t>
              </a:r>
            </a:p>
          </p:txBody>
        </p:sp>
        <p:sp>
          <p:nvSpPr>
            <p:cNvPr id="8" name="TextBox 8"/>
            <p:cNvSpPr txBox="1"/>
            <p:nvPr/>
          </p:nvSpPr>
          <p:spPr>
            <a:xfrm>
              <a:off x="0" y="2187687"/>
              <a:ext cx="17665700" cy="568325"/>
            </a:xfrm>
            <a:prstGeom prst="rect">
              <a:avLst/>
            </a:prstGeom>
          </p:spPr>
          <p:txBody>
            <a:bodyPr lIns="0" tIns="0" rIns="0" bIns="0" rtlCol="0" anchor="t">
              <a:spAutoFit/>
            </a:bodyPr>
            <a:lstStyle/>
            <a:p>
              <a:pPr marL="0" lvl="0" indent="0" algn="l">
                <a:lnSpc>
                  <a:spcPts val="3000"/>
                </a:lnSpc>
                <a:spcBef>
                  <a:spcPct val="0"/>
                </a:spcBef>
              </a:pPr>
              <a:r>
                <a:rPr lang="en-US" sz="2500" b="1" spc="-37">
                  <a:solidFill>
                    <a:srgbClr val="2A3A66"/>
                  </a:solidFill>
                  <a:latin typeface="Helvetica World Bold"/>
                  <a:ea typeface="Helvetica World Bold"/>
                  <a:cs typeface="Helvetica World Bold"/>
                  <a:sym typeface="Helvetica World Bold"/>
                </a:rPr>
                <a:t>Sequential Scanning for Data Retrieval</a:t>
              </a:r>
            </a:p>
          </p:txBody>
        </p:sp>
      </p:grpSp>
      <p:grpSp>
        <p:nvGrpSpPr>
          <p:cNvPr id="9" name="Group 9"/>
          <p:cNvGrpSpPr/>
          <p:nvPr/>
        </p:nvGrpSpPr>
        <p:grpSpPr>
          <a:xfrm>
            <a:off x="1800225" y="5143500"/>
            <a:ext cx="4308497" cy="2197100"/>
            <a:chOff x="0" y="0"/>
            <a:chExt cx="5744662" cy="2929467"/>
          </a:xfrm>
        </p:grpSpPr>
        <p:sp>
          <p:nvSpPr>
            <p:cNvPr id="10" name="TextBox 10"/>
            <p:cNvSpPr txBox="1"/>
            <p:nvPr/>
          </p:nvSpPr>
          <p:spPr>
            <a:xfrm>
              <a:off x="0" y="0"/>
              <a:ext cx="5744662" cy="533400"/>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2A3A66"/>
                  </a:solidFill>
                  <a:latin typeface="Helvetica World Bold"/>
                  <a:ea typeface="Helvetica World Bold"/>
                  <a:cs typeface="Helvetica World Bold"/>
                  <a:sym typeface="Helvetica World Bold"/>
                </a:rPr>
                <a:t>Definition</a:t>
              </a:r>
            </a:p>
          </p:txBody>
        </p:sp>
        <p:sp>
          <p:nvSpPr>
            <p:cNvPr id="11" name="TextBox 11"/>
            <p:cNvSpPr txBox="1"/>
            <p:nvPr/>
          </p:nvSpPr>
          <p:spPr>
            <a:xfrm>
              <a:off x="0" y="1060450"/>
              <a:ext cx="5744662" cy="1869017"/>
            </a:xfrm>
            <a:prstGeom prst="rect">
              <a:avLst/>
            </a:prstGeom>
          </p:spPr>
          <p:txBody>
            <a:bodyPr lIns="0" tIns="0" rIns="0" bIns="0" rtlCol="0" anchor="t">
              <a:spAutoFit/>
            </a:bodyPr>
            <a:lstStyle/>
            <a:p>
              <a:pPr marL="0" lvl="0" indent="0" algn="l">
                <a:lnSpc>
                  <a:spcPts val="2800"/>
                </a:lnSpc>
              </a:pPr>
              <a:r>
                <a:rPr lang="en-US" sz="2000" u="none" strike="noStrike" spc="-30">
                  <a:solidFill>
                    <a:srgbClr val="1C1C1C"/>
                  </a:solidFill>
                  <a:latin typeface="Helvetica World"/>
                  <a:ea typeface="Helvetica World"/>
                  <a:cs typeface="Helvetica World"/>
                  <a:sym typeface="Helvetica World"/>
                </a:rPr>
                <a:t>Linear search is a straightforward algorithm that checks each element in a list sequentially until it finds the target value or reaches the end of the list.</a:t>
              </a:r>
            </a:p>
          </p:txBody>
        </p:sp>
      </p:grpSp>
      <p:grpSp>
        <p:nvGrpSpPr>
          <p:cNvPr id="12" name="Group 12"/>
          <p:cNvGrpSpPr/>
          <p:nvPr/>
        </p:nvGrpSpPr>
        <p:grpSpPr>
          <a:xfrm>
            <a:off x="7291388" y="5143500"/>
            <a:ext cx="4010025" cy="2549525"/>
            <a:chOff x="0" y="0"/>
            <a:chExt cx="5346700" cy="3399367"/>
          </a:xfrm>
        </p:grpSpPr>
        <p:sp>
          <p:nvSpPr>
            <p:cNvPr id="13" name="TextBox 13"/>
            <p:cNvSpPr txBox="1"/>
            <p:nvPr/>
          </p:nvSpPr>
          <p:spPr>
            <a:xfrm>
              <a:off x="0" y="0"/>
              <a:ext cx="5346700" cy="533400"/>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2A3A66"/>
                  </a:solidFill>
                  <a:latin typeface="Helvetica World Bold"/>
                  <a:ea typeface="Helvetica World Bold"/>
                  <a:cs typeface="Helvetica World Bold"/>
                  <a:sym typeface="Helvetica World Bold"/>
                </a:rPr>
                <a:t>Simple Mechanism</a:t>
              </a:r>
            </a:p>
          </p:txBody>
        </p:sp>
        <p:sp>
          <p:nvSpPr>
            <p:cNvPr id="14" name="TextBox 14"/>
            <p:cNvSpPr txBox="1"/>
            <p:nvPr/>
          </p:nvSpPr>
          <p:spPr>
            <a:xfrm>
              <a:off x="0" y="1060450"/>
              <a:ext cx="5346700" cy="2338917"/>
            </a:xfrm>
            <a:prstGeom prst="rect">
              <a:avLst/>
            </a:prstGeom>
          </p:spPr>
          <p:txBody>
            <a:bodyPr lIns="0" tIns="0" rIns="0" bIns="0" rtlCol="0" anchor="t">
              <a:spAutoFit/>
            </a:bodyPr>
            <a:lstStyle/>
            <a:p>
              <a:pPr marL="0" lvl="0" indent="0" algn="l">
                <a:lnSpc>
                  <a:spcPts val="2800"/>
                </a:lnSpc>
              </a:pPr>
              <a:r>
                <a:rPr lang="en-US" sz="2000" u="none" strike="noStrike" spc="-30">
                  <a:solidFill>
                    <a:srgbClr val="1C1C1C"/>
                  </a:solidFill>
                  <a:latin typeface="Helvetica World"/>
                  <a:ea typeface="Helvetica World"/>
                  <a:cs typeface="Helvetica World"/>
                  <a:sym typeface="Helvetica World"/>
                </a:rPr>
                <a:t>This method is easy to implement but can be inefficient for large datasets, as it might require examining every single item before locating the desired information.</a:t>
              </a:r>
            </a:p>
          </p:txBody>
        </p:sp>
      </p:grpSp>
      <p:grpSp>
        <p:nvGrpSpPr>
          <p:cNvPr id="15" name="Group 15"/>
          <p:cNvGrpSpPr/>
          <p:nvPr/>
        </p:nvGrpSpPr>
        <p:grpSpPr>
          <a:xfrm>
            <a:off x="12172950" y="5143500"/>
            <a:ext cx="4010025" cy="2549525"/>
            <a:chOff x="0" y="0"/>
            <a:chExt cx="5346700" cy="3399367"/>
          </a:xfrm>
        </p:grpSpPr>
        <p:sp>
          <p:nvSpPr>
            <p:cNvPr id="16" name="TextBox 16"/>
            <p:cNvSpPr txBox="1"/>
            <p:nvPr/>
          </p:nvSpPr>
          <p:spPr>
            <a:xfrm>
              <a:off x="0" y="0"/>
              <a:ext cx="5346700" cy="533400"/>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2A3A66"/>
                  </a:solidFill>
                  <a:latin typeface="Helvetica World Bold"/>
                  <a:ea typeface="Helvetica World Bold"/>
                  <a:cs typeface="Helvetica World Bold"/>
                  <a:sym typeface="Helvetica World Bold"/>
                </a:rPr>
                <a:t>Use Cases</a:t>
              </a:r>
            </a:p>
          </p:txBody>
        </p:sp>
        <p:sp>
          <p:nvSpPr>
            <p:cNvPr id="17" name="TextBox 17"/>
            <p:cNvSpPr txBox="1"/>
            <p:nvPr/>
          </p:nvSpPr>
          <p:spPr>
            <a:xfrm>
              <a:off x="0" y="1060450"/>
              <a:ext cx="5346700" cy="2338917"/>
            </a:xfrm>
            <a:prstGeom prst="rect">
              <a:avLst/>
            </a:prstGeom>
          </p:spPr>
          <p:txBody>
            <a:bodyPr lIns="0" tIns="0" rIns="0" bIns="0" rtlCol="0" anchor="t">
              <a:spAutoFit/>
            </a:bodyPr>
            <a:lstStyle/>
            <a:p>
              <a:pPr marL="0" lvl="0" indent="0" algn="l">
                <a:lnSpc>
                  <a:spcPts val="2800"/>
                </a:lnSpc>
              </a:pPr>
              <a:r>
                <a:rPr lang="en-US" sz="2000" u="none" strike="noStrike" spc="-30">
                  <a:solidFill>
                    <a:srgbClr val="1C1C1C"/>
                  </a:solidFill>
                  <a:latin typeface="Helvetica World"/>
                  <a:ea typeface="Helvetica World"/>
                  <a:cs typeface="Helvetica World"/>
                  <a:sym typeface="Helvetica World"/>
                </a:rPr>
                <a:t>Linear search is particularly useful for small or unsorted datasets where quick implementation is necessary, making it an ideal choice for simple search tasks.</a:t>
              </a:r>
            </a:p>
          </p:txBody>
        </p:sp>
      </p:grpSp>
      <p:sp>
        <p:nvSpPr>
          <p:cNvPr id="18" name="Freeform 18"/>
          <p:cNvSpPr/>
          <p:nvPr/>
        </p:nvSpPr>
        <p:spPr>
          <a:xfrm rot="-3117037">
            <a:off x="16099474" y="7952721"/>
            <a:ext cx="2112604" cy="1859092"/>
          </a:xfrm>
          <a:custGeom>
            <a:avLst/>
            <a:gdLst/>
            <a:ahLst/>
            <a:cxnLst/>
            <a:rect l="l" t="t" r="r" b="b"/>
            <a:pathLst>
              <a:path w="2112604" h="1859092">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A9BCEB"/>
        </a:solidFill>
        <a:effectLst/>
      </p:bgPr>
    </p:bg>
    <p:spTree>
      <p:nvGrpSpPr>
        <p:cNvPr id="1" name=""/>
        <p:cNvGrpSpPr/>
        <p:nvPr/>
      </p:nvGrpSpPr>
      <p:grpSpPr>
        <a:xfrm>
          <a:off x="0" y="0"/>
          <a:ext cx="0" cy="0"/>
          <a:chOff x="0" y="0"/>
          <a:chExt cx="0" cy="0"/>
        </a:xfrm>
      </p:grpSpPr>
      <p:sp>
        <p:nvSpPr>
          <p:cNvPr id="2" name="TextBox 2"/>
          <p:cNvSpPr txBox="1"/>
          <p:nvPr/>
        </p:nvSpPr>
        <p:spPr>
          <a:xfrm>
            <a:off x="17259300" y="9201150"/>
            <a:ext cx="152400" cy="209550"/>
          </a:xfrm>
          <a:prstGeom prst="rect">
            <a:avLst/>
          </a:prstGeom>
        </p:spPr>
        <p:txBody>
          <a:bodyPr wrap="none" lIns="0" tIns="0" rIns="0" bIns="0" rtlCol="0" anchor="t">
            <a:spAutoFit/>
          </a:bodyPr>
          <a:lstStyle/>
          <a:p>
            <a:pPr marL="0" lvl="0" indent="0" algn="ctr">
              <a:lnSpc>
                <a:spcPts val="2800"/>
              </a:lnSpc>
              <a:spcBef>
                <a:spcPct val="0"/>
              </a:spcBef>
            </a:pPr>
            <a:r>
              <a:rPr lang="en-US" sz="2000">
                <a:solidFill>
                  <a:srgbClr val="1C1C1C"/>
                </a:solidFill>
                <a:latin typeface="Helvetica World"/>
                <a:ea typeface="Helvetica World"/>
                <a:cs typeface="Helvetica World"/>
                <a:sym typeface="Helvetica World"/>
              </a:rPr>
              <a:t>5</a:t>
            </a:r>
          </a:p>
        </p:txBody>
      </p:sp>
      <p:grpSp>
        <p:nvGrpSpPr>
          <p:cNvPr id="3" name="Group 3"/>
          <p:cNvGrpSpPr/>
          <p:nvPr/>
        </p:nvGrpSpPr>
        <p:grpSpPr>
          <a:xfrm>
            <a:off x="666750" y="666750"/>
            <a:ext cx="16954500" cy="8953500"/>
            <a:chOff x="0" y="0"/>
            <a:chExt cx="4465383" cy="2358123"/>
          </a:xfrm>
        </p:grpSpPr>
        <p:sp>
          <p:nvSpPr>
            <p:cNvPr id="4" name="Freeform 4"/>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F4F6F8"/>
            </a:solidFill>
            <a:ln cap="rnd">
              <a:noFill/>
              <a:prstDash val="solid"/>
              <a:round/>
            </a:ln>
          </p:spPr>
        </p:sp>
        <p:sp>
          <p:nvSpPr>
            <p:cNvPr id="5" name="TextBox 5"/>
            <p:cNvSpPr txBox="1"/>
            <p:nvPr/>
          </p:nvSpPr>
          <p:spPr>
            <a:xfrm>
              <a:off x="0" y="-57150"/>
              <a:ext cx="4465383" cy="2415273"/>
            </a:xfrm>
            <a:prstGeom prst="rect">
              <a:avLst/>
            </a:prstGeom>
          </p:spPr>
          <p:txBody>
            <a:bodyPr lIns="50800" tIns="50800" rIns="50800" bIns="50800" rtlCol="0" anchor="ctr"/>
            <a:lstStyle/>
            <a:p>
              <a:pPr marL="0" lvl="0" indent="0" algn="ctr">
                <a:lnSpc>
                  <a:spcPts val="3359"/>
                </a:lnSpc>
                <a:spcBef>
                  <a:spcPct val="0"/>
                </a:spcBef>
              </a:pPr>
              <a:endParaRPr/>
            </a:p>
          </p:txBody>
        </p:sp>
      </p:grpSp>
      <p:grpSp>
        <p:nvGrpSpPr>
          <p:cNvPr id="6" name="Group 6"/>
          <p:cNvGrpSpPr/>
          <p:nvPr/>
        </p:nvGrpSpPr>
        <p:grpSpPr>
          <a:xfrm>
            <a:off x="1800225" y="1562100"/>
            <a:ext cx="13249275" cy="2067009"/>
            <a:chOff x="0" y="0"/>
            <a:chExt cx="17665700" cy="2756012"/>
          </a:xfrm>
        </p:grpSpPr>
        <p:sp>
          <p:nvSpPr>
            <p:cNvPr id="7" name="TextBox 7"/>
            <p:cNvSpPr txBox="1"/>
            <p:nvPr/>
          </p:nvSpPr>
          <p:spPr>
            <a:xfrm>
              <a:off x="0" y="-85725"/>
              <a:ext cx="17665700" cy="1702858"/>
            </a:xfrm>
            <a:prstGeom prst="rect">
              <a:avLst/>
            </a:prstGeom>
          </p:spPr>
          <p:txBody>
            <a:bodyPr lIns="0" tIns="0" rIns="0" bIns="0" rtlCol="0" anchor="t">
              <a:spAutoFit/>
            </a:bodyPr>
            <a:lstStyle/>
            <a:p>
              <a:pPr marL="0" lvl="0" indent="0" algn="l">
                <a:lnSpc>
                  <a:spcPts val="10400"/>
                </a:lnSpc>
              </a:pPr>
              <a:r>
                <a:rPr lang="en-US" sz="8000" spc="-240">
                  <a:solidFill>
                    <a:srgbClr val="2A3A66"/>
                  </a:solidFill>
                  <a:latin typeface="Georgia Pro Condensed"/>
                  <a:ea typeface="Georgia Pro Condensed"/>
                  <a:cs typeface="Georgia Pro Condensed"/>
                  <a:sym typeface="Georgia Pro Condensed"/>
                </a:rPr>
                <a:t>Binary Search</a:t>
              </a:r>
            </a:p>
          </p:txBody>
        </p:sp>
        <p:sp>
          <p:nvSpPr>
            <p:cNvPr id="8" name="TextBox 8"/>
            <p:cNvSpPr txBox="1"/>
            <p:nvPr/>
          </p:nvSpPr>
          <p:spPr>
            <a:xfrm>
              <a:off x="0" y="2187687"/>
              <a:ext cx="17665700" cy="568325"/>
            </a:xfrm>
            <a:prstGeom prst="rect">
              <a:avLst/>
            </a:prstGeom>
          </p:spPr>
          <p:txBody>
            <a:bodyPr lIns="0" tIns="0" rIns="0" bIns="0" rtlCol="0" anchor="t">
              <a:spAutoFit/>
            </a:bodyPr>
            <a:lstStyle/>
            <a:p>
              <a:pPr marL="0" lvl="0" indent="0" algn="l">
                <a:lnSpc>
                  <a:spcPts val="3000"/>
                </a:lnSpc>
                <a:spcBef>
                  <a:spcPct val="0"/>
                </a:spcBef>
              </a:pPr>
              <a:r>
                <a:rPr lang="en-US" sz="2500" b="1" spc="-37">
                  <a:solidFill>
                    <a:srgbClr val="2A3A66"/>
                  </a:solidFill>
                  <a:latin typeface="Helvetica World Bold"/>
                  <a:ea typeface="Helvetica World Bold"/>
                  <a:cs typeface="Helvetica World Bold"/>
                  <a:sym typeface="Helvetica World Bold"/>
                </a:rPr>
                <a:t>Divide and Conquer Method Explained</a:t>
              </a:r>
            </a:p>
          </p:txBody>
        </p:sp>
      </p:grpSp>
      <p:grpSp>
        <p:nvGrpSpPr>
          <p:cNvPr id="9" name="Group 9"/>
          <p:cNvGrpSpPr/>
          <p:nvPr/>
        </p:nvGrpSpPr>
        <p:grpSpPr>
          <a:xfrm>
            <a:off x="1800225" y="5143500"/>
            <a:ext cx="4308497" cy="2197100"/>
            <a:chOff x="0" y="0"/>
            <a:chExt cx="5744662" cy="2929467"/>
          </a:xfrm>
        </p:grpSpPr>
        <p:sp>
          <p:nvSpPr>
            <p:cNvPr id="10" name="TextBox 10"/>
            <p:cNvSpPr txBox="1"/>
            <p:nvPr/>
          </p:nvSpPr>
          <p:spPr>
            <a:xfrm>
              <a:off x="0" y="0"/>
              <a:ext cx="5744662" cy="533400"/>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2A3A66"/>
                  </a:solidFill>
                  <a:latin typeface="Helvetica World Bold"/>
                  <a:ea typeface="Helvetica World Bold"/>
                  <a:cs typeface="Helvetica World Bold"/>
                  <a:sym typeface="Helvetica World Bold"/>
                </a:rPr>
                <a:t>Definition</a:t>
              </a:r>
            </a:p>
          </p:txBody>
        </p:sp>
        <p:sp>
          <p:nvSpPr>
            <p:cNvPr id="11" name="TextBox 11"/>
            <p:cNvSpPr txBox="1"/>
            <p:nvPr/>
          </p:nvSpPr>
          <p:spPr>
            <a:xfrm>
              <a:off x="0" y="1060450"/>
              <a:ext cx="5744662" cy="1869017"/>
            </a:xfrm>
            <a:prstGeom prst="rect">
              <a:avLst/>
            </a:prstGeom>
          </p:spPr>
          <p:txBody>
            <a:bodyPr lIns="0" tIns="0" rIns="0" bIns="0" rtlCol="0" anchor="t">
              <a:spAutoFit/>
            </a:bodyPr>
            <a:lstStyle/>
            <a:p>
              <a:pPr marL="0" lvl="0" indent="0" algn="l">
                <a:lnSpc>
                  <a:spcPts val="2800"/>
                </a:lnSpc>
              </a:pPr>
              <a:r>
                <a:rPr lang="en-US" sz="2000" u="none" strike="noStrike" spc="-30">
                  <a:solidFill>
                    <a:srgbClr val="1C1C1C"/>
                  </a:solidFill>
                  <a:latin typeface="Helvetica World"/>
                  <a:ea typeface="Helvetica World"/>
                  <a:cs typeface="Helvetica World"/>
                  <a:sym typeface="Helvetica World"/>
                </a:rPr>
                <a:t>Binary search is a fast search algorithm that finds the position of a target value within a sorted array, using a divide-and-conquer strategy for efficiency.</a:t>
              </a:r>
            </a:p>
          </p:txBody>
        </p:sp>
      </p:grpSp>
      <p:grpSp>
        <p:nvGrpSpPr>
          <p:cNvPr id="12" name="Group 12"/>
          <p:cNvGrpSpPr/>
          <p:nvPr/>
        </p:nvGrpSpPr>
        <p:grpSpPr>
          <a:xfrm>
            <a:off x="7291388" y="5143500"/>
            <a:ext cx="4010025" cy="2549525"/>
            <a:chOff x="0" y="0"/>
            <a:chExt cx="5346700" cy="3399367"/>
          </a:xfrm>
        </p:grpSpPr>
        <p:sp>
          <p:nvSpPr>
            <p:cNvPr id="13" name="TextBox 13"/>
            <p:cNvSpPr txBox="1"/>
            <p:nvPr/>
          </p:nvSpPr>
          <p:spPr>
            <a:xfrm>
              <a:off x="0" y="0"/>
              <a:ext cx="5346700" cy="533400"/>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2A3A66"/>
                  </a:solidFill>
                  <a:latin typeface="Helvetica World Bold"/>
                  <a:ea typeface="Helvetica World Bold"/>
                  <a:cs typeface="Helvetica World Bold"/>
                  <a:sym typeface="Helvetica World Bold"/>
                </a:rPr>
                <a:t>Mechanism</a:t>
              </a:r>
            </a:p>
          </p:txBody>
        </p:sp>
        <p:sp>
          <p:nvSpPr>
            <p:cNvPr id="14" name="TextBox 14"/>
            <p:cNvSpPr txBox="1"/>
            <p:nvPr/>
          </p:nvSpPr>
          <p:spPr>
            <a:xfrm>
              <a:off x="0" y="1060450"/>
              <a:ext cx="5346700" cy="2338917"/>
            </a:xfrm>
            <a:prstGeom prst="rect">
              <a:avLst/>
            </a:prstGeom>
          </p:spPr>
          <p:txBody>
            <a:bodyPr lIns="0" tIns="0" rIns="0" bIns="0" rtlCol="0" anchor="t">
              <a:spAutoFit/>
            </a:bodyPr>
            <a:lstStyle/>
            <a:p>
              <a:pPr marL="0" lvl="0" indent="0" algn="l">
                <a:lnSpc>
                  <a:spcPts val="2800"/>
                </a:lnSpc>
              </a:pPr>
              <a:r>
                <a:rPr lang="en-US" sz="2000" u="none" strike="noStrike" spc="-30">
                  <a:solidFill>
                    <a:srgbClr val="1C1C1C"/>
                  </a:solidFill>
                  <a:latin typeface="Helvetica World"/>
                  <a:ea typeface="Helvetica World"/>
                  <a:cs typeface="Helvetica World"/>
                  <a:sym typeface="Helvetica World"/>
                </a:rPr>
                <a:t>The algorithm repeatedly divides the search interval in half; comparing the target value to the middle element, it narrows down the potential location until the target is found.</a:t>
              </a:r>
            </a:p>
          </p:txBody>
        </p:sp>
      </p:grpSp>
      <p:grpSp>
        <p:nvGrpSpPr>
          <p:cNvPr id="15" name="Group 15"/>
          <p:cNvGrpSpPr/>
          <p:nvPr/>
        </p:nvGrpSpPr>
        <p:grpSpPr>
          <a:xfrm>
            <a:off x="12172950" y="5143500"/>
            <a:ext cx="4010025" cy="2901950"/>
            <a:chOff x="0" y="0"/>
            <a:chExt cx="5346700" cy="3869267"/>
          </a:xfrm>
        </p:grpSpPr>
        <p:sp>
          <p:nvSpPr>
            <p:cNvPr id="16" name="TextBox 16"/>
            <p:cNvSpPr txBox="1"/>
            <p:nvPr/>
          </p:nvSpPr>
          <p:spPr>
            <a:xfrm>
              <a:off x="0" y="0"/>
              <a:ext cx="5346700" cy="533400"/>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2A3A66"/>
                  </a:solidFill>
                  <a:latin typeface="Helvetica World Bold"/>
                  <a:ea typeface="Helvetica World Bold"/>
                  <a:cs typeface="Helvetica World Bold"/>
                  <a:sym typeface="Helvetica World Bold"/>
                </a:rPr>
                <a:t>Requirements</a:t>
              </a:r>
            </a:p>
          </p:txBody>
        </p:sp>
        <p:sp>
          <p:nvSpPr>
            <p:cNvPr id="17" name="TextBox 17"/>
            <p:cNvSpPr txBox="1"/>
            <p:nvPr/>
          </p:nvSpPr>
          <p:spPr>
            <a:xfrm>
              <a:off x="0" y="1060450"/>
              <a:ext cx="5346700" cy="2808817"/>
            </a:xfrm>
            <a:prstGeom prst="rect">
              <a:avLst/>
            </a:prstGeom>
          </p:spPr>
          <p:txBody>
            <a:bodyPr lIns="0" tIns="0" rIns="0" bIns="0" rtlCol="0" anchor="t">
              <a:spAutoFit/>
            </a:bodyPr>
            <a:lstStyle/>
            <a:p>
              <a:pPr marL="0" lvl="0" indent="0" algn="l">
                <a:lnSpc>
                  <a:spcPts val="2800"/>
                </a:lnSpc>
              </a:pPr>
              <a:r>
                <a:rPr lang="en-US" sz="2000" u="none" strike="noStrike" spc="-30">
                  <a:solidFill>
                    <a:srgbClr val="1C1C1C"/>
                  </a:solidFill>
                  <a:latin typeface="Helvetica World"/>
                  <a:ea typeface="Helvetica World"/>
                  <a:cs typeface="Helvetica World"/>
                  <a:sym typeface="Helvetica World"/>
                </a:rPr>
                <a:t>For binary search to work, the data must be sorted beforehand; this prerequisite allows the algorithm to efficiently eliminate half of the remaining elements with each comparison.</a:t>
              </a:r>
            </a:p>
          </p:txBody>
        </p:sp>
      </p:grpSp>
      <p:sp>
        <p:nvSpPr>
          <p:cNvPr id="18" name="Freeform 18"/>
          <p:cNvSpPr/>
          <p:nvPr/>
        </p:nvSpPr>
        <p:spPr>
          <a:xfrm rot="-3117037">
            <a:off x="16099474" y="7952721"/>
            <a:ext cx="2112604" cy="1859092"/>
          </a:xfrm>
          <a:custGeom>
            <a:avLst/>
            <a:gdLst/>
            <a:ahLst/>
            <a:cxnLst/>
            <a:rect l="l" t="t" r="r" b="b"/>
            <a:pathLst>
              <a:path w="2112604" h="1859092">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BCCFFE"/>
        </a:solidFill>
        <a:effectLst/>
      </p:bgPr>
    </p:bg>
    <p:spTree>
      <p:nvGrpSpPr>
        <p:cNvPr id="1" name=""/>
        <p:cNvGrpSpPr/>
        <p:nvPr/>
      </p:nvGrpSpPr>
      <p:grpSpPr>
        <a:xfrm>
          <a:off x="0" y="0"/>
          <a:ext cx="0" cy="0"/>
          <a:chOff x="0" y="0"/>
          <a:chExt cx="0" cy="0"/>
        </a:xfrm>
      </p:grpSpPr>
      <p:grpSp>
        <p:nvGrpSpPr>
          <p:cNvPr id="2" name="Group 2"/>
          <p:cNvGrpSpPr/>
          <p:nvPr/>
        </p:nvGrpSpPr>
        <p:grpSpPr>
          <a:xfrm>
            <a:off x="9296400" y="666750"/>
            <a:ext cx="4010025" cy="6716121"/>
            <a:chOff x="0" y="0"/>
            <a:chExt cx="698915" cy="1170566"/>
          </a:xfrm>
        </p:grpSpPr>
        <p:sp>
          <p:nvSpPr>
            <p:cNvPr id="3" name="Freeform 3"/>
            <p:cNvSpPr/>
            <p:nvPr/>
          </p:nvSpPr>
          <p:spPr>
            <a:xfrm>
              <a:off x="0" y="0"/>
              <a:ext cx="698915" cy="1170566"/>
            </a:xfrm>
            <a:custGeom>
              <a:avLst/>
              <a:gdLst/>
              <a:ahLst/>
              <a:cxnLst/>
              <a:rect l="l" t="t" r="r" b="b"/>
              <a:pathLst>
                <a:path w="698915" h="1170566">
                  <a:moveTo>
                    <a:pt x="38613" y="0"/>
                  </a:moveTo>
                  <a:lnTo>
                    <a:pt x="660302" y="0"/>
                  </a:lnTo>
                  <a:cubicBezTo>
                    <a:pt x="681627" y="0"/>
                    <a:pt x="698915" y="17288"/>
                    <a:pt x="698915" y="38613"/>
                  </a:cubicBezTo>
                  <a:lnTo>
                    <a:pt x="698915" y="1131953"/>
                  </a:lnTo>
                  <a:cubicBezTo>
                    <a:pt x="698915" y="1142194"/>
                    <a:pt x="694847" y="1152015"/>
                    <a:pt x="687606" y="1159256"/>
                  </a:cubicBezTo>
                  <a:cubicBezTo>
                    <a:pt x="680364" y="1166498"/>
                    <a:pt x="670543" y="1170566"/>
                    <a:pt x="660302" y="1170566"/>
                  </a:cubicBezTo>
                  <a:lnTo>
                    <a:pt x="38613" y="1170566"/>
                  </a:lnTo>
                  <a:cubicBezTo>
                    <a:pt x="17288" y="1170566"/>
                    <a:pt x="0" y="1153278"/>
                    <a:pt x="0" y="1131953"/>
                  </a:cubicBezTo>
                  <a:lnTo>
                    <a:pt x="0" y="38613"/>
                  </a:lnTo>
                  <a:cubicBezTo>
                    <a:pt x="0" y="17288"/>
                    <a:pt x="17288" y="0"/>
                    <a:pt x="38613" y="0"/>
                  </a:cubicBezTo>
                  <a:close/>
                </a:path>
              </a:pathLst>
            </a:custGeom>
            <a:blipFill>
              <a:blip r:embed="rId2"/>
              <a:stretch>
                <a:fillRect t="-279" b="-279"/>
              </a:stretch>
            </a:blipFill>
            <a:ln cap="sq">
              <a:noFill/>
              <a:prstDash val="solid"/>
              <a:miter/>
            </a:ln>
          </p:spPr>
        </p:sp>
      </p:grpSp>
      <p:grpSp>
        <p:nvGrpSpPr>
          <p:cNvPr id="4" name="Group 4"/>
          <p:cNvGrpSpPr/>
          <p:nvPr/>
        </p:nvGrpSpPr>
        <p:grpSpPr>
          <a:xfrm>
            <a:off x="13611225" y="666750"/>
            <a:ext cx="4010025" cy="6716121"/>
            <a:chOff x="0" y="0"/>
            <a:chExt cx="698915" cy="1170566"/>
          </a:xfrm>
        </p:grpSpPr>
        <p:sp>
          <p:nvSpPr>
            <p:cNvPr id="5" name="Freeform 5"/>
            <p:cNvSpPr/>
            <p:nvPr/>
          </p:nvSpPr>
          <p:spPr>
            <a:xfrm>
              <a:off x="0" y="0"/>
              <a:ext cx="698915" cy="1170566"/>
            </a:xfrm>
            <a:custGeom>
              <a:avLst/>
              <a:gdLst/>
              <a:ahLst/>
              <a:cxnLst/>
              <a:rect l="l" t="t" r="r" b="b"/>
              <a:pathLst>
                <a:path w="698915" h="1170566">
                  <a:moveTo>
                    <a:pt x="38613" y="0"/>
                  </a:moveTo>
                  <a:lnTo>
                    <a:pt x="660302" y="0"/>
                  </a:lnTo>
                  <a:cubicBezTo>
                    <a:pt x="681627" y="0"/>
                    <a:pt x="698915" y="17288"/>
                    <a:pt x="698915" y="38613"/>
                  </a:cubicBezTo>
                  <a:lnTo>
                    <a:pt x="698915" y="1131953"/>
                  </a:lnTo>
                  <a:cubicBezTo>
                    <a:pt x="698915" y="1142194"/>
                    <a:pt x="694847" y="1152015"/>
                    <a:pt x="687606" y="1159256"/>
                  </a:cubicBezTo>
                  <a:cubicBezTo>
                    <a:pt x="680364" y="1166498"/>
                    <a:pt x="670543" y="1170566"/>
                    <a:pt x="660302" y="1170566"/>
                  </a:cubicBezTo>
                  <a:lnTo>
                    <a:pt x="38613" y="1170566"/>
                  </a:lnTo>
                  <a:cubicBezTo>
                    <a:pt x="17288" y="1170566"/>
                    <a:pt x="0" y="1153278"/>
                    <a:pt x="0" y="1131953"/>
                  </a:cubicBezTo>
                  <a:lnTo>
                    <a:pt x="0" y="38613"/>
                  </a:lnTo>
                  <a:cubicBezTo>
                    <a:pt x="0" y="17288"/>
                    <a:pt x="17288" y="0"/>
                    <a:pt x="38613" y="0"/>
                  </a:cubicBezTo>
                  <a:close/>
                </a:path>
              </a:pathLst>
            </a:custGeom>
            <a:blipFill>
              <a:blip r:embed="rId3"/>
              <a:stretch>
                <a:fillRect t="-279" b="-279"/>
              </a:stretch>
            </a:blipFill>
            <a:ln cap="sq">
              <a:noFill/>
              <a:prstDash val="solid"/>
              <a:miter/>
            </a:ln>
          </p:spPr>
        </p:sp>
      </p:grpSp>
      <p:grpSp>
        <p:nvGrpSpPr>
          <p:cNvPr id="6" name="Group 6"/>
          <p:cNvGrpSpPr/>
          <p:nvPr/>
        </p:nvGrpSpPr>
        <p:grpSpPr>
          <a:xfrm>
            <a:off x="0" y="0"/>
            <a:ext cx="7858125" cy="10287000"/>
            <a:chOff x="0" y="0"/>
            <a:chExt cx="2069630" cy="2709333"/>
          </a:xfrm>
        </p:grpSpPr>
        <p:sp>
          <p:nvSpPr>
            <p:cNvPr id="7" name="Freeform 7"/>
            <p:cNvSpPr/>
            <p:nvPr/>
          </p:nvSpPr>
          <p:spPr>
            <a:xfrm>
              <a:off x="0" y="0"/>
              <a:ext cx="2069630" cy="2709333"/>
            </a:xfrm>
            <a:custGeom>
              <a:avLst/>
              <a:gdLst/>
              <a:ahLst/>
              <a:cxnLst/>
              <a:rect l="l" t="t" r="r" b="b"/>
              <a:pathLst>
                <a:path w="2069630" h="2709333">
                  <a:moveTo>
                    <a:pt x="0" y="0"/>
                  </a:moveTo>
                  <a:lnTo>
                    <a:pt x="2069630" y="0"/>
                  </a:lnTo>
                  <a:lnTo>
                    <a:pt x="2069630" y="2709333"/>
                  </a:lnTo>
                  <a:lnTo>
                    <a:pt x="0" y="2709333"/>
                  </a:lnTo>
                  <a:close/>
                </a:path>
              </a:pathLst>
            </a:custGeom>
            <a:solidFill>
              <a:srgbClr val="2A3A66"/>
            </a:solidFill>
            <a:ln cap="sq">
              <a:noFill/>
              <a:prstDash val="solid"/>
              <a:miter/>
            </a:ln>
          </p:spPr>
        </p:sp>
        <p:sp>
          <p:nvSpPr>
            <p:cNvPr id="8" name="TextBox 8"/>
            <p:cNvSpPr txBox="1"/>
            <p:nvPr/>
          </p:nvSpPr>
          <p:spPr>
            <a:xfrm>
              <a:off x="0" y="-57150"/>
              <a:ext cx="2069630" cy="2766483"/>
            </a:xfrm>
            <a:prstGeom prst="rect">
              <a:avLst/>
            </a:prstGeom>
          </p:spPr>
          <p:txBody>
            <a:bodyPr lIns="50800" tIns="50800" rIns="50800" bIns="50800" rtlCol="0" anchor="ctr"/>
            <a:lstStyle/>
            <a:p>
              <a:pPr marL="0" lvl="0" indent="0" algn="ctr">
                <a:lnSpc>
                  <a:spcPts val="3359"/>
                </a:lnSpc>
              </a:pPr>
              <a:endParaRPr/>
            </a:p>
          </p:txBody>
        </p:sp>
      </p:grpSp>
      <p:grpSp>
        <p:nvGrpSpPr>
          <p:cNvPr id="9" name="Group 9"/>
          <p:cNvGrpSpPr/>
          <p:nvPr/>
        </p:nvGrpSpPr>
        <p:grpSpPr>
          <a:xfrm>
            <a:off x="9296400" y="7829550"/>
            <a:ext cx="2876550" cy="1231011"/>
            <a:chOff x="0" y="0"/>
            <a:chExt cx="3835400" cy="1641348"/>
          </a:xfrm>
        </p:grpSpPr>
        <p:sp>
          <p:nvSpPr>
            <p:cNvPr id="10" name="TextBox 10"/>
            <p:cNvSpPr txBox="1"/>
            <p:nvPr/>
          </p:nvSpPr>
          <p:spPr>
            <a:xfrm>
              <a:off x="0" y="-9525"/>
              <a:ext cx="3835400" cy="619125"/>
            </a:xfrm>
            <a:prstGeom prst="rect">
              <a:avLst/>
            </a:prstGeom>
          </p:spPr>
          <p:txBody>
            <a:bodyPr lIns="0" tIns="0" rIns="0" bIns="0" rtlCol="0" anchor="t">
              <a:spAutoFit/>
            </a:bodyPr>
            <a:lstStyle/>
            <a:p>
              <a:pPr marL="0" lvl="0" indent="0" algn="l">
                <a:lnSpc>
                  <a:spcPts val="3360"/>
                </a:lnSpc>
                <a:spcBef>
                  <a:spcPct val="0"/>
                </a:spcBef>
              </a:pPr>
              <a:r>
                <a:rPr lang="en-US" sz="2800" b="1" spc="-42">
                  <a:solidFill>
                    <a:srgbClr val="2A3A66"/>
                  </a:solidFill>
                  <a:latin typeface="Helvetica World Bold"/>
                  <a:ea typeface="Helvetica World Bold"/>
                  <a:cs typeface="Helvetica World Bold"/>
                  <a:sym typeface="Helvetica World Bold"/>
                </a:rPr>
                <a:t>Efficiency</a:t>
              </a:r>
            </a:p>
          </p:txBody>
        </p:sp>
        <p:sp>
          <p:nvSpPr>
            <p:cNvPr id="11" name="TextBox 11"/>
            <p:cNvSpPr txBox="1"/>
            <p:nvPr/>
          </p:nvSpPr>
          <p:spPr>
            <a:xfrm>
              <a:off x="0" y="779653"/>
              <a:ext cx="3835400" cy="861695"/>
            </a:xfrm>
            <a:prstGeom prst="rect">
              <a:avLst/>
            </a:prstGeom>
          </p:spPr>
          <p:txBody>
            <a:bodyPr lIns="0" tIns="0" rIns="0" bIns="0" rtlCol="0" anchor="t">
              <a:spAutoFit/>
            </a:bodyPr>
            <a:lstStyle/>
            <a:p>
              <a:pPr marL="0" lvl="0" indent="0" algn="l">
                <a:lnSpc>
                  <a:spcPts val="2580"/>
                </a:lnSpc>
                <a:spcBef>
                  <a:spcPct val="0"/>
                </a:spcBef>
              </a:pPr>
              <a:r>
                <a:rPr lang="en-US" sz="2000" u="none" strike="noStrike" spc="-30">
                  <a:solidFill>
                    <a:srgbClr val="1C1C1C"/>
                  </a:solidFill>
                  <a:latin typeface="Helvetica World"/>
                  <a:ea typeface="Helvetica World"/>
                  <a:cs typeface="Helvetica World"/>
                  <a:sym typeface="Helvetica World"/>
                </a:rPr>
                <a:t>Linear search has O(n) time complexity.</a:t>
              </a:r>
            </a:p>
          </p:txBody>
        </p:sp>
      </p:grpSp>
      <p:grpSp>
        <p:nvGrpSpPr>
          <p:cNvPr id="12" name="Group 12"/>
          <p:cNvGrpSpPr/>
          <p:nvPr/>
        </p:nvGrpSpPr>
        <p:grpSpPr>
          <a:xfrm>
            <a:off x="13611225" y="7865173"/>
            <a:ext cx="2876550" cy="1231011"/>
            <a:chOff x="0" y="0"/>
            <a:chExt cx="3835400" cy="1641348"/>
          </a:xfrm>
        </p:grpSpPr>
        <p:sp>
          <p:nvSpPr>
            <p:cNvPr id="13" name="TextBox 13"/>
            <p:cNvSpPr txBox="1"/>
            <p:nvPr/>
          </p:nvSpPr>
          <p:spPr>
            <a:xfrm>
              <a:off x="0" y="-9525"/>
              <a:ext cx="3835400" cy="619125"/>
            </a:xfrm>
            <a:prstGeom prst="rect">
              <a:avLst/>
            </a:prstGeom>
          </p:spPr>
          <p:txBody>
            <a:bodyPr lIns="0" tIns="0" rIns="0" bIns="0" rtlCol="0" anchor="t">
              <a:spAutoFit/>
            </a:bodyPr>
            <a:lstStyle/>
            <a:p>
              <a:pPr marL="0" lvl="0" indent="0" algn="l">
                <a:lnSpc>
                  <a:spcPts val="3360"/>
                </a:lnSpc>
                <a:spcBef>
                  <a:spcPct val="0"/>
                </a:spcBef>
              </a:pPr>
              <a:r>
                <a:rPr lang="en-US" sz="2800" b="1" spc="-42">
                  <a:solidFill>
                    <a:srgbClr val="2A3A66"/>
                  </a:solidFill>
                  <a:latin typeface="Helvetica World Bold"/>
                  <a:ea typeface="Helvetica World Bold"/>
                  <a:cs typeface="Helvetica World Bold"/>
                  <a:sym typeface="Helvetica World Bold"/>
                </a:rPr>
                <a:t>Pros and Cons</a:t>
              </a:r>
            </a:p>
          </p:txBody>
        </p:sp>
        <p:sp>
          <p:nvSpPr>
            <p:cNvPr id="14" name="TextBox 14"/>
            <p:cNvSpPr txBox="1"/>
            <p:nvPr/>
          </p:nvSpPr>
          <p:spPr>
            <a:xfrm>
              <a:off x="0" y="779653"/>
              <a:ext cx="3835400" cy="861695"/>
            </a:xfrm>
            <a:prstGeom prst="rect">
              <a:avLst/>
            </a:prstGeom>
          </p:spPr>
          <p:txBody>
            <a:bodyPr lIns="0" tIns="0" rIns="0" bIns="0" rtlCol="0" anchor="t">
              <a:spAutoFit/>
            </a:bodyPr>
            <a:lstStyle/>
            <a:p>
              <a:pPr marL="0" lvl="0" indent="0" algn="l">
                <a:lnSpc>
                  <a:spcPts val="2580"/>
                </a:lnSpc>
                <a:spcBef>
                  <a:spcPct val="0"/>
                </a:spcBef>
              </a:pPr>
              <a:r>
                <a:rPr lang="en-US" sz="2000" u="none" strike="noStrike" spc="-30">
                  <a:solidFill>
                    <a:srgbClr val="1C1C1C"/>
                  </a:solidFill>
                  <a:latin typeface="Helvetica World"/>
                  <a:ea typeface="Helvetica World"/>
                  <a:cs typeface="Helvetica World"/>
                  <a:sym typeface="Helvetica World"/>
                </a:rPr>
                <a:t>Binary search is faster but needs sorted data.</a:t>
              </a:r>
            </a:p>
          </p:txBody>
        </p:sp>
      </p:grpSp>
      <p:sp>
        <p:nvSpPr>
          <p:cNvPr id="15" name="TextBox 15"/>
          <p:cNvSpPr txBox="1"/>
          <p:nvPr/>
        </p:nvSpPr>
        <p:spPr>
          <a:xfrm>
            <a:off x="666750" y="733425"/>
            <a:ext cx="7021245" cy="4492627"/>
          </a:xfrm>
          <a:prstGeom prst="rect">
            <a:avLst/>
          </a:prstGeom>
        </p:spPr>
        <p:txBody>
          <a:bodyPr lIns="0" tIns="0" rIns="0" bIns="0" rtlCol="0" anchor="t">
            <a:spAutoFit/>
          </a:bodyPr>
          <a:lstStyle/>
          <a:p>
            <a:pPr marL="0" lvl="0" indent="0" algn="l">
              <a:lnSpc>
                <a:spcPts val="8800"/>
              </a:lnSpc>
            </a:pPr>
            <a:r>
              <a:rPr lang="en-US" sz="8000" spc="-240">
                <a:solidFill>
                  <a:srgbClr val="F4F6F8"/>
                </a:solidFill>
                <a:latin typeface="Georgia Pro Condensed"/>
                <a:ea typeface="Georgia Pro Condensed"/>
                <a:cs typeface="Georgia Pro Condensed"/>
                <a:sym typeface="Georgia Pro Condensed"/>
              </a:rPr>
              <a:t>Comparing Efficiency of Search Algorithms</a:t>
            </a:r>
          </a:p>
        </p:txBody>
      </p:sp>
      <p:sp>
        <p:nvSpPr>
          <p:cNvPr id="16" name="Freeform 16"/>
          <p:cNvSpPr/>
          <p:nvPr/>
        </p:nvSpPr>
        <p:spPr>
          <a:xfrm>
            <a:off x="708153" y="7606302"/>
            <a:ext cx="2112604" cy="1859092"/>
          </a:xfrm>
          <a:custGeom>
            <a:avLst/>
            <a:gdLst/>
            <a:ahLst/>
            <a:cxnLst/>
            <a:rect l="l" t="t" r="r" b="b"/>
            <a:pathLst>
              <a:path w="2112604" h="1859092">
                <a:moveTo>
                  <a:pt x="0" y="0"/>
                </a:moveTo>
                <a:lnTo>
                  <a:pt x="2112604" y="0"/>
                </a:lnTo>
                <a:lnTo>
                  <a:pt x="2112604" y="1859092"/>
                </a:lnTo>
                <a:lnTo>
                  <a:pt x="0" y="1859092"/>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a:ln cap="sq">
            <a:noFill/>
            <a:prstDash val="solid"/>
            <a:miter/>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A9BCEB"/>
        </a:solidFill>
        <a:effectLst/>
      </p:bgPr>
    </p:bg>
    <p:spTree>
      <p:nvGrpSpPr>
        <p:cNvPr id="1" name=""/>
        <p:cNvGrpSpPr/>
        <p:nvPr/>
      </p:nvGrpSpPr>
      <p:grpSpPr>
        <a:xfrm>
          <a:off x="0" y="0"/>
          <a:ext cx="0" cy="0"/>
          <a:chOff x="0" y="0"/>
          <a:chExt cx="0" cy="0"/>
        </a:xfrm>
      </p:grpSpPr>
      <p:sp>
        <p:nvSpPr>
          <p:cNvPr id="2" name="TextBox 2"/>
          <p:cNvSpPr txBox="1"/>
          <p:nvPr/>
        </p:nvSpPr>
        <p:spPr>
          <a:xfrm>
            <a:off x="669118" y="3357562"/>
            <a:ext cx="5445932" cy="400050"/>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2A3A66"/>
                </a:solidFill>
                <a:latin typeface="Helvetica World Bold"/>
                <a:ea typeface="Helvetica World Bold"/>
                <a:cs typeface="Helvetica World Bold"/>
                <a:sym typeface="Helvetica World Bold"/>
              </a:rPr>
              <a:t>Linear Search</a:t>
            </a:r>
          </a:p>
        </p:txBody>
      </p:sp>
      <p:sp>
        <p:nvSpPr>
          <p:cNvPr id="3" name="TextBox 3"/>
          <p:cNvSpPr txBox="1"/>
          <p:nvPr/>
        </p:nvSpPr>
        <p:spPr>
          <a:xfrm>
            <a:off x="669118" y="5086350"/>
            <a:ext cx="5445932" cy="1416050"/>
          </a:xfrm>
          <a:prstGeom prst="rect">
            <a:avLst/>
          </a:prstGeom>
        </p:spPr>
        <p:txBody>
          <a:bodyPr lIns="0" tIns="0" rIns="0" bIns="0" rtlCol="0" anchor="t">
            <a:spAutoFit/>
          </a:bodyPr>
          <a:lstStyle/>
          <a:p>
            <a:pPr marL="0" lvl="0" indent="0" algn="l">
              <a:lnSpc>
                <a:spcPts val="2800"/>
              </a:lnSpc>
            </a:pPr>
            <a:r>
              <a:rPr lang="en-US" sz="2000" u="none" strike="noStrike" spc="-30">
                <a:solidFill>
                  <a:srgbClr val="1C1C1C"/>
                </a:solidFill>
                <a:latin typeface="Helvetica World"/>
                <a:ea typeface="Helvetica World"/>
                <a:cs typeface="Helvetica World"/>
                <a:sym typeface="Helvetica World"/>
              </a:rPr>
              <a:t>In linear search, each element is examined sequentially until the target is found. This straightforward approach is effective for small or unsorted datasets, but can be slow for larger lists.</a:t>
            </a:r>
          </a:p>
        </p:txBody>
      </p:sp>
      <p:sp>
        <p:nvSpPr>
          <p:cNvPr id="4" name="TextBox 4"/>
          <p:cNvSpPr txBox="1"/>
          <p:nvPr/>
        </p:nvSpPr>
        <p:spPr>
          <a:xfrm>
            <a:off x="6419850" y="3357562"/>
            <a:ext cx="5446184" cy="400050"/>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2A3A66"/>
                </a:solidFill>
                <a:latin typeface="Helvetica World Bold"/>
                <a:ea typeface="Helvetica World Bold"/>
                <a:cs typeface="Helvetica World Bold"/>
                <a:sym typeface="Helvetica World Bold"/>
              </a:rPr>
              <a:t>Binary Search</a:t>
            </a:r>
          </a:p>
        </p:txBody>
      </p:sp>
      <p:sp>
        <p:nvSpPr>
          <p:cNvPr id="5" name="TextBox 5"/>
          <p:cNvSpPr txBox="1"/>
          <p:nvPr/>
        </p:nvSpPr>
        <p:spPr>
          <a:xfrm>
            <a:off x="6421966" y="5086350"/>
            <a:ext cx="5446184" cy="1768475"/>
          </a:xfrm>
          <a:prstGeom prst="rect">
            <a:avLst/>
          </a:prstGeom>
        </p:spPr>
        <p:txBody>
          <a:bodyPr lIns="0" tIns="0" rIns="0" bIns="0" rtlCol="0" anchor="t">
            <a:spAutoFit/>
          </a:bodyPr>
          <a:lstStyle/>
          <a:p>
            <a:pPr marL="0" lvl="0" indent="0" algn="l">
              <a:lnSpc>
                <a:spcPts val="2800"/>
              </a:lnSpc>
            </a:pPr>
            <a:r>
              <a:rPr lang="en-US" sz="2000" u="none" strike="noStrike" spc="-30">
                <a:solidFill>
                  <a:srgbClr val="1C1C1C"/>
                </a:solidFill>
                <a:latin typeface="Helvetica World"/>
                <a:ea typeface="Helvetica World"/>
                <a:cs typeface="Helvetica World"/>
                <a:sym typeface="Helvetica World"/>
              </a:rPr>
              <a:t>Binary search requires a sorted list, dividing the search space in half repeatedly, which drastically reduces the number of checks needed to find the target value, making it more efficient than linear search.</a:t>
            </a:r>
          </a:p>
        </p:txBody>
      </p:sp>
      <p:sp>
        <p:nvSpPr>
          <p:cNvPr id="6" name="TextBox 6"/>
          <p:cNvSpPr txBox="1"/>
          <p:nvPr/>
        </p:nvSpPr>
        <p:spPr>
          <a:xfrm>
            <a:off x="12172950" y="3357562"/>
            <a:ext cx="5448300" cy="400050"/>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2A3A66"/>
                </a:solidFill>
                <a:latin typeface="Helvetica World Bold"/>
                <a:ea typeface="Helvetica World Bold"/>
                <a:cs typeface="Helvetica World Bold"/>
                <a:sym typeface="Helvetica World Bold"/>
              </a:rPr>
              <a:t>Efficiency Comparison</a:t>
            </a:r>
          </a:p>
        </p:txBody>
      </p:sp>
      <p:sp>
        <p:nvSpPr>
          <p:cNvPr id="7" name="TextBox 7"/>
          <p:cNvSpPr txBox="1"/>
          <p:nvPr/>
        </p:nvSpPr>
        <p:spPr>
          <a:xfrm>
            <a:off x="12172950" y="5086350"/>
            <a:ext cx="5448300" cy="1768475"/>
          </a:xfrm>
          <a:prstGeom prst="rect">
            <a:avLst/>
          </a:prstGeom>
        </p:spPr>
        <p:txBody>
          <a:bodyPr lIns="0" tIns="0" rIns="0" bIns="0" rtlCol="0" anchor="t">
            <a:spAutoFit/>
          </a:bodyPr>
          <a:lstStyle/>
          <a:p>
            <a:pPr marL="0" lvl="0" indent="0" algn="l">
              <a:lnSpc>
                <a:spcPts val="2800"/>
              </a:lnSpc>
            </a:pPr>
            <a:r>
              <a:rPr lang="en-US" sz="2000" u="none" strike="noStrike" spc="-30">
                <a:solidFill>
                  <a:srgbClr val="1C1C1C"/>
                </a:solidFill>
                <a:latin typeface="Helvetica World"/>
                <a:ea typeface="Helvetica World"/>
                <a:cs typeface="Helvetica World"/>
                <a:sym typeface="Helvetica World"/>
              </a:rPr>
              <a:t>Comparing the two searches, linear search has a time complexity of O(n), while binary search operates at O(log n), highlighting the significant efficiency gained through the divide-and-conquer strategy of binary search.</a:t>
            </a:r>
          </a:p>
        </p:txBody>
      </p:sp>
      <p:sp>
        <p:nvSpPr>
          <p:cNvPr id="8" name="AutoShape 8"/>
          <p:cNvSpPr/>
          <p:nvPr/>
        </p:nvSpPr>
        <p:spPr>
          <a:xfrm>
            <a:off x="992968" y="4410075"/>
            <a:ext cx="17607376" cy="0"/>
          </a:xfrm>
          <a:prstGeom prst="line">
            <a:avLst/>
          </a:prstGeom>
          <a:ln w="19050" cap="flat">
            <a:solidFill>
              <a:srgbClr val="2A3A66"/>
            </a:solidFill>
            <a:prstDash val="solid"/>
            <a:headEnd type="none" w="sm" len="sm"/>
            <a:tailEnd type="none" w="sm" len="sm"/>
          </a:ln>
        </p:spPr>
      </p:sp>
      <p:grpSp>
        <p:nvGrpSpPr>
          <p:cNvPr id="9" name="Group 9"/>
          <p:cNvGrpSpPr/>
          <p:nvPr/>
        </p:nvGrpSpPr>
        <p:grpSpPr>
          <a:xfrm>
            <a:off x="669118" y="4248150"/>
            <a:ext cx="323850" cy="323850"/>
            <a:chOff x="0" y="0"/>
            <a:chExt cx="6350000" cy="6350000"/>
          </a:xfrm>
        </p:grpSpPr>
        <p:sp>
          <p:nvSpPr>
            <p:cNvPr id="10" name="Freeform 1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A3A66"/>
            </a:solidFill>
          </p:spPr>
        </p:sp>
      </p:grpSp>
      <p:grpSp>
        <p:nvGrpSpPr>
          <p:cNvPr id="11" name="Group 11"/>
          <p:cNvGrpSpPr/>
          <p:nvPr/>
        </p:nvGrpSpPr>
        <p:grpSpPr>
          <a:xfrm>
            <a:off x="6421966" y="4248150"/>
            <a:ext cx="323850" cy="323850"/>
            <a:chOff x="0" y="0"/>
            <a:chExt cx="6350000" cy="6350000"/>
          </a:xfrm>
        </p:grpSpPr>
        <p:sp>
          <p:nvSpPr>
            <p:cNvPr id="12" name="Freeform 12"/>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A3A66"/>
            </a:solidFill>
          </p:spPr>
        </p:sp>
      </p:grpSp>
      <p:grpSp>
        <p:nvGrpSpPr>
          <p:cNvPr id="13" name="Group 13"/>
          <p:cNvGrpSpPr/>
          <p:nvPr/>
        </p:nvGrpSpPr>
        <p:grpSpPr>
          <a:xfrm>
            <a:off x="12172950" y="4248150"/>
            <a:ext cx="323850" cy="323850"/>
            <a:chOff x="0" y="0"/>
            <a:chExt cx="6350000" cy="6350000"/>
          </a:xfrm>
        </p:grpSpPr>
        <p:sp>
          <p:nvSpPr>
            <p:cNvPr id="14" name="Freeform 14"/>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A3A66"/>
            </a:solidFill>
          </p:spPr>
        </p:sp>
      </p:grpSp>
      <p:sp>
        <p:nvSpPr>
          <p:cNvPr id="15" name="TextBox 15"/>
          <p:cNvSpPr txBox="1"/>
          <p:nvPr/>
        </p:nvSpPr>
        <p:spPr>
          <a:xfrm>
            <a:off x="666750" y="809625"/>
            <a:ext cx="16954500" cy="1069976"/>
          </a:xfrm>
          <a:prstGeom prst="rect">
            <a:avLst/>
          </a:prstGeom>
        </p:spPr>
        <p:txBody>
          <a:bodyPr lIns="0" tIns="0" rIns="0" bIns="0" rtlCol="0" anchor="t">
            <a:spAutoFit/>
          </a:bodyPr>
          <a:lstStyle/>
          <a:p>
            <a:pPr marL="0" lvl="0" indent="0" algn="l">
              <a:lnSpc>
                <a:spcPts val="8000"/>
              </a:lnSpc>
            </a:pPr>
            <a:r>
              <a:rPr lang="en-US" sz="8000">
                <a:solidFill>
                  <a:srgbClr val="2A3A66"/>
                </a:solidFill>
                <a:latin typeface="Georgia Pro Condensed"/>
                <a:ea typeface="Georgia Pro Condensed"/>
                <a:cs typeface="Georgia Pro Condensed"/>
                <a:sym typeface="Georgia Pro Condensed"/>
              </a:rPr>
              <a:t>Algorithm Tracing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p:cNvGrpSpPr/>
        <p:nvPr/>
      </p:nvGrpSpPr>
      <p:grpSpPr>
        <a:xfrm>
          <a:off x="0" y="0"/>
          <a:ext cx="0" cy="0"/>
          <a:chOff x="0" y="0"/>
          <a:chExt cx="0" cy="0"/>
        </a:xfrm>
      </p:grpSpPr>
      <p:sp>
        <p:nvSpPr>
          <p:cNvPr id="2" name="TextBox 2"/>
          <p:cNvSpPr txBox="1"/>
          <p:nvPr/>
        </p:nvSpPr>
        <p:spPr>
          <a:xfrm>
            <a:off x="17259300" y="9201150"/>
            <a:ext cx="152400" cy="209550"/>
          </a:xfrm>
          <a:prstGeom prst="rect">
            <a:avLst/>
          </a:prstGeom>
        </p:spPr>
        <p:txBody>
          <a:bodyPr wrap="none" lIns="0" tIns="0" rIns="0" bIns="0" rtlCol="0" anchor="t">
            <a:spAutoFit/>
          </a:bodyPr>
          <a:lstStyle/>
          <a:p>
            <a:pPr marL="0" lvl="0" indent="0" algn="ctr">
              <a:lnSpc>
                <a:spcPts val="2800"/>
              </a:lnSpc>
              <a:spcBef>
                <a:spcPct val="0"/>
              </a:spcBef>
            </a:pPr>
            <a:r>
              <a:rPr lang="en-US" sz="2000">
                <a:solidFill>
                  <a:srgbClr val="1C1C1C"/>
                </a:solidFill>
                <a:latin typeface="Helvetica World"/>
                <a:ea typeface="Helvetica World"/>
                <a:cs typeface="Helvetica World"/>
                <a:sym typeface="Helvetica World"/>
              </a:rPr>
              <a:t>8</a:t>
            </a:r>
          </a:p>
        </p:txBody>
      </p:sp>
      <p:grpSp>
        <p:nvGrpSpPr>
          <p:cNvPr id="3" name="Group 3"/>
          <p:cNvGrpSpPr/>
          <p:nvPr/>
        </p:nvGrpSpPr>
        <p:grpSpPr>
          <a:xfrm>
            <a:off x="666750" y="666750"/>
            <a:ext cx="16954500" cy="8953500"/>
            <a:chOff x="0" y="0"/>
            <a:chExt cx="4465383" cy="2358123"/>
          </a:xfrm>
        </p:grpSpPr>
        <p:sp>
          <p:nvSpPr>
            <p:cNvPr id="4" name="Freeform 4"/>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BCCFFE"/>
            </a:solidFill>
            <a:ln cap="rnd">
              <a:noFill/>
              <a:prstDash val="solid"/>
              <a:round/>
            </a:ln>
          </p:spPr>
        </p:sp>
        <p:sp>
          <p:nvSpPr>
            <p:cNvPr id="5" name="TextBox 5"/>
            <p:cNvSpPr txBox="1"/>
            <p:nvPr/>
          </p:nvSpPr>
          <p:spPr>
            <a:xfrm>
              <a:off x="0" y="-57150"/>
              <a:ext cx="4465383" cy="2415273"/>
            </a:xfrm>
            <a:prstGeom prst="rect">
              <a:avLst/>
            </a:prstGeom>
          </p:spPr>
          <p:txBody>
            <a:bodyPr lIns="50800" tIns="50800" rIns="50800" bIns="50800" rtlCol="0" anchor="ctr"/>
            <a:lstStyle/>
            <a:p>
              <a:pPr marL="0" lvl="0" indent="0" algn="ctr">
                <a:lnSpc>
                  <a:spcPts val="3359"/>
                </a:lnSpc>
              </a:pPr>
              <a:endParaRPr/>
            </a:p>
          </p:txBody>
        </p:sp>
      </p:grpSp>
      <p:grpSp>
        <p:nvGrpSpPr>
          <p:cNvPr id="6" name="Group 6"/>
          <p:cNvGrpSpPr/>
          <p:nvPr/>
        </p:nvGrpSpPr>
        <p:grpSpPr>
          <a:xfrm>
            <a:off x="1800225" y="1562100"/>
            <a:ext cx="12944475" cy="2067009"/>
            <a:chOff x="0" y="0"/>
            <a:chExt cx="17259300" cy="2756012"/>
          </a:xfrm>
        </p:grpSpPr>
        <p:sp>
          <p:nvSpPr>
            <p:cNvPr id="7" name="TextBox 7"/>
            <p:cNvSpPr txBox="1"/>
            <p:nvPr/>
          </p:nvSpPr>
          <p:spPr>
            <a:xfrm>
              <a:off x="0" y="-85725"/>
              <a:ext cx="17259300" cy="1702858"/>
            </a:xfrm>
            <a:prstGeom prst="rect">
              <a:avLst/>
            </a:prstGeom>
          </p:spPr>
          <p:txBody>
            <a:bodyPr lIns="0" tIns="0" rIns="0" bIns="0" rtlCol="0" anchor="t">
              <a:spAutoFit/>
            </a:bodyPr>
            <a:lstStyle/>
            <a:p>
              <a:pPr marL="0" lvl="0" indent="0" algn="l">
                <a:lnSpc>
                  <a:spcPts val="10400"/>
                </a:lnSpc>
              </a:pPr>
              <a:r>
                <a:rPr lang="en-US" sz="8000" spc="-240">
                  <a:solidFill>
                    <a:srgbClr val="2A3A66"/>
                  </a:solidFill>
                  <a:latin typeface="Georgia Pro Condensed"/>
                  <a:ea typeface="Georgia Pro Condensed"/>
                  <a:cs typeface="Georgia Pro Condensed"/>
                  <a:sym typeface="Georgia Pro Condensed"/>
                </a:rPr>
                <a:t>Bubble Sort</a:t>
              </a:r>
            </a:p>
          </p:txBody>
        </p:sp>
        <p:sp>
          <p:nvSpPr>
            <p:cNvPr id="8" name="TextBox 8"/>
            <p:cNvSpPr txBox="1"/>
            <p:nvPr/>
          </p:nvSpPr>
          <p:spPr>
            <a:xfrm>
              <a:off x="0" y="2187687"/>
              <a:ext cx="17259300" cy="568325"/>
            </a:xfrm>
            <a:prstGeom prst="rect">
              <a:avLst/>
            </a:prstGeom>
          </p:spPr>
          <p:txBody>
            <a:bodyPr lIns="0" tIns="0" rIns="0" bIns="0" rtlCol="0" anchor="t">
              <a:spAutoFit/>
            </a:bodyPr>
            <a:lstStyle/>
            <a:p>
              <a:pPr marL="0" lvl="0" indent="0" algn="l">
                <a:lnSpc>
                  <a:spcPts val="3000"/>
                </a:lnSpc>
                <a:spcBef>
                  <a:spcPct val="0"/>
                </a:spcBef>
              </a:pPr>
              <a:r>
                <a:rPr lang="en-US" sz="2500" b="1" spc="-37">
                  <a:solidFill>
                    <a:srgbClr val="2A3A66"/>
                  </a:solidFill>
                  <a:latin typeface="Helvetica World Bold"/>
                  <a:ea typeface="Helvetica World Bold"/>
                  <a:cs typeface="Helvetica World Bold"/>
                  <a:sym typeface="Helvetica World Bold"/>
                </a:rPr>
                <a:t>Introducing Sorting Algorithms and Their Importance</a:t>
              </a:r>
            </a:p>
          </p:txBody>
        </p:sp>
      </p:grpSp>
      <p:sp>
        <p:nvSpPr>
          <p:cNvPr id="9" name="Freeform 9"/>
          <p:cNvSpPr/>
          <p:nvPr/>
        </p:nvSpPr>
        <p:spPr>
          <a:xfrm rot="-3117037">
            <a:off x="16099474" y="7952721"/>
            <a:ext cx="2112604" cy="1859092"/>
          </a:xfrm>
          <a:custGeom>
            <a:avLst/>
            <a:gdLst/>
            <a:ahLst/>
            <a:cxnLst/>
            <a:rect l="l" t="t" r="r" b="b"/>
            <a:pathLst>
              <a:path w="2112604" h="1859092">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A3A66"/>
        </a:solidFill>
        <a:effectLst/>
      </p:bgPr>
    </p:bg>
    <p:spTree>
      <p:nvGrpSpPr>
        <p:cNvPr id="1" name=""/>
        <p:cNvGrpSpPr/>
        <p:nvPr/>
      </p:nvGrpSpPr>
      <p:grpSpPr>
        <a:xfrm>
          <a:off x="0" y="0"/>
          <a:ext cx="0" cy="0"/>
          <a:chOff x="0" y="0"/>
          <a:chExt cx="0" cy="0"/>
        </a:xfrm>
      </p:grpSpPr>
      <p:grpSp>
        <p:nvGrpSpPr>
          <p:cNvPr id="2" name="Group 2"/>
          <p:cNvGrpSpPr/>
          <p:nvPr/>
        </p:nvGrpSpPr>
        <p:grpSpPr>
          <a:xfrm>
            <a:off x="666750" y="2908300"/>
            <a:ext cx="5448300" cy="6711950"/>
            <a:chOff x="0" y="0"/>
            <a:chExt cx="1434943" cy="1767756"/>
          </a:xfrm>
        </p:grpSpPr>
        <p:sp>
          <p:nvSpPr>
            <p:cNvPr id="3" name="Freeform 3"/>
            <p:cNvSpPr/>
            <p:nvPr/>
          </p:nvSpPr>
          <p:spPr>
            <a:xfrm>
              <a:off x="0" y="0"/>
              <a:ext cx="1434943" cy="1767756"/>
            </a:xfrm>
            <a:custGeom>
              <a:avLst/>
              <a:gdLst/>
              <a:ahLst/>
              <a:cxnLst/>
              <a:rect l="l" t="t" r="r" b="b"/>
              <a:pathLst>
                <a:path w="1434943" h="1767756">
                  <a:moveTo>
                    <a:pt x="28420" y="0"/>
                  </a:moveTo>
                  <a:lnTo>
                    <a:pt x="1406524" y="0"/>
                  </a:lnTo>
                  <a:cubicBezTo>
                    <a:pt x="1422219" y="0"/>
                    <a:pt x="1434943" y="12724"/>
                    <a:pt x="1434943" y="28420"/>
                  </a:cubicBezTo>
                  <a:lnTo>
                    <a:pt x="1434943" y="1739337"/>
                  </a:lnTo>
                  <a:cubicBezTo>
                    <a:pt x="1434943" y="1755033"/>
                    <a:pt x="1422219" y="1767756"/>
                    <a:pt x="1406524" y="1767756"/>
                  </a:cubicBezTo>
                  <a:lnTo>
                    <a:pt x="28420" y="1767756"/>
                  </a:lnTo>
                  <a:cubicBezTo>
                    <a:pt x="12724" y="1767756"/>
                    <a:pt x="0" y="1755033"/>
                    <a:pt x="0" y="1739337"/>
                  </a:cubicBezTo>
                  <a:lnTo>
                    <a:pt x="0" y="28420"/>
                  </a:lnTo>
                  <a:cubicBezTo>
                    <a:pt x="0" y="12724"/>
                    <a:pt x="12724" y="0"/>
                    <a:pt x="28420" y="0"/>
                  </a:cubicBezTo>
                  <a:close/>
                </a:path>
              </a:pathLst>
            </a:custGeom>
            <a:solidFill>
              <a:srgbClr val="F4F6F8"/>
            </a:solidFill>
          </p:spPr>
        </p:sp>
        <p:sp>
          <p:nvSpPr>
            <p:cNvPr id="4" name="TextBox 4"/>
            <p:cNvSpPr txBox="1"/>
            <p:nvPr/>
          </p:nvSpPr>
          <p:spPr>
            <a:xfrm>
              <a:off x="0" y="-38100"/>
              <a:ext cx="1434943" cy="1805856"/>
            </a:xfrm>
            <a:prstGeom prst="rect">
              <a:avLst/>
            </a:prstGeom>
          </p:spPr>
          <p:txBody>
            <a:bodyPr lIns="50800" tIns="50800" rIns="50800" bIns="50800" rtlCol="0" anchor="ctr"/>
            <a:lstStyle/>
            <a:p>
              <a:pPr marL="0" lvl="0" indent="0" algn="ctr">
                <a:lnSpc>
                  <a:spcPts val="1923"/>
                </a:lnSpc>
              </a:pPr>
              <a:endParaRPr/>
            </a:p>
          </p:txBody>
        </p:sp>
      </p:grpSp>
      <p:grpSp>
        <p:nvGrpSpPr>
          <p:cNvPr id="5" name="Group 5"/>
          <p:cNvGrpSpPr/>
          <p:nvPr/>
        </p:nvGrpSpPr>
        <p:grpSpPr>
          <a:xfrm>
            <a:off x="6419850" y="2908300"/>
            <a:ext cx="5448300" cy="6711950"/>
            <a:chOff x="0" y="0"/>
            <a:chExt cx="1434943" cy="1767756"/>
          </a:xfrm>
        </p:grpSpPr>
        <p:sp>
          <p:nvSpPr>
            <p:cNvPr id="6" name="Freeform 6"/>
            <p:cNvSpPr/>
            <p:nvPr/>
          </p:nvSpPr>
          <p:spPr>
            <a:xfrm>
              <a:off x="0" y="0"/>
              <a:ext cx="1434943" cy="1767756"/>
            </a:xfrm>
            <a:custGeom>
              <a:avLst/>
              <a:gdLst/>
              <a:ahLst/>
              <a:cxnLst/>
              <a:rect l="l" t="t" r="r" b="b"/>
              <a:pathLst>
                <a:path w="1434943" h="1767756">
                  <a:moveTo>
                    <a:pt x="28420" y="0"/>
                  </a:moveTo>
                  <a:lnTo>
                    <a:pt x="1406524" y="0"/>
                  </a:lnTo>
                  <a:cubicBezTo>
                    <a:pt x="1422219" y="0"/>
                    <a:pt x="1434943" y="12724"/>
                    <a:pt x="1434943" y="28420"/>
                  </a:cubicBezTo>
                  <a:lnTo>
                    <a:pt x="1434943" y="1739337"/>
                  </a:lnTo>
                  <a:cubicBezTo>
                    <a:pt x="1434943" y="1755033"/>
                    <a:pt x="1422219" y="1767756"/>
                    <a:pt x="1406524" y="1767756"/>
                  </a:cubicBezTo>
                  <a:lnTo>
                    <a:pt x="28420" y="1767756"/>
                  </a:lnTo>
                  <a:cubicBezTo>
                    <a:pt x="12724" y="1767756"/>
                    <a:pt x="0" y="1755033"/>
                    <a:pt x="0" y="1739337"/>
                  </a:cubicBezTo>
                  <a:lnTo>
                    <a:pt x="0" y="28420"/>
                  </a:lnTo>
                  <a:cubicBezTo>
                    <a:pt x="0" y="12724"/>
                    <a:pt x="12724" y="0"/>
                    <a:pt x="28420" y="0"/>
                  </a:cubicBezTo>
                  <a:close/>
                </a:path>
              </a:pathLst>
            </a:custGeom>
            <a:solidFill>
              <a:srgbClr val="F4F6F8"/>
            </a:solidFill>
          </p:spPr>
        </p:sp>
        <p:sp>
          <p:nvSpPr>
            <p:cNvPr id="7" name="TextBox 7"/>
            <p:cNvSpPr txBox="1"/>
            <p:nvPr/>
          </p:nvSpPr>
          <p:spPr>
            <a:xfrm>
              <a:off x="0" y="-38100"/>
              <a:ext cx="1434943" cy="1805856"/>
            </a:xfrm>
            <a:prstGeom prst="rect">
              <a:avLst/>
            </a:prstGeom>
          </p:spPr>
          <p:txBody>
            <a:bodyPr lIns="50800" tIns="50800" rIns="50800" bIns="50800" rtlCol="0" anchor="ctr"/>
            <a:lstStyle/>
            <a:p>
              <a:pPr marL="0" lvl="0" indent="0" algn="ctr">
                <a:lnSpc>
                  <a:spcPts val="1923"/>
                </a:lnSpc>
              </a:pPr>
              <a:endParaRPr/>
            </a:p>
          </p:txBody>
        </p:sp>
      </p:grpSp>
      <p:grpSp>
        <p:nvGrpSpPr>
          <p:cNvPr id="8" name="Group 8"/>
          <p:cNvGrpSpPr/>
          <p:nvPr/>
        </p:nvGrpSpPr>
        <p:grpSpPr>
          <a:xfrm>
            <a:off x="12172950" y="2908300"/>
            <a:ext cx="5448300" cy="6711950"/>
            <a:chOff x="0" y="0"/>
            <a:chExt cx="1434943" cy="1767756"/>
          </a:xfrm>
        </p:grpSpPr>
        <p:sp>
          <p:nvSpPr>
            <p:cNvPr id="9" name="Freeform 9"/>
            <p:cNvSpPr/>
            <p:nvPr/>
          </p:nvSpPr>
          <p:spPr>
            <a:xfrm>
              <a:off x="0" y="0"/>
              <a:ext cx="1434943" cy="1767756"/>
            </a:xfrm>
            <a:custGeom>
              <a:avLst/>
              <a:gdLst/>
              <a:ahLst/>
              <a:cxnLst/>
              <a:rect l="l" t="t" r="r" b="b"/>
              <a:pathLst>
                <a:path w="1434943" h="1767756">
                  <a:moveTo>
                    <a:pt x="28420" y="0"/>
                  </a:moveTo>
                  <a:lnTo>
                    <a:pt x="1406524" y="0"/>
                  </a:lnTo>
                  <a:cubicBezTo>
                    <a:pt x="1422219" y="0"/>
                    <a:pt x="1434943" y="12724"/>
                    <a:pt x="1434943" y="28420"/>
                  </a:cubicBezTo>
                  <a:lnTo>
                    <a:pt x="1434943" y="1739337"/>
                  </a:lnTo>
                  <a:cubicBezTo>
                    <a:pt x="1434943" y="1755033"/>
                    <a:pt x="1422219" y="1767756"/>
                    <a:pt x="1406524" y="1767756"/>
                  </a:cubicBezTo>
                  <a:lnTo>
                    <a:pt x="28420" y="1767756"/>
                  </a:lnTo>
                  <a:cubicBezTo>
                    <a:pt x="12724" y="1767756"/>
                    <a:pt x="0" y="1755033"/>
                    <a:pt x="0" y="1739337"/>
                  </a:cubicBezTo>
                  <a:lnTo>
                    <a:pt x="0" y="28420"/>
                  </a:lnTo>
                  <a:cubicBezTo>
                    <a:pt x="0" y="12724"/>
                    <a:pt x="12724" y="0"/>
                    <a:pt x="28420" y="0"/>
                  </a:cubicBezTo>
                  <a:close/>
                </a:path>
              </a:pathLst>
            </a:custGeom>
            <a:solidFill>
              <a:srgbClr val="F4F6F8"/>
            </a:solidFill>
          </p:spPr>
        </p:sp>
        <p:sp>
          <p:nvSpPr>
            <p:cNvPr id="10" name="TextBox 10"/>
            <p:cNvSpPr txBox="1"/>
            <p:nvPr/>
          </p:nvSpPr>
          <p:spPr>
            <a:xfrm>
              <a:off x="0" y="-38100"/>
              <a:ext cx="1434943" cy="1805856"/>
            </a:xfrm>
            <a:prstGeom prst="rect">
              <a:avLst/>
            </a:prstGeom>
          </p:spPr>
          <p:txBody>
            <a:bodyPr lIns="50800" tIns="50800" rIns="50800" bIns="50800" rtlCol="0" anchor="ctr"/>
            <a:lstStyle/>
            <a:p>
              <a:pPr marL="0" lvl="0" indent="0" algn="ctr">
                <a:lnSpc>
                  <a:spcPts val="1923"/>
                </a:lnSpc>
              </a:pPr>
              <a:endParaRPr/>
            </a:p>
          </p:txBody>
        </p:sp>
      </p:grpSp>
      <p:grpSp>
        <p:nvGrpSpPr>
          <p:cNvPr id="11" name="Group 11"/>
          <p:cNvGrpSpPr/>
          <p:nvPr/>
        </p:nvGrpSpPr>
        <p:grpSpPr>
          <a:xfrm>
            <a:off x="1066053" y="4248150"/>
            <a:ext cx="4649694" cy="3581400"/>
            <a:chOff x="0" y="0"/>
            <a:chExt cx="1259398" cy="970044"/>
          </a:xfrm>
        </p:grpSpPr>
        <p:sp>
          <p:nvSpPr>
            <p:cNvPr id="12" name="Freeform 12"/>
            <p:cNvSpPr/>
            <p:nvPr/>
          </p:nvSpPr>
          <p:spPr>
            <a:xfrm>
              <a:off x="0" y="0"/>
              <a:ext cx="1259398" cy="970044"/>
            </a:xfrm>
            <a:custGeom>
              <a:avLst/>
              <a:gdLst/>
              <a:ahLst/>
              <a:cxnLst/>
              <a:rect l="l" t="t" r="r" b="b"/>
              <a:pathLst>
                <a:path w="1259398" h="970044">
                  <a:moveTo>
                    <a:pt x="33301" y="0"/>
                  </a:moveTo>
                  <a:lnTo>
                    <a:pt x="1226097" y="0"/>
                  </a:lnTo>
                  <a:cubicBezTo>
                    <a:pt x="1244489" y="0"/>
                    <a:pt x="1259398" y="14909"/>
                    <a:pt x="1259398" y="33301"/>
                  </a:cubicBezTo>
                  <a:lnTo>
                    <a:pt x="1259398" y="936743"/>
                  </a:lnTo>
                  <a:cubicBezTo>
                    <a:pt x="1259398" y="955135"/>
                    <a:pt x="1244489" y="970044"/>
                    <a:pt x="1226097" y="970044"/>
                  </a:cubicBezTo>
                  <a:lnTo>
                    <a:pt x="33301" y="970044"/>
                  </a:lnTo>
                  <a:cubicBezTo>
                    <a:pt x="24469" y="970044"/>
                    <a:pt x="15999" y="966535"/>
                    <a:pt x="9754" y="960290"/>
                  </a:cubicBezTo>
                  <a:cubicBezTo>
                    <a:pt x="3508" y="954045"/>
                    <a:pt x="0" y="945575"/>
                    <a:pt x="0" y="936743"/>
                  </a:cubicBezTo>
                  <a:lnTo>
                    <a:pt x="0" y="33301"/>
                  </a:lnTo>
                  <a:cubicBezTo>
                    <a:pt x="0" y="24469"/>
                    <a:pt x="3508" y="15999"/>
                    <a:pt x="9754" y="9754"/>
                  </a:cubicBezTo>
                  <a:cubicBezTo>
                    <a:pt x="15999" y="3508"/>
                    <a:pt x="24469" y="0"/>
                    <a:pt x="33301" y="0"/>
                  </a:cubicBezTo>
                  <a:close/>
                </a:path>
              </a:pathLst>
            </a:custGeom>
            <a:blipFill>
              <a:blip r:embed="rId2"/>
              <a:stretch>
                <a:fillRect l="-342" r="-342"/>
              </a:stretch>
            </a:blipFill>
          </p:spPr>
        </p:sp>
      </p:grpSp>
      <p:grpSp>
        <p:nvGrpSpPr>
          <p:cNvPr id="13" name="Group 13"/>
          <p:cNvGrpSpPr/>
          <p:nvPr/>
        </p:nvGrpSpPr>
        <p:grpSpPr>
          <a:xfrm>
            <a:off x="6819153" y="4248150"/>
            <a:ext cx="4649694" cy="3581400"/>
            <a:chOff x="0" y="0"/>
            <a:chExt cx="1259398" cy="970044"/>
          </a:xfrm>
        </p:grpSpPr>
        <p:sp>
          <p:nvSpPr>
            <p:cNvPr id="14" name="Freeform 14"/>
            <p:cNvSpPr/>
            <p:nvPr/>
          </p:nvSpPr>
          <p:spPr>
            <a:xfrm>
              <a:off x="0" y="0"/>
              <a:ext cx="1259398" cy="970044"/>
            </a:xfrm>
            <a:custGeom>
              <a:avLst/>
              <a:gdLst/>
              <a:ahLst/>
              <a:cxnLst/>
              <a:rect l="l" t="t" r="r" b="b"/>
              <a:pathLst>
                <a:path w="1259398" h="970044">
                  <a:moveTo>
                    <a:pt x="33301" y="0"/>
                  </a:moveTo>
                  <a:lnTo>
                    <a:pt x="1226097" y="0"/>
                  </a:lnTo>
                  <a:cubicBezTo>
                    <a:pt x="1244489" y="0"/>
                    <a:pt x="1259398" y="14909"/>
                    <a:pt x="1259398" y="33301"/>
                  </a:cubicBezTo>
                  <a:lnTo>
                    <a:pt x="1259398" y="936743"/>
                  </a:lnTo>
                  <a:cubicBezTo>
                    <a:pt x="1259398" y="955135"/>
                    <a:pt x="1244489" y="970044"/>
                    <a:pt x="1226097" y="970044"/>
                  </a:cubicBezTo>
                  <a:lnTo>
                    <a:pt x="33301" y="970044"/>
                  </a:lnTo>
                  <a:cubicBezTo>
                    <a:pt x="24469" y="970044"/>
                    <a:pt x="15999" y="966535"/>
                    <a:pt x="9754" y="960290"/>
                  </a:cubicBezTo>
                  <a:cubicBezTo>
                    <a:pt x="3508" y="954045"/>
                    <a:pt x="0" y="945575"/>
                    <a:pt x="0" y="936743"/>
                  </a:cubicBezTo>
                  <a:lnTo>
                    <a:pt x="0" y="33301"/>
                  </a:lnTo>
                  <a:cubicBezTo>
                    <a:pt x="0" y="24469"/>
                    <a:pt x="3508" y="15999"/>
                    <a:pt x="9754" y="9754"/>
                  </a:cubicBezTo>
                  <a:cubicBezTo>
                    <a:pt x="15999" y="3508"/>
                    <a:pt x="24469" y="0"/>
                    <a:pt x="33301" y="0"/>
                  </a:cubicBezTo>
                  <a:close/>
                </a:path>
              </a:pathLst>
            </a:custGeom>
            <a:blipFill>
              <a:blip r:embed="rId3"/>
              <a:stretch>
                <a:fillRect l="-342" r="-342"/>
              </a:stretch>
            </a:blipFill>
          </p:spPr>
        </p:sp>
      </p:grpSp>
      <p:grpSp>
        <p:nvGrpSpPr>
          <p:cNvPr id="15" name="Group 15"/>
          <p:cNvGrpSpPr/>
          <p:nvPr/>
        </p:nvGrpSpPr>
        <p:grpSpPr>
          <a:xfrm>
            <a:off x="12572253" y="4248150"/>
            <a:ext cx="4649694" cy="3581400"/>
            <a:chOff x="0" y="0"/>
            <a:chExt cx="1259398" cy="970044"/>
          </a:xfrm>
        </p:grpSpPr>
        <p:sp>
          <p:nvSpPr>
            <p:cNvPr id="16" name="Freeform 16"/>
            <p:cNvSpPr/>
            <p:nvPr/>
          </p:nvSpPr>
          <p:spPr>
            <a:xfrm>
              <a:off x="0" y="0"/>
              <a:ext cx="1259398" cy="970044"/>
            </a:xfrm>
            <a:custGeom>
              <a:avLst/>
              <a:gdLst/>
              <a:ahLst/>
              <a:cxnLst/>
              <a:rect l="l" t="t" r="r" b="b"/>
              <a:pathLst>
                <a:path w="1259398" h="970044">
                  <a:moveTo>
                    <a:pt x="33301" y="0"/>
                  </a:moveTo>
                  <a:lnTo>
                    <a:pt x="1226097" y="0"/>
                  </a:lnTo>
                  <a:cubicBezTo>
                    <a:pt x="1244489" y="0"/>
                    <a:pt x="1259398" y="14909"/>
                    <a:pt x="1259398" y="33301"/>
                  </a:cubicBezTo>
                  <a:lnTo>
                    <a:pt x="1259398" y="936743"/>
                  </a:lnTo>
                  <a:cubicBezTo>
                    <a:pt x="1259398" y="955135"/>
                    <a:pt x="1244489" y="970044"/>
                    <a:pt x="1226097" y="970044"/>
                  </a:cubicBezTo>
                  <a:lnTo>
                    <a:pt x="33301" y="970044"/>
                  </a:lnTo>
                  <a:cubicBezTo>
                    <a:pt x="24469" y="970044"/>
                    <a:pt x="15999" y="966535"/>
                    <a:pt x="9754" y="960290"/>
                  </a:cubicBezTo>
                  <a:cubicBezTo>
                    <a:pt x="3508" y="954045"/>
                    <a:pt x="0" y="945575"/>
                    <a:pt x="0" y="936743"/>
                  </a:cubicBezTo>
                  <a:lnTo>
                    <a:pt x="0" y="33301"/>
                  </a:lnTo>
                  <a:cubicBezTo>
                    <a:pt x="0" y="24469"/>
                    <a:pt x="3508" y="15999"/>
                    <a:pt x="9754" y="9754"/>
                  </a:cubicBezTo>
                  <a:cubicBezTo>
                    <a:pt x="15999" y="3508"/>
                    <a:pt x="24469" y="0"/>
                    <a:pt x="33301" y="0"/>
                  </a:cubicBezTo>
                  <a:close/>
                </a:path>
              </a:pathLst>
            </a:custGeom>
            <a:blipFill>
              <a:blip r:embed="rId4"/>
              <a:stretch>
                <a:fillRect l="-342" r="-342"/>
              </a:stretch>
            </a:blipFill>
          </p:spPr>
        </p:sp>
      </p:grpSp>
      <p:sp>
        <p:nvSpPr>
          <p:cNvPr id="17" name="TextBox 17"/>
          <p:cNvSpPr txBox="1"/>
          <p:nvPr/>
        </p:nvSpPr>
        <p:spPr>
          <a:xfrm>
            <a:off x="1021783" y="8273471"/>
            <a:ext cx="4738234" cy="683577"/>
          </a:xfrm>
          <a:prstGeom prst="rect">
            <a:avLst/>
          </a:prstGeom>
        </p:spPr>
        <p:txBody>
          <a:bodyPr lIns="0" tIns="0" rIns="0" bIns="0" rtlCol="0" anchor="t">
            <a:spAutoFit/>
          </a:bodyPr>
          <a:lstStyle/>
          <a:p>
            <a:pPr marL="0" lvl="0" indent="0" algn="ctr">
              <a:lnSpc>
                <a:spcPts val="2747"/>
              </a:lnSpc>
            </a:pPr>
            <a:r>
              <a:rPr lang="en-US" sz="1962" spc="-29">
                <a:solidFill>
                  <a:srgbClr val="1C1C1C"/>
                </a:solidFill>
                <a:latin typeface="Helvetica World"/>
                <a:ea typeface="Helvetica World"/>
                <a:cs typeface="Helvetica World"/>
                <a:sym typeface="Helvetica World"/>
              </a:rPr>
              <a:t>Compare adjacent elements to determine if they need swapping for sorting.</a:t>
            </a:r>
          </a:p>
        </p:txBody>
      </p:sp>
      <p:sp>
        <p:nvSpPr>
          <p:cNvPr id="18" name="TextBox 18"/>
          <p:cNvSpPr txBox="1"/>
          <p:nvPr/>
        </p:nvSpPr>
        <p:spPr>
          <a:xfrm>
            <a:off x="1041066" y="3381375"/>
            <a:ext cx="4699667" cy="543561"/>
          </a:xfrm>
          <a:prstGeom prst="rect">
            <a:avLst/>
          </a:prstGeom>
        </p:spPr>
        <p:txBody>
          <a:bodyPr lIns="0" tIns="0" rIns="0" bIns="0" rtlCol="0" anchor="t">
            <a:spAutoFit/>
          </a:bodyPr>
          <a:lstStyle/>
          <a:p>
            <a:pPr marL="0" lvl="0" indent="0" algn="ctr">
              <a:lnSpc>
                <a:spcPts val="4180"/>
              </a:lnSpc>
              <a:spcBef>
                <a:spcPct val="0"/>
              </a:spcBef>
            </a:pPr>
            <a:r>
              <a:rPr lang="en-US" sz="3800" u="none" strike="noStrike" spc="-95">
                <a:solidFill>
                  <a:srgbClr val="2A3A66"/>
                </a:solidFill>
                <a:latin typeface="Georgia Pro Condensed"/>
                <a:ea typeface="Georgia Pro Condensed"/>
                <a:cs typeface="Georgia Pro Condensed"/>
                <a:sym typeface="Georgia Pro Condensed"/>
              </a:rPr>
              <a:t>Compare Elements</a:t>
            </a:r>
          </a:p>
        </p:txBody>
      </p:sp>
      <p:sp>
        <p:nvSpPr>
          <p:cNvPr id="19" name="TextBox 19"/>
          <p:cNvSpPr txBox="1"/>
          <p:nvPr/>
        </p:nvSpPr>
        <p:spPr>
          <a:xfrm>
            <a:off x="6773192" y="8273471"/>
            <a:ext cx="4741615" cy="683577"/>
          </a:xfrm>
          <a:prstGeom prst="rect">
            <a:avLst/>
          </a:prstGeom>
        </p:spPr>
        <p:txBody>
          <a:bodyPr lIns="0" tIns="0" rIns="0" bIns="0" rtlCol="0" anchor="t">
            <a:spAutoFit/>
          </a:bodyPr>
          <a:lstStyle/>
          <a:p>
            <a:pPr marL="0" lvl="0" indent="0" algn="ctr">
              <a:lnSpc>
                <a:spcPts val="2747"/>
              </a:lnSpc>
            </a:pPr>
            <a:r>
              <a:rPr lang="en-US" sz="1962" spc="-29">
                <a:solidFill>
                  <a:srgbClr val="1C1C1C"/>
                </a:solidFill>
                <a:latin typeface="Helvetica World"/>
                <a:ea typeface="Helvetica World"/>
                <a:cs typeface="Helvetica World"/>
                <a:sym typeface="Helvetica World"/>
              </a:rPr>
              <a:t>Elements are swapped if they are in the wrong order, ensuring sorting progress.</a:t>
            </a:r>
          </a:p>
        </p:txBody>
      </p:sp>
      <p:sp>
        <p:nvSpPr>
          <p:cNvPr id="20" name="TextBox 20"/>
          <p:cNvSpPr txBox="1"/>
          <p:nvPr/>
        </p:nvSpPr>
        <p:spPr>
          <a:xfrm>
            <a:off x="6773192" y="3381375"/>
            <a:ext cx="4741615" cy="543561"/>
          </a:xfrm>
          <a:prstGeom prst="rect">
            <a:avLst/>
          </a:prstGeom>
        </p:spPr>
        <p:txBody>
          <a:bodyPr lIns="0" tIns="0" rIns="0" bIns="0" rtlCol="0" anchor="t">
            <a:spAutoFit/>
          </a:bodyPr>
          <a:lstStyle/>
          <a:p>
            <a:pPr marL="0" lvl="0" indent="0" algn="ctr">
              <a:lnSpc>
                <a:spcPts val="4180"/>
              </a:lnSpc>
              <a:spcBef>
                <a:spcPct val="0"/>
              </a:spcBef>
            </a:pPr>
            <a:r>
              <a:rPr lang="en-US" sz="3800" u="none" strike="noStrike" spc="-95">
                <a:solidFill>
                  <a:srgbClr val="2A3A66"/>
                </a:solidFill>
                <a:latin typeface="Georgia Pro Condensed"/>
                <a:ea typeface="Georgia Pro Condensed"/>
                <a:cs typeface="Georgia Pro Condensed"/>
                <a:sym typeface="Georgia Pro Condensed"/>
              </a:rPr>
              <a:t>Swap if Needed</a:t>
            </a:r>
          </a:p>
        </p:txBody>
      </p:sp>
      <p:sp>
        <p:nvSpPr>
          <p:cNvPr id="21" name="TextBox 21"/>
          <p:cNvSpPr txBox="1"/>
          <p:nvPr/>
        </p:nvSpPr>
        <p:spPr>
          <a:xfrm>
            <a:off x="12551109" y="8272319"/>
            <a:ext cx="4691983" cy="683577"/>
          </a:xfrm>
          <a:prstGeom prst="rect">
            <a:avLst/>
          </a:prstGeom>
        </p:spPr>
        <p:txBody>
          <a:bodyPr lIns="0" tIns="0" rIns="0" bIns="0" rtlCol="0" anchor="t">
            <a:spAutoFit/>
          </a:bodyPr>
          <a:lstStyle/>
          <a:p>
            <a:pPr marL="0" lvl="0" indent="0" algn="ctr">
              <a:lnSpc>
                <a:spcPts val="2747"/>
              </a:lnSpc>
            </a:pPr>
            <a:r>
              <a:rPr lang="en-US" sz="1962" spc="-29">
                <a:solidFill>
                  <a:srgbClr val="1C1C1C"/>
                </a:solidFill>
                <a:latin typeface="Helvetica World"/>
                <a:ea typeface="Helvetica World"/>
                <a:cs typeface="Helvetica World"/>
                <a:sym typeface="Helvetica World"/>
              </a:rPr>
              <a:t>The sorting process continues with repeated passes until the entire list is sorted.</a:t>
            </a:r>
          </a:p>
        </p:txBody>
      </p:sp>
      <p:sp>
        <p:nvSpPr>
          <p:cNvPr id="22" name="TextBox 22"/>
          <p:cNvSpPr txBox="1"/>
          <p:nvPr/>
        </p:nvSpPr>
        <p:spPr>
          <a:xfrm>
            <a:off x="12551109" y="3381375"/>
            <a:ext cx="4691983" cy="543561"/>
          </a:xfrm>
          <a:prstGeom prst="rect">
            <a:avLst/>
          </a:prstGeom>
        </p:spPr>
        <p:txBody>
          <a:bodyPr lIns="0" tIns="0" rIns="0" bIns="0" rtlCol="0" anchor="t">
            <a:spAutoFit/>
          </a:bodyPr>
          <a:lstStyle/>
          <a:p>
            <a:pPr marL="0" lvl="0" indent="0" algn="ctr">
              <a:lnSpc>
                <a:spcPts val="4180"/>
              </a:lnSpc>
            </a:pPr>
            <a:r>
              <a:rPr lang="en-US" sz="3800" spc="-95">
                <a:solidFill>
                  <a:srgbClr val="2A3A66"/>
                </a:solidFill>
                <a:latin typeface="Georgia Pro Condensed"/>
                <a:ea typeface="Georgia Pro Condensed"/>
                <a:cs typeface="Georgia Pro Condensed"/>
                <a:sym typeface="Georgia Pro Condensed"/>
              </a:rPr>
              <a:t>Repeat Passes</a:t>
            </a:r>
          </a:p>
        </p:txBody>
      </p:sp>
      <p:sp>
        <p:nvSpPr>
          <p:cNvPr id="23" name="TextBox 23"/>
          <p:cNvSpPr txBox="1"/>
          <p:nvPr/>
        </p:nvSpPr>
        <p:spPr>
          <a:xfrm>
            <a:off x="666750" y="809625"/>
            <a:ext cx="16954500" cy="1069976"/>
          </a:xfrm>
          <a:prstGeom prst="rect">
            <a:avLst/>
          </a:prstGeom>
        </p:spPr>
        <p:txBody>
          <a:bodyPr lIns="0" tIns="0" rIns="0" bIns="0" rtlCol="0" anchor="t">
            <a:spAutoFit/>
          </a:bodyPr>
          <a:lstStyle/>
          <a:p>
            <a:pPr marL="0" lvl="0" indent="0" algn="ctr">
              <a:lnSpc>
                <a:spcPts val="8000"/>
              </a:lnSpc>
            </a:pPr>
            <a:r>
              <a:rPr lang="en-US" sz="8000" spc="-200">
                <a:solidFill>
                  <a:srgbClr val="F4F6F8"/>
                </a:solidFill>
                <a:latin typeface="Georgia Pro Condensed"/>
                <a:ea typeface="Georgia Pro Condensed"/>
                <a:cs typeface="Georgia Pro Condensed"/>
                <a:sym typeface="Georgia Pro Condensed"/>
              </a:rPr>
              <a:t>Bubble Sort Steps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A3A66"/>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2457450"/>
            <a:chOff x="0" y="0"/>
            <a:chExt cx="4816593" cy="647230"/>
          </a:xfrm>
        </p:grpSpPr>
        <p:sp>
          <p:nvSpPr>
            <p:cNvPr id="3" name="Freeform 3"/>
            <p:cNvSpPr/>
            <p:nvPr/>
          </p:nvSpPr>
          <p:spPr>
            <a:xfrm>
              <a:off x="0" y="0"/>
              <a:ext cx="4816592" cy="647230"/>
            </a:xfrm>
            <a:custGeom>
              <a:avLst/>
              <a:gdLst/>
              <a:ahLst/>
              <a:cxnLst/>
              <a:rect l="l" t="t" r="r" b="b"/>
              <a:pathLst>
                <a:path w="4816592" h="647230">
                  <a:moveTo>
                    <a:pt x="0" y="0"/>
                  </a:moveTo>
                  <a:lnTo>
                    <a:pt x="4816592" y="0"/>
                  </a:lnTo>
                  <a:lnTo>
                    <a:pt x="4816592" y="647230"/>
                  </a:lnTo>
                  <a:lnTo>
                    <a:pt x="0" y="647230"/>
                  </a:lnTo>
                  <a:close/>
                </a:path>
              </a:pathLst>
            </a:custGeom>
            <a:solidFill>
              <a:srgbClr val="F4F6F8"/>
            </a:solidFill>
          </p:spPr>
        </p:sp>
        <p:sp>
          <p:nvSpPr>
            <p:cNvPr id="4" name="TextBox 4"/>
            <p:cNvSpPr txBox="1"/>
            <p:nvPr/>
          </p:nvSpPr>
          <p:spPr>
            <a:xfrm>
              <a:off x="0" y="-57150"/>
              <a:ext cx="4816593" cy="704380"/>
            </a:xfrm>
            <a:prstGeom prst="rect">
              <a:avLst/>
            </a:prstGeom>
          </p:spPr>
          <p:txBody>
            <a:bodyPr lIns="50800" tIns="50800" rIns="50800" bIns="50800" rtlCol="0" anchor="ctr"/>
            <a:lstStyle/>
            <a:p>
              <a:pPr marL="0" lvl="0" indent="0" algn="ctr">
                <a:lnSpc>
                  <a:spcPts val="2800"/>
                </a:lnSpc>
              </a:pPr>
              <a:endParaRPr/>
            </a:p>
          </p:txBody>
        </p:sp>
      </p:grpSp>
      <p:grpSp>
        <p:nvGrpSpPr>
          <p:cNvPr id="5" name="Group 5"/>
          <p:cNvGrpSpPr/>
          <p:nvPr/>
        </p:nvGrpSpPr>
        <p:grpSpPr>
          <a:xfrm>
            <a:off x="666750" y="3352800"/>
            <a:ext cx="11201400" cy="6267450"/>
            <a:chOff x="0" y="0"/>
            <a:chExt cx="1471052" cy="823089"/>
          </a:xfrm>
        </p:grpSpPr>
        <p:sp>
          <p:nvSpPr>
            <p:cNvPr id="6" name="Freeform 6"/>
            <p:cNvSpPr/>
            <p:nvPr/>
          </p:nvSpPr>
          <p:spPr>
            <a:xfrm>
              <a:off x="0" y="0"/>
              <a:ext cx="1471052" cy="823089"/>
            </a:xfrm>
            <a:custGeom>
              <a:avLst/>
              <a:gdLst/>
              <a:ahLst/>
              <a:cxnLst/>
              <a:rect l="l" t="t" r="r" b="b"/>
              <a:pathLst>
                <a:path w="1471052" h="823089">
                  <a:moveTo>
                    <a:pt x="13823" y="0"/>
                  </a:moveTo>
                  <a:lnTo>
                    <a:pt x="1457229" y="0"/>
                  </a:lnTo>
                  <a:cubicBezTo>
                    <a:pt x="1460895" y="0"/>
                    <a:pt x="1464411" y="1456"/>
                    <a:pt x="1467004" y="4049"/>
                  </a:cubicBezTo>
                  <a:cubicBezTo>
                    <a:pt x="1469596" y="6641"/>
                    <a:pt x="1471052" y="10157"/>
                    <a:pt x="1471052" y="13823"/>
                  </a:cubicBezTo>
                  <a:lnTo>
                    <a:pt x="1471052" y="809266"/>
                  </a:lnTo>
                  <a:cubicBezTo>
                    <a:pt x="1471052" y="812932"/>
                    <a:pt x="1469596" y="816448"/>
                    <a:pt x="1467004" y="819040"/>
                  </a:cubicBezTo>
                  <a:cubicBezTo>
                    <a:pt x="1464411" y="821632"/>
                    <a:pt x="1460895" y="823089"/>
                    <a:pt x="1457229" y="823089"/>
                  </a:cubicBezTo>
                  <a:lnTo>
                    <a:pt x="13823" y="823089"/>
                  </a:lnTo>
                  <a:cubicBezTo>
                    <a:pt x="10157" y="823089"/>
                    <a:pt x="6641" y="821632"/>
                    <a:pt x="4049" y="819040"/>
                  </a:cubicBezTo>
                  <a:cubicBezTo>
                    <a:pt x="1456" y="816448"/>
                    <a:pt x="0" y="812932"/>
                    <a:pt x="0" y="809266"/>
                  </a:cubicBezTo>
                  <a:lnTo>
                    <a:pt x="0" y="13823"/>
                  </a:lnTo>
                  <a:cubicBezTo>
                    <a:pt x="0" y="10157"/>
                    <a:pt x="1456" y="6641"/>
                    <a:pt x="4049" y="4049"/>
                  </a:cubicBezTo>
                  <a:cubicBezTo>
                    <a:pt x="6641" y="1456"/>
                    <a:pt x="10157" y="0"/>
                    <a:pt x="13823" y="0"/>
                  </a:cubicBezTo>
                  <a:close/>
                </a:path>
              </a:pathLst>
            </a:custGeom>
            <a:blipFill>
              <a:blip r:embed="rId2"/>
              <a:stretch>
                <a:fillRect l="-521" r="-521"/>
              </a:stretch>
            </a:blipFill>
          </p:spPr>
        </p:sp>
      </p:grpSp>
      <p:grpSp>
        <p:nvGrpSpPr>
          <p:cNvPr id="7" name="Group 7"/>
          <p:cNvGrpSpPr/>
          <p:nvPr/>
        </p:nvGrpSpPr>
        <p:grpSpPr>
          <a:xfrm>
            <a:off x="12172950" y="3352800"/>
            <a:ext cx="5448300" cy="6267450"/>
            <a:chOff x="0" y="0"/>
            <a:chExt cx="715512" cy="823089"/>
          </a:xfrm>
        </p:grpSpPr>
        <p:sp>
          <p:nvSpPr>
            <p:cNvPr id="8" name="Freeform 8"/>
            <p:cNvSpPr/>
            <p:nvPr/>
          </p:nvSpPr>
          <p:spPr>
            <a:xfrm>
              <a:off x="0" y="0"/>
              <a:ext cx="715512" cy="823089"/>
            </a:xfrm>
            <a:custGeom>
              <a:avLst/>
              <a:gdLst/>
              <a:ahLst/>
              <a:cxnLst/>
              <a:rect l="l" t="t" r="r" b="b"/>
              <a:pathLst>
                <a:path w="715512" h="823089">
                  <a:moveTo>
                    <a:pt x="28420" y="0"/>
                  </a:moveTo>
                  <a:lnTo>
                    <a:pt x="687092" y="0"/>
                  </a:lnTo>
                  <a:cubicBezTo>
                    <a:pt x="702788" y="0"/>
                    <a:pt x="715512" y="12724"/>
                    <a:pt x="715512" y="28420"/>
                  </a:cubicBezTo>
                  <a:lnTo>
                    <a:pt x="715512" y="794669"/>
                  </a:lnTo>
                  <a:cubicBezTo>
                    <a:pt x="715512" y="802206"/>
                    <a:pt x="712518" y="809435"/>
                    <a:pt x="707188" y="814765"/>
                  </a:cubicBezTo>
                  <a:cubicBezTo>
                    <a:pt x="701858" y="820095"/>
                    <a:pt x="694630" y="823089"/>
                    <a:pt x="687092" y="823089"/>
                  </a:cubicBezTo>
                  <a:lnTo>
                    <a:pt x="28420" y="823089"/>
                  </a:lnTo>
                  <a:cubicBezTo>
                    <a:pt x="12724" y="823089"/>
                    <a:pt x="0" y="810365"/>
                    <a:pt x="0" y="794669"/>
                  </a:cubicBezTo>
                  <a:lnTo>
                    <a:pt x="0" y="28420"/>
                  </a:lnTo>
                  <a:cubicBezTo>
                    <a:pt x="0" y="12724"/>
                    <a:pt x="12724" y="0"/>
                    <a:pt x="28420" y="0"/>
                  </a:cubicBezTo>
                  <a:close/>
                </a:path>
              </a:pathLst>
            </a:custGeom>
            <a:blipFill>
              <a:blip r:embed="rId3"/>
              <a:stretch>
                <a:fillRect t="-103" b="-103"/>
              </a:stretch>
            </a:blipFill>
          </p:spPr>
        </p:sp>
      </p:grpSp>
      <p:sp>
        <p:nvSpPr>
          <p:cNvPr id="9" name="TextBox 9"/>
          <p:cNvSpPr txBox="1"/>
          <p:nvPr/>
        </p:nvSpPr>
        <p:spPr>
          <a:xfrm>
            <a:off x="666750" y="809625"/>
            <a:ext cx="16954500" cy="1069976"/>
          </a:xfrm>
          <a:prstGeom prst="rect">
            <a:avLst/>
          </a:prstGeom>
        </p:spPr>
        <p:txBody>
          <a:bodyPr lIns="0" tIns="0" rIns="0" bIns="0" rtlCol="0" anchor="t">
            <a:spAutoFit/>
          </a:bodyPr>
          <a:lstStyle/>
          <a:p>
            <a:pPr marL="0" lvl="0" indent="0" algn="l">
              <a:lnSpc>
                <a:spcPts val="8000"/>
              </a:lnSpc>
            </a:pPr>
            <a:r>
              <a:rPr lang="en-US" sz="8000" spc="-240">
                <a:solidFill>
                  <a:srgbClr val="2A3A66"/>
                </a:solidFill>
                <a:latin typeface="Georgia Pro Condensed"/>
                <a:ea typeface="Georgia Pro Condensed"/>
                <a:cs typeface="Georgia Pro Condensed"/>
                <a:sym typeface="Georgia Pro Condensed"/>
              </a:rPr>
              <a:t>Tracing Bubble Sort Steps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7858125" cy="10287000"/>
            <a:chOff x="0" y="0"/>
            <a:chExt cx="2069630" cy="2709333"/>
          </a:xfrm>
        </p:grpSpPr>
        <p:sp>
          <p:nvSpPr>
            <p:cNvPr id="3" name="Freeform 3"/>
            <p:cNvSpPr/>
            <p:nvPr/>
          </p:nvSpPr>
          <p:spPr>
            <a:xfrm>
              <a:off x="0" y="0"/>
              <a:ext cx="2069630" cy="2709333"/>
            </a:xfrm>
            <a:custGeom>
              <a:avLst/>
              <a:gdLst/>
              <a:ahLst/>
              <a:cxnLst/>
              <a:rect l="l" t="t" r="r" b="b"/>
              <a:pathLst>
                <a:path w="2069630" h="2709333">
                  <a:moveTo>
                    <a:pt x="0" y="0"/>
                  </a:moveTo>
                  <a:lnTo>
                    <a:pt x="2069630" y="0"/>
                  </a:lnTo>
                  <a:lnTo>
                    <a:pt x="2069630" y="2709333"/>
                  </a:lnTo>
                  <a:lnTo>
                    <a:pt x="0" y="2709333"/>
                  </a:lnTo>
                  <a:close/>
                </a:path>
              </a:pathLst>
            </a:custGeom>
            <a:solidFill>
              <a:srgbClr val="A9BCEB"/>
            </a:solidFill>
            <a:ln cap="sq">
              <a:noFill/>
              <a:prstDash val="solid"/>
              <a:miter/>
            </a:ln>
          </p:spPr>
        </p:sp>
        <p:sp>
          <p:nvSpPr>
            <p:cNvPr id="4" name="TextBox 4"/>
            <p:cNvSpPr txBox="1"/>
            <p:nvPr/>
          </p:nvSpPr>
          <p:spPr>
            <a:xfrm>
              <a:off x="0" y="-57150"/>
              <a:ext cx="2069630" cy="2766483"/>
            </a:xfrm>
            <a:prstGeom prst="rect">
              <a:avLst/>
            </a:prstGeom>
          </p:spPr>
          <p:txBody>
            <a:bodyPr lIns="50800" tIns="50800" rIns="50800" bIns="50800" rtlCol="0" anchor="ctr"/>
            <a:lstStyle/>
            <a:p>
              <a:pPr marL="0" lvl="0" indent="0" algn="ctr">
                <a:lnSpc>
                  <a:spcPts val="3359"/>
                </a:lnSpc>
              </a:pPr>
              <a:endParaRPr/>
            </a:p>
          </p:txBody>
        </p:sp>
      </p:grpSp>
      <p:sp>
        <p:nvSpPr>
          <p:cNvPr id="5" name="TextBox 5"/>
          <p:cNvSpPr txBox="1"/>
          <p:nvPr/>
        </p:nvSpPr>
        <p:spPr>
          <a:xfrm>
            <a:off x="666750" y="809625"/>
            <a:ext cx="5448300" cy="3089279"/>
          </a:xfrm>
          <a:prstGeom prst="rect">
            <a:avLst/>
          </a:prstGeom>
        </p:spPr>
        <p:txBody>
          <a:bodyPr lIns="0" tIns="0" rIns="0" bIns="0" rtlCol="0" anchor="t">
            <a:spAutoFit/>
          </a:bodyPr>
          <a:lstStyle/>
          <a:p>
            <a:pPr marL="0" lvl="0" indent="0" algn="l">
              <a:lnSpc>
                <a:spcPts val="8000"/>
              </a:lnSpc>
            </a:pPr>
            <a:r>
              <a:rPr lang="en-US" sz="8000">
                <a:solidFill>
                  <a:srgbClr val="2A3A66"/>
                </a:solidFill>
                <a:latin typeface="Georgia Pro Condensed"/>
                <a:ea typeface="Georgia Pro Condensed"/>
                <a:cs typeface="Georgia Pro Condensed"/>
                <a:sym typeface="Georgia Pro Condensed"/>
              </a:rPr>
              <a:t>Key Takeaways and Insights</a:t>
            </a:r>
          </a:p>
        </p:txBody>
      </p:sp>
      <p:sp>
        <p:nvSpPr>
          <p:cNvPr id="6" name="Freeform 6"/>
          <p:cNvSpPr/>
          <p:nvPr/>
        </p:nvSpPr>
        <p:spPr>
          <a:xfrm>
            <a:off x="708153" y="7606302"/>
            <a:ext cx="2112604" cy="1859092"/>
          </a:xfrm>
          <a:custGeom>
            <a:avLst/>
            <a:gdLst/>
            <a:ahLst/>
            <a:cxnLst/>
            <a:rect l="l" t="t" r="r" b="b"/>
            <a:pathLst>
              <a:path w="2112604" h="1859092">
                <a:moveTo>
                  <a:pt x="0" y="0"/>
                </a:moveTo>
                <a:lnTo>
                  <a:pt x="2112604" y="0"/>
                </a:lnTo>
                <a:lnTo>
                  <a:pt x="2112604" y="1859092"/>
                </a:lnTo>
                <a:lnTo>
                  <a:pt x="0" y="185909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7" name="Group 7"/>
          <p:cNvGrpSpPr/>
          <p:nvPr/>
        </p:nvGrpSpPr>
        <p:grpSpPr>
          <a:xfrm>
            <a:off x="10734675" y="6944836"/>
            <a:ext cx="6886575" cy="1837373"/>
            <a:chOff x="0" y="0"/>
            <a:chExt cx="9182100" cy="2449830"/>
          </a:xfrm>
        </p:grpSpPr>
        <p:sp>
          <p:nvSpPr>
            <p:cNvPr id="8" name="TextBox 8"/>
            <p:cNvSpPr txBox="1"/>
            <p:nvPr/>
          </p:nvSpPr>
          <p:spPr>
            <a:xfrm>
              <a:off x="0" y="-9525"/>
              <a:ext cx="9182100" cy="669925"/>
            </a:xfrm>
            <a:prstGeom prst="rect">
              <a:avLst/>
            </a:prstGeom>
          </p:spPr>
          <p:txBody>
            <a:bodyPr lIns="0" tIns="0" rIns="0" bIns="0" rtlCol="0" anchor="t">
              <a:spAutoFit/>
            </a:bodyPr>
            <a:lstStyle/>
            <a:p>
              <a:pPr marL="0" lvl="0" indent="0" algn="l">
                <a:lnSpc>
                  <a:spcPts val="3600"/>
                </a:lnSpc>
                <a:spcBef>
                  <a:spcPct val="0"/>
                </a:spcBef>
              </a:pPr>
              <a:r>
                <a:rPr lang="en-US" sz="3000" b="1" spc="-44">
                  <a:solidFill>
                    <a:srgbClr val="2A3A66"/>
                  </a:solidFill>
                  <a:latin typeface="Helvetica World Bold"/>
                  <a:ea typeface="Helvetica World Bold"/>
                  <a:cs typeface="Helvetica World Bold"/>
                  <a:sym typeface="Helvetica World Bold"/>
                </a:rPr>
                <a:t>Tracing Importance</a:t>
              </a:r>
            </a:p>
          </p:txBody>
        </p:sp>
        <p:sp>
          <p:nvSpPr>
            <p:cNvPr id="9" name="TextBox 9"/>
            <p:cNvSpPr txBox="1"/>
            <p:nvPr/>
          </p:nvSpPr>
          <p:spPr>
            <a:xfrm>
              <a:off x="0" y="1295189"/>
              <a:ext cx="9182100" cy="1154642"/>
            </a:xfrm>
            <a:prstGeom prst="rect">
              <a:avLst/>
            </a:prstGeom>
          </p:spPr>
          <p:txBody>
            <a:bodyPr lIns="0" tIns="0" rIns="0" bIns="0" rtlCol="0" anchor="t">
              <a:spAutoFit/>
            </a:bodyPr>
            <a:lstStyle/>
            <a:p>
              <a:pPr marL="0" lvl="0" indent="0" algn="l">
                <a:lnSpc>
                  <a:spcPts val="3249"/>
                </a:lnSpc>
                <a:spcBef>
                  <a:spcPct val="0"/>
                </a:spcBef>
              </a:pPr>
              <a:r>
                <a:rPr lang="en-US" sz="2499" u="none" strike="noStrike" spc="-37">
                  <a:solidFill>
                    <a:srgbClr val="1C1C1C"/>
                  </a:solidFill>
                  <a:latin typeface="Helvetica World"/>
                  <a:ea typeface="Helvetica World"/>
                  <a:cs typeface="Helvetica World"/>
                  <a:sym typeface="Helvetica World"/>
                </a:rPr>
                <a:t>Understanding algorithms requires </a:t>
              </a:r>
              <a:r>
                <a:rPr lang="en-US" sz="2499" b="1" u="none" strike="noStrike" spc="-37">
                  <a:solidFill>
                    <a:srgbClr val="1C1C1C"/>
                  </a:solidFill>
                  <a:latin typeface="Helvetica World Bold"/>
                  <a:ea typeface="Helvetica World Bold"/>
                  <a:cs typeface="Helvetica World Bold"/>
                  <a:sym typeface="Helvetica World Bold"/>
                </a:rPr>
                <a:t>step-by-step tracing practice.</a:t>
              </a:r>
            </a:p>
          </p:txBody>
        </p:sp>
      </p:grpSp>
      <p:sp>
        <p:nvSpPr>
          <p:cNvPr id="10" name="TextBox 10"/>
          <p:cNvSpPr txBox="1"/>
          <p:nvPr/>
        </p:nvSpPr>
        <p:spPr>
          <a:xfrm>
            <a:off x="9296400" y="4250055"/>
            <a:ext cx="864987" cy="428625"/>
          </a:xfrm>
          <a:prstGeom prst="rect">
            <a:avLst/>
          </a:prstGeom>
        </p:spPr>
        <p:txBody>
          <a:bodyPr lIns="0" tIns="0" rIns="0" bIns="0" rtlCol="0" anchor="t">
            <a:spAutoFit/>
          </a:bodyPr>
          <a:lstStyle/>
          <a:p>
            <a:pPr marL="0" lvl="0" indent="0" algn="l">
              <a:lnSpc>
                <a:spcPts val="3359"/>
              </a:lnSpc>
              <a:spcBef>
                <a:spcPct val="0"/>
              </a:spcBef>
            </a:pPr>
            <a:r>
              <a:rPr lang="en-US" sz="2799" u="none">
                <a:solidFill>
                  <a:srgbClr val="1C1C1C"/>
                </a:solidFill>
                <a:latin typeface="Georgia Pro Condensed"/>
                <a:ea typeface="Georgia Pro Condensed"/>
                <a:cs typeface="Georgia Pro Condensed"/>
                <a:sym typeface="Georgia Pro Condensed"/>
              </a:rPr>
              <a:t>02</a:t>
            </a:r>
          </a:p>
        </p:txBody>
      </p:sp>
      <p:sp>
        <p:nvSpPr>
          <p:cNvPr id="11" name="TextBox 11"/>
          <p:cNvSpPr txBox="1"/>
          <p:nvPr/>
        </p:nvSpPr>
        <p:spPr>
          <a:xfrm>
            <a:off x="9296400" y="1553369"/>
            <a:ext cx="864987" cy="428625"/>
          </a:xfrm>
          <a:prstGeom prst="rect">
            <a:avLst/>
          </a:prstGeom>
        </p:spPr>
        <p:txBody>
          <a:bodyPr lIns="0" tIns="0" rIns="0" bIns="0" rtlCol="0" anchor="t">
            <a:spAutoFit/>
          </a:bodyPr>
          <a:lstStyle/>
          <a:p>
            <a:pPr marL="0" lvl="0" indent="0" algn="l">
              <a:lnSpc>
                <a:spcPts val="3359"/>
              </a:lnSpc>
              <a:spcBef>
                <a:spcPct val="0"/>
              </a:spcBef>
            </a:pPr>
            <a:r>
              <a:rPr lang="en-US" sz="2799" u="none">
                <a:solidFill>
                  <a:srgbClr val="1C1C1C"/>
                </a:solidFill>
                <a:latin typeface="Georgia Pro Condensed"/>
                <a:ea typeface="Georgia Pro Condensed"/>
                <a:cs typeface="Georgia Pro Condensed"/>
                <a:sym typeface="Georgia Pro Condensed"/>
              </a:rPr>
              <a:t>01</a:t>
            </a:r>
          </a:p>
        </p:txBody>
      </p:sp>
      <p:sp>
        <p:nvSpPr>
          <p:cNvPr id="12" name="TextBox 12"/>
          <p:cNvSpPr txBox="1"/>
          <p:nvPr/>
        </p:nvSpPr>
        <p:spPr>
          <a:xfrm>
            <a:off x="9296400" y="6936105"/>
            <a:ext cx="864987" cy="428625"/>
          </a:xfrm>
          <a:prstGeom prst="rect">
            <a:avLst/>
          </a:prstGeom>
        </p:spPr>
        <p:txBody>
          <a:bodyPr lIns="0" tIns="0" rIns="0" bIns="0" rtlCol="0" anchor="t">
            <a:spAutoFit/>
          </a:bodyPr>
          <a:lstStyle/>
          <a:p>
            <a:pPr marL="0" lvl="0" indent="0" algn="l">
              <a:lnSpc>
                <a:spcPts val="3359"/>
              </a:lnSpc>
              <a:spcBef>
                <a:spcPct val="0"/>
              </a:spcBef>
            </a:pPr>
            <a:r>
              <a:rPr lang="en-US" sz="2799" u="none">
                <a:solidFill>
                  <a:srgbClr val="1C1C1C"/>
                </a:solidFill>
                <a:latin typeface="Georgia Pro Condensed"/>
                <a:ea typeface="Georgia Pro Condensed"/>
                <a:cs typeface="Georgia Pro Condensed"/>
                <a:sym typeface="Georgia Pro Condensed"/>
              </a:rPr>
              <a:t>03</a:t>
            </a:r>
          </a:p>
        </p:txBody>
      </p:sp>
      <p:grpSp>
        <p:nvGrpSpPr>
          <p:cNvPr id="13" name="Group 13"/>
          <p:cNvGrpSpPr/>
          <p:nvPr/>
        </p:nvGrpSpPr>
        <p:grpSpPr>
          <a:xfrm>
            <a:off x="10734675" y="4248150"/>
            <a:ext cx="6886575" cy="1808798"/>
            <a:chOff x="0" y="0"/>
            <a:chExt cx="9182100" cy="2411730"/>
          </a:xfrm>
        </p:grpSpPr>
        <p:sp>
          <p:nvSpPr>
            <p:cNvPr id="14" name="TextBox 14"/>
            <p:cNvSpPr txBox="1"/>
            <p:nvPr/>
          </p:nvSpPr>
          <p:spPr>
            <a:xfrm>
              <a:off x="0" y="-9525"/>
              <a:ext cx="9182100" cy="669925"/>
            </a:xfrm>
            <a:prstGeom prst="rect">
              <a:avLst/>
            </a:prstGeom>
          </p:spPr>
          <p:txBody>
            <a:bodyPr lIns="0" tIns="0" rIns="0" bIns="0" rtlCol="0" anchor="t">
              <a:spAutoFit/>
            </a:bodyPr>
            <a:lstStyle/>
            <a:p>
              <a:pPr marL="0" lvl="0" indent="0" algn="l">
                <a:lnSpc>
                  <a:spcPts val="3600"/>
                </a:lnSpc>
                <a:spcBef>
                  <a:spcPct val="0"/>
                </a:spcBef>
              </a:pPr>
              <a:r>
                <a:rPr lang="en-US" sz="3000" b="1" u="none" strike="noStrike" spc="-44">
                  <a:solidFill>
                    <a:srgbClr val="2A3A66"/>
                  </a:solidFill>
                  <a:latin typeface="Helvetica World Bold"/>
                  <a:ea typeface="Helvetica World Bold"/>
                  <a:cs typeface="Helvetica World Bold"/>
                  <a:sym typeface="Helvetica World Bold"/>
                </a:rPr>
                <a:t>Sorting Concepts</a:t>
              </a:r>
            </a:p>
          </p:txBody>
        </p:sp>
        <p:sp>
          <p:nvSpPr>
            <p:cNvPr id="15" name="TextBox 15"/>
            <p:cNvSpPr txBox="1"/>
            <p:nvPr/>
          </p:nvSpPr>
          <p:spPr>
            <a:xfrm>
              <a:off x="0" y="1295189"/>
              <a:ext cx="9182100" cy="1116542"/>
            </a:xfrm>
            <a:prstGeom prst="rect">
              <a:avLst/>
            </a:prstGeom>
          </p:spPr>
          <p:txBody>
            <a:bodyPr lIns="0" tIns="0" rIns="0" bIns="0" rtlCol="0" anchor="t">
              <a:spAutoFit/>
            </a:bodyPr>
            <a:lstStyle/>
            <a:p>
              <a:pPr marL="0" lvl="0" indent="0" algn="l">
                <a:lnSpc>
                  <a:spcPts val="3249"/>
                </a:lnSpc>
                <a:spcBef>
                  <a:spcPct val="0"/>
                </a:spcBef>
              </a:pPr>
              <a:r>
                <a:rPr lang="en-US" sz="2499" b="1" u="none" strike="noStrike" spc="-37">
                  <a:solidFill>
                    <a:srgbClr val="1C1C1C"/>
                  </a:solidFill>
                  <a:latin typeface="Helvetica World Bold"/>
                  <a:ea typeface="Helvetica World Bold"/>
                  <a:cs typeface="Helvetica World Bold"/>
                  <a:sym typeface="Helvetica World Bold"/>
                </a:rPr>
                <a:t>Bubble sort</a:t>
              </a:r>
              <a:r>
                <a:rPr lang="en-US" sz="2499" u="none" strike="noStrike" spc="-37">
                  <a:solidFill>
                    <a:srgbClr val="1C1C1C"/>
                  </a:solidFill>
                  <a:latin typeface="Helvetica World"/>
                  <a:ea typeface="Helvetica World"/>
                  <a:cs typeface="Helvetica World"/>
                  <a:sym typeface="Helvetica World"/>
                </a:rPr>
                <a:t> is an essential foundational sorting algorithm.</a:t>
              </a:r>
            </a:p>
          </p:txBody>
        </p:sp>
      </p:grpSp>
      <p:grpSp>
        <p:nvGrpSpPr>
          <p:cNvPr id="16" name="Group 16"/>
          <p:cNvGrpSpPr/>
          <p:nvPr/>
        </p:nvGrpSpPr>
        <p:grpSpPr>
          <a:xfrm>
            <a:off x="10734675" y="1562100"/>
            <a:ext cx="6886575" cy="1808798"/>
            <a:chOff x="0" y="0"/>
            <a:chExt cx="9182100" cy="2411730"/>
          </a:xfrm>
        </p:grpSpPr>
        <p:sp>
          <p:nvSpPr>
            <p:cNvPr id="17" name="TextBox 17"/>
            <p:cNvSpPr txBox="1"/>
            <p:nvPr/>
          </p:nvSpPr>
          <p:spPr>
            <a:xfrm>
              <a:off x="0" y="-9525"/>
              <a:ext cx="9182100" cy="669925"/>
            </a:xfrm>
            <a:prstGeom prst="rect">
              <a:avLst/>
            </a:prstGeom>
          </p:spPr>
          <p:txBody>
            <a:bodyPr lIns="0" tIns="0" rIns="0" bIns="0" rtlCol="0" anchor="t">
              <a:spAutoFit/>
            </a:bodyPr>
            <a:lstStyle/>
            <a:p>
              <a:pPr marL="0" lvl="0" indent="0" algn="l">
                <a:lnSpc>
                  <a:spcPts val="3600"/>
                </a:lnSpc>
                <a:spcBef>
                  <a:spcPct val="0"/>
                </a:spcBef>
              </a:pPr>
              <a:r>
                <a:rPr lang="en-US" sz="3000" b="1" spc="-44">
                  <a:solidFill>
                    <a:srgbClr val="2A3A66"/>
                  </a:solidFill>
                  <a:latin typeface="Helvetica World Bold"/>
                  <a:ea typeface="Helvetica World Bold"/>
                  <a:cs typeface="Helvetica World Bold"/>
                  <a:sym typeface="Helvetica World Bold"/>
                </a:rPr>
                <a:t>Search Algorithms</a:t>
              </a:r>
            </a:p>
          </p:txBody>
        </p:sp>
        <p:sp>
          <p:nvSpPr>
            <p:cNvPr id="18" name="TextBox 18"/>
            <p:cNvSpPr txBox="1"/>
            <p:nvPr/>
          </p:nvSpPr>
          <p:spPr>
            <a:xfrm>
              <a:off x="0" y="1295189"/>
              <a:ext cx="9182100" cy="1116542"/>
            </a:xfrm>
            <a:prstGeom prst="rect">
              <a:avLst/>
            </a:prstGeom>
          </p:spPr>
          <p:txBody>
            <a:bodyPr lIns="0" tIns="0" rIns="0" bIns="0" rtlCol="0" anchor="t">
              <a:spAutoFit/>
            </a:bodyPr>
            <a:lstStyle/>
            <a:p>
              <a:pPr marL="0" lvl="0" indent="0" algn="l">
                <a:lnSpc>
                  <a:spcPts val="3249"/>
                </a:lnSpc>
                <a:spcBef>
                  <a:spcPct val="0"/>
                </a:spcBef>
              </a:pPr>
              <a:r>
                <a:rPr lang="en-US" sz="2499" b="1" u="none" strike="noStrike" spc="-37">
                  <a:solidFill>
                    <a:srgbClr val="1C1C1C"/>
                  </a:solidFill>
                  <a:latin typeface="Helvetica World Bold"/>
                  <a:ea typeface="Helvetica World Bold"/>
                  <a:cs typeface="Helvetica World Bold"/>
                  <a:sym typeface="Helvetica World Bold"/>
                </a:rPr>
                <a:t>Linear and binary searches</a:t>
              </a:r>
              <a:r>
                <a:rPr lang="en-US" sz="2499" u="none" strike="noStrike" spc="-37">
                  <a:solidFill>
                    <a:srgbClr val="1C1C1C"/>
                  </a:solidFill>
                  <a:latin typeface="Helvetica World"/>
                  <a:ea typeface="Helvetica World"/>
                  <a:cs typeface="Helvetica World"/>
                  <a:sym typeface="Helvetica World"/>
                </a:rPr>
                <a:t> each have distinct strengths.</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BCCFFE"/>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7858125" cy="10287000"/>
            <a:chOff x="0" y="0"/>
            <a:chExt cx="1031988" cy="1350966"/>
          </a:xfrm>
        </p:grpSpPr>
        <p:sp>
          <p:nvSpPr>
            <p:cNvPr id="3" name="Freeform 3"/>
            <p:cNvSpPr/>
            <p:nvPr/>
          </p:nvSpPr>
          <p:spPr>
            <a:xfrm>
              <a:off x="0" y="0"/>
              <a:ext cx="1031988" cy="1350966"/>
            </a:xfrm>
            <a:custGeom>
              <a:avLst/>
              <a:gdLst/>
              <a:ahLst/>
              <a:cxnLst/>
              <a:rect l="l" t="t" r="r" b="b"/>
              <a:pathLst>
                <a:path w="1031988" h="1350966">
                  <a:moveTo>
                    <a:pt x="0" y="0"/>
                  </a:moveTo>
                  <a:lnTo>
                    <a:pt x="1031988" y="0"/>
                  </a:lnTo>
                  <a:lnTo>
                    <a:pt x="1031988" y="1350966"/>
                  </a:lnTo>
                  <a:lnTo>
                    <a:pt x="0" y="1350966"/>
                  </a:lnTo>
                  <a:close/>
                </a:path>
              </a:pathLst>
            </a:custGeom>
            <a:solidFill>
              <a:srgbClr val="2A3A66"/>
            </a:solidFill>
            <a:ln w="12700">
              <a:solidFill>
                <a:srgbClr val="000000"/>
              </a:solidFill>
            </a:ln>
          </p:spPr>
        </p:sp>
      </p:grpSp>
      <p:grpSp>
        <p:nvGrpSpPr>
          <p:cNvPr id="4" name="Group 4"/>
          <p:cNvGrpSpPr/>
          <p:nvPr/>
        </p:nvGrpSpPr>
        <p:grpSpPr>
          <a:xfrm>
            <a:off x="1052512" y="666750"/>
            <a:ext cx="5753100" cy="8953500"/>
            <a:chOff x="0" y="0"/>
            <a:chExt cx="814724" cy="1267949"/>
          </a:xfrm>
        </p:grpSpPr>
        <p:sp>
          <p:nvSpPr>
            <p:cNvPr id="5" name="Freeform 5"/>
            <p:cNvSpPr/>
            <p:nvPr/>
          </p:nvSpPr>
          <p:spPr>
            <a:xfrm>
              <a:off x="0" y="0"/>
              <a:ext cx="814724" cy="1267949"/>
            </a:xfrm>
            <a:custGeom>
              <a:avLst/>
              <a:gdLst/>
              <a:ahLst/>
              <a:cxnLst/>
              <a:rect l="l" t="t" r="r" b="b"/>
              <a:pathLst>
                <a:path w="814724" h="1267949">
                  <a:moveTo>
                    <a:pt x="26914" y="0"/>
                  </a:moveTo>
                  <a:lnTo>
                    <a:pt x="787810" y="0"/>
                  </a:lnTo>
                  <a:cubicBezTo>
                    <a:pt x="802675" y="0"/>
                    <a:pt x="814724" y="12050"/>
                    <a:pt x="814724" y="26914"/>
                  </a:cubicBezTo>
                  <a:lnTo>
                    <a:pt x="814724" y="1241035"/>
                  </a:lnTo>
                  <a:cubicBezTo>
                    <a:pt x="814724" y="1255899"/>
                    <a:pt x="802675" y="1267949"/>
                    <a:pt x="787810" y="1267949"/>
                  </a:cubicBezTo>
                  <a:lnTo>
                    <a:pt x="26914" y="1267949"/>
                  </a:lnTo>
                  <a:cubicBezTo>
                    <a:pt x="12050" y="1267949"/>
                    <a:pt x="0" y="1255899"/>
                    <a:pt x="0" y="1241035"/>
                  </a:cubicBezTo>
                  <a:lnTo>
                    <a:pt x="0" y="26914"/>
                  </a:lnTo>
                  <a:cubicBezTo>
                    <a:pt x="0" y="12050"/>
                    <a:pt x="12050" y="0"/>
                    <a:pt x="26914" y="0"/>
                  </a:cubicBezTo>
                  <a:close/>
                </a:path>
              </a:pathLst>
            </a:custGeom>
            <a:blipFill>
              <a:blip r:embed="rId2"/>
              <a:stretch>
                <a:fillRect t="-199" b="-199"/>
              </a:stretch>
            </a:blipFill>
          </p:spPr>
        </p:sp>
      </p:grpSp>
      <p:sp>
        <p:nvSpPr>
          <p:cNvPr id="6" name="TextBox 6"/>
          <p:cNvSpPr txBox="1"/>
          <p:nvPr/>
        </p:nvSpPr>
        <p:spPr>
          <a:xfrm>
            <a:off x="9296400" y="9001760"/>
            <a:ext cx="8324850" cy="618490"/>
          </a:xfrm>
          <a:prstGeom prst="rect">
            <a:avLst/>
          </a:prstGeom>
        </p:spPr>
        <p:txBody>
          <a:bodyPr lIns="0" tIns="0" rIns="0" bIns="0" rtlCol="0" anchor="t">
            <a:spAutoFit/>
          </a:bodyPr>
          <a:lstStyle/>
          <a:p>
            <a:pPr marL="0" lvl="0" indent="0" algn="l">
              <a:lnSpc>
                <a:spcPts val="4940"/>
              </a:lnSpc>
            </a:pPr>
            <a:r>
              <a:rPr lang="en-US" sz="3800" spc="-57">
                <a:solidFill>
                  <a:srgbClr val="1C1C1C"/>
                </a:solidFill>
                <a:latin typeface="Helvetica World"/>
                <a:ea typeface="Helvetica World"/>
                <a:cs typeface="Helvetica World"/>
                <a:sym typeface="Helvetica World"/>
              </a:rPr>
              <a:t>Practice tracing algorithms today!</a:t>
            </a:r>
          </a:p>
        </p:txBody>
      </p:sp>
      <p:sp>
        <p:nvSpPr>
          <p:cNvPr id="7" name="TextBox 7"/>
          <p:cNvSpPr txBox="1"/>
          <p:nvPr/>
        </p:nvSpPr>
        <p:spPr>
          <a:xfrm>
            <a:off x="9303759" y="942975"/>
            <a:ext cx="8317491" cy="3894609"/>
          </a:xfrm>
          <a:prstGeom prst="rect">
            <a:avLst/>
          </a:prstGeom>
        </p:spPr>
        <p:txBody>
          <a:bodyPr lIns="0" tIns="0" rIns="0" bIns="0" rtlCol="0" anchor="t">
            <a:spAutoFit/>
          </a:bodyPr>
          <a:lstStyle/>
          <a:p>
            <a:pPr marL="0" lvl="0" indent="0" algn="l">
              <a:lnSpc>
                <a:spcPts val="14956"/>
              </a:lnSpc>
            </a:pPr>
            <a:r>
              <a:rPr lang="en-US" sz="14956" spc="-523">
                <a:solidFill>
                  <a:srgbClr val="2A3A66"/>
                </a:solidFill>
                <a:latin typeface="Georgia Pro Condensed"/>
                <a:ea typeface="Georgia Pro Condensed"/>
                <a:cs typeface="Georgia Pro Condensed"/>
                <a:sym typeface="Georgia Pro Condensed"/>
              </a:rPr>
              <a:t>Continue Learning</a:t>
            </a:r>
          </a:p>
        </p:txBody>
      </p:sp>
      <p:sp>
        <p:nvSpPr>
          <p:cNvPr id="8" name="Freeform 8"/>
          <p:cNvSpPr/>
          <p:nvPr/>
        </p:nvSpPr>
        <p:spPr>
          <a:xfrm rot="-3117037">
            <a:off x="5418783" y="7952721"/>
            <a:ext cx="2112604" cy="1859092"/>
          </a:xfrm>
          <a:custGeom>
            <a:avLst/>
            <a:gdLst/>
            <a:ahLst/>
            <a:cxnLst/>
            <a:rect l="l" t="t" r="r" b="b"/>
            <a:pathLst>
              <a:path w="2112604" h="1859092">
                <a:moveTo>
                  <a:pt x="0" y="0"/>
                </a:moveTo>
                <a:lnTo>
                  <a:pt x="2112604" y="0"/>
                </a:lnTo>
                <a:lnTo>
                  <a:pt x="2112604" y="1859092"/>
                </a:lnTo>
                <a:lnTo>
                  <a:pt x="0" y="1859092"/>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Lesson on Algorithm </a:t>
            </a:r>
          </a:p>
        </p:txBody>
      </p:sp>
      <p:sp>
        <p:nvSpPr>
          <p:cNvPr id="3" name="Subtitle 2"/>
          <p:cNvSpPr>
            <a:spLocks noGrp="1"/>
          </p:cNvSpPr>
          <p:nvPr>
            <p:ph type="subTitle" idx="1"/>
          </p:nvPr>
        </p:nvSpPr>
        <p:spPr/>
        <p:txBody>
          <a:bodyPr/>
          <a:lstStyle/>
          <a:p>
            <a:r>
              <a:t>AI-Generated Teaching Slides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t>This is a comprehensive lesson pack designed for an introductory computer scienc</a:t>
            </a:r>
          </a:p>
        </p:txBody>
      </p:sp>
      <p:sp>
        <p:nvSpPr>
          <p:cNvPr id="3" name="Content Placeholder 2"/>
          <p:cNvSpPr>
            <a:spLocks noGrp="1"/>
          </p:cNvSpPr>
          <p:nvPr>
            <p:ph idx="1"/>
          </p:nvPr>
        </p:nvSpPr>
        <p:spPr/>
        <p:txBody>
          <a:bodyPr/>
          <a:lstStyle/>
          <a:p>
            <a:r>
              <a:rPr sz="2000"/>
              <a:t>---</a:t>
            </a:r>
          </a:p>
          <a:p/>
          <a:p>
            <a:r>
              <a:rPr sz="2000"/>
              <a:t>## Lesson Pack: Understanding Algorithms</a:t>
            </a:r>
          </a:p>
          <a:p/>
          <a:p>
            <a:r>
              <a:rPr sz="2000"/>
              <a:t>**Topic:** Algorithms</a:t>
            </a:r>
          </a:p>
          <a:p>
            <a:r>
              <a:rPr sz="2000"/>
              <a:t>**Duration:** 50-60 minutes (can be extended with deeper activity time)</a:t>
            </a:r>
          </a:p>
          <a:p>
            <a:r>
              <a:rPr sz="2000"/>
              <a:t>**Target Audience:** KS3/Early KS4 Computer Science/ICT Students (Ages 11-15)</a:t>
            </a:r>
          </a:p>
          <a:p/>
          <a:p>
            <a:r>
              <a:rPr sz="2000"/>
              <a:t>---</a:t>
            </a:r>
          </a:p>
          <a:p/>
          <a:p>
            <a:r>
              <a:rPr sz="2000"/>
              <a:t>### 1. Lesson Objectives</a:t>
            </a:r>
          </a:p>
          <a:p/>
          <a:p>
            <a:r>
              <a:rPr sz="2000"/>
              <a:t>By the end of this lesson, students will be able to:</a:t>
            </a:r>
          </a:p>
          <a:p>
            <a:r>
              <a:rPr sz="2000"/>
              <a:t>*   **Define** what an algorithm is in their own words.</a:t>
            </a:r>
          </a:p>
          <a:p>
            <a:r>
              <a:rPr sz="2000"/>
              <a:t>*   **Identify** examples of algorithms in everyday life and in computing.</a:t>
            </a:r>
          </a:p>
          <a:p>
            <a:r>
              <a:rPr sz="2000"/>
              <a:t>*   **Explain** the key characteristics of a good algorithm (clear, finite, unambiguous).</a:t>
            </a:r>
          </a:p>
          <a:p>
            <a:r>
              <a:rPr sz="2000"/>
              <a:t>*   **Design** a simple algorithm using clear, step-by-step instructions.</a:t>
            </a:r>
          </a:p>
          <a:p>
            <a:r>
              <a:rPr sz="2000"/>
              <a:t>*   **Recognize** the importance of precision and clarity when creating instructions for others (or computers).</a:t>
            </a:r>
          </a:p>
          <a:p/>
          <a:p>
            <a:r>
              <a:rPr sz="2000"/>
              <a:t>---</a:t>
            </a:r>
          </a:p>
          <a:p/>
          <a:p>
            <a:r>
              <a:rPr sz="2000"/>
              <a:t>### 2. Introduction / Starter Activity (10-15 minutes)</a:t>
            </a:r>
          </a:p>
          <a:p/>
          <a:p>
            <a:r>
              <a:rPr sz="2000"/>
              <a:t>**Title:** The Peanut Butter &amp; Jelly Sandwich Challenge!</a:t>
            </a:r>
          </a:p>
          <a:p/>
          <a:p>
            <a:r>
              <a:rPr sz="2000"/>
              <a:t>**Activity Description:**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t>**Teacher Prep:** Gather ingredients: loaf of bread, jar of peanut butter, jar o</a:t>
            </a:r>
          </a:p>
        </p:txBody>
      </p:sp>
      <p:sp>
        <p:nvSpPr>
          <p:cNvPr id="3" name="Content Placeholder 2"/>
          <p:cNvSpPr>
            <a:spLocks noGrp="1"/>
          </p:cNvSpPr>
          <p:nvPr>
            <p:ph idx="1"/>
          </p:nvPr>
        </p:nvSpPr>
        <p:spPr/>
        <p:txBody>
          <a:bodyPr/>
          <a:lstStyle/>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t>**Challenge Setup:** Inform students that you will make a sandwich *exactly* as </a:t>
            </a:r>
          </a:p>
        </p:txBody>
      </p:sp>
      <p:sp>
        <p:nvSpPr>
          <p:cNvPr id="3" name="Content Placeholder 2"/>
          <p:cNvSpPr>
            <a:spLocks noGrp="1"/>
          </p:cNvSpPr>
          <p:nvPr>
            <p:ph idx="1"/>
          </p:nvPr>
        </p:nvSpPr>
        <p:spPr/>
        <p:txBody>
          <a:bodyPr/>
          <a:lstStyle/>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t>**Student Task:** Ask the class, as a whole, to give you step-by-step instructio</a:t>
            </a:r>
          </a:p>
        </p:txBody>
      </p:sp>
      <p:sp>
        <p:nvSpPr>
          <p:cNvPr id="3" name="Content Placeholder 2"/>
          <p:cNvSpPr>
            <a:spLocks noGrp="1"/>
          </p:cNvSpPr>
          <p:nvPr>
            <p:ph idx="1"/>
          </p:nvPr>
        </p:nvSpPr>
        <p:spPr/>
        <p:txBody>
          <a:bodyPr/>
          <a:lstStyle/>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t>**Teacher Demonstration:** Begin following their instructions *literally*.</a:t>
            </a:r>
          </a:p>
        </p:txBody>
      </p:sp>
      <p:sp>
        <p:nvSpPr>
          <p:cNvPr id="3" name="Content Placeholder 2"/>
          <p:cNvSpPr>
            <a:spLocks noGrp="1"/>
          </p:cNvSpPr>
          <p:nvPr>
            <p:ph idx="1"/>
          </p:nvPr>
        </p:nvSpPr>
        <p:spPr/>
        <p:txBody>
          <a:bodyPr/>
          <a:lstStyle/>
          <a:p>
            <a:r>
              <a:rPr sz="2000"/>
              <a:t>*   *Example interactions:* If they say "Open the bread," you might pick up the loaf but not untwist the tie. If they say "Put peanut butter on the bread," you might put the entire jar on the loaf, or just blob it on the outside of the bag. If they don't specify *which* slice, you might use an end piece.</a:t>
            </a:r>
          </a:p>
          <a:p>
            <a:r>
              <a:rPr sz="2000"/>
              <a:t>    *   *Goal:* Exaggerate the literal interpretation to highlight the need for extreme precision.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t>**Debrief:**</a:t>
            </a:r>
          </a:p>
        </p:txBody>
      </p:sp>
      <p:sp>
        <p:nvSpPr>
          <p:cNvPr id="3" name="Content Placeholder 2"/>
          <p:cNvSpPr>
            <a:spLocks noGrp="1"/>
          </p:cNvSpPr>
          <p:nvPr>
            <p:ph idx="1"/>
          </p:nvPr>
        </p:nvSpPr>
        <p:spPr/>
        <p:txBody>
          <a:bodyPr/>
          <a:lstStyle/>
          <a:p>
            <a:r>
              <a:rPr sz="2000"/>
              <a:t>*   "What went wrong?"</a:t>
            </a:r>
          </a:p>
          <a:p>
            <a:r>
              <a:rPr sz="2000"/>
              <a:t>    *   "Why was it so difficult to get me to make the sandwich correctly?"</a:t>
            </a:r>
          </a:p>
          <a:p>
            <a:r>
              <a:rPr sz="2000"/>
              <a:t>    *   "What kind of instructions do we need to give so that I can make the sandwich perfectly every time?"</a:t>
            </a:r>
          </a:p>
          <a:p>
            <a:r>
              <a:rPr sz="2000"/>
              <a:t>    *   **Bridge to Topic:** Introduce the idea that computers are like the teacher in this challenge – they need incredibly precise, step-by-step instructions. This set of instructions is what we call an **algorithm**.</a:t>
            </a:r>
          </a:p>
          <a:p/>
          <a:p>
            <a:r>
              <a:rPr sz="2000"/>
              <a:t>---</a:t>
            </a:r>
          </a:p>
          <a:p/>
          <a:p>
            <a:r>
              <a:rPr sz="2000"/>
              <a:t>### 3. Key Teaching Points (15-20 minutes)</a:t>
            </a:r>
          </a:p>
          <a:p/>
          <a:p>
            <a:r>
              <a:rPr sz="2000"/>
              <a:t>**A. What is an Algorithm?**</a:t>
            </a:r>
          </a:p>
          <a:p>
            <a:r>
              <a:rPr sz="2000"/>
              <a:t>*   **Definition:** An algorithm is a *set of clear, step-by-step instructions* that describe how to solve a problem or achieve a specific goal.</a:t>
            </a:r>
          </a:p>
          <a:p>
            <a:r>
              <a:rPr sz="2000"/>
              <a:t>*   **Origin:** The word "algorithm" comes from the name of a Persian mathematician, Muhammad ibn Musa al-Khwarizmi, who lived around 820 AD.</a:t>
            </a:r>
          </a:p>
          <a:p>
            <a:r>
              <a:rPr sz="2000"/>
              <a:t>*   **Analogy:** Think of a recipe, a treasure map, or assembly instructions for furniture. These are all algorithms!</a:t>
            </a:r>
          </a:p>
          <a:p/>
          <a:p>
            <a:r>
              <a:rPr sz="2000"/>
              <a:t>**B. Key Characteristics of a Good Algorithm:**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t>**Clear &amp; Unambiguous:** Each step must be understood in only one way. No room f</a:t>
            </a:r>
          </a:p>
        </p:txBody>
      </p:sp>
      <p:sp>
        <p:nvSpPr>
          <p:cNvPr id="3" name="Content Placeholder 2"/>
          <p:cNvSpPr>
            <a:spLocks noGrp="1"/>
          </p:cNvSpPr>
          <p:nvPr>
            <p:ph idx="1"/>
          </p:nvPr>
        </p:nvSpPr>
        <p:spPr/>
        <p:txBody>
          <a:bodyPr/>
          <a:lstStyle/>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t>**Finite:** The algorithm must have a definite start and a definite end. It shou</a:t>
            </a:r>
          </a:p>
        </p:txBody>
      </p:sp>
      <p:sp>
        <p:nvSpPr>
          <p:cNvPr id="3" name="Content Placeholder 2"/>
          <p:cNvSpPr>
            <a:spLocks noGrp="1"/>
          </p:cNvSpPr>
          <p:nvPr>
            <p:ph idx="1"/>
          </p:nvPr>
        </p:nvSpPr>
        <p:spPr/>
        <p:txBody>
          <a:bodyPr/>
          <a:lstStyle/>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t>**Ordered Steps:** The steps must be in the correct sequence. Changing the order</a:t>
            </a:r>
          </a:p>
        </p:txBody>
      </p:sp>
      <p:sp>
        <p:nvSpPr>
          <p:cNvPr id="3" name="Content Placeholder 2"/>
          <p:cNvSpPr>
            <a:spLocks noGrp="1"/>
          </p:cNvSpPr>
          <p:nvPr>
            <p:ph idx="1"/>
          </p:nvPr>
        </p:nvSpPr>
        <p:spPr/>
        <p:txBody>
          <a:bodyPr/>
          <a:lstStyle/>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t>**Input:** An algorithm usually takes some information or materials to begin wit</a:t>
            </a:r>
          </a:p>
        </p:txBody>
      </p:sp>
      <p:sp>
        <p:nvSpPr>
          <p:cNvPr id="3" name="Content Placeholder 2"/>
          <p:cNvSpPr>
            <a:spLocks noGrp="1"/>
          </p:cNvSpPr>
          <p:nvPr>
            <p:ph idx="1"/>
          </p:nvPr>
        </p:nvSpPr>
        <p:spPr/>
        <p:txBody>
          <a:bodyPr/>
          <a:lstStyle/>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t>**Output:** An algorithm produces a result or an outcome. (e.g., the finished ca</a:t>
            </a:r>
          </a:p>
        </p:txBody>
      </p:sp>
      <p:sp>
        <p:nvSpPr>
          <p:cNvPr id="3" name="Content Placeholder 2"/>
          <p:cNvSpPr>
            <a:spLocks noGrp="1"/>
          </p:cNvSpPr>
          <p:nvPr>
            <p:ph idx="1"/>
          </p:nvPr>
        </p:nvSpPr>
        <p:spPr/>
        <p:txBody>
          <a:bodyPr/>
          <a:lstStyle/>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t>**Effective:** Each step must be simple enough to be carried out (by a person or</a:t>
            </a:r>
          </a:p>
        </p:txBody>
      </p:sp>
      <p:sp>
        <p:nvSpPr>
          <p:cNvPr id="3" name="Content Placeholder 2"/>
          <p:cNvSpPr>
            <a:spLocks noGrp="1"/>
          </p:cNvSpPr>
          <p:nvPr>
            <p:ph idx="1"/>
          </p:nvPr>
        </p:nvSpPr>
        <p:spPr/>
        <p:txBody>
          <a:bodyPr/>
          <a:lstStyle/>
          <a:p>
            <a:r>
              <a:rPr sz="2000"/>
              <a:t>**C. Algorithms in Everyday Life:**</a:t>
            </a:r>
          </a:p>
          <a:p>
            <a:r>
              <a:rPr sz="2000"/>
              <a:t>*   **Cooking Recipes:** Steps to create a meal.</a:t>
            </a:r>
          </a:p>
          <a:p>
            <a:r>
              <a:rPr sz="2000"/>
              <a:t>*   **Giving Directions:** Steps to get from one place to another.</a:t>
            </a:r>
          </a:p>
          <a:p>
            <a:r>
              <a:rPr sz="2000"/>
              <a:t>*   **Tying Shoelaces:** A sequence of actions.</a:t>
            </a:r>
          </a:p>
          <a:p>
            <a:r>
              <a:rPr sz="2000"/>
              <a:t>*   **Brushing Teeth:** A routine of steps.</a:t>
            </a:r>
          </a:p>
          <a:p>
            <a:r>
              <a:rPr sz="2000"/>
              <a:t>*   **Finding a book in a library:** Using the Dewey Decimal System or a catalogue.</a:t>
            </a:r>
          </a:p>
          <a:p/>
          <a:p>
            <a:r>
              <a:rPr sz="2000"/>
              <a:t>**D. Algorithms in Computing:**</a:t>
            </a:r>
          </a:p>
          <a:p>
            <a:r>
              <a:rPr sz="2000"/>
              <a:t>*   **Searching:** How Google finds results for your query.</a:t>
            </a:r>
          </a:p>
          <a:p>
            <a:r>
              <a:rPr sz="2000"/>
              <a:t>*   **Sorting:** How a list of numbers or names is arranged in order.</a:t>
            </a:r>
          </a:p>
          <a:p>
            <a:r>
              <a:rPr sz="2000"/>
              <a:t>*   **Navigation Apps:** How your GPS finds the fastest route.</a:t>
            </a:r>
          </a:p>
          <a:p>
            <a:r>
              <a:rPr sz="2000"/>
              <a:t>*   **Social Media Feeds:** How platforms decide which posts to show you.</a:t>
            </a:r>
          </a:p>
          <a:p>
            <a:r>
              <a:rPr sz="2000"/>
              <a:t>*   **Gaming:** How characters move, how obstacles are generated.</a:t>
            </a:r>
          </a:p>
          <a:p>
            <a:r>
              <a:rPr sz="2000"/>
              <a:t>*   **Encryption/Decryption:** How messages are secured.</a:t>
            </a:r>
          </a:p>
          <a:p/>
          <a:p>
            <a:r>
              <a:rPr sz="2000"/>
              <a:t>**E. Representing Algorithms (Briefly introduce):**</a:t>
            </a:r>
          </a:p>
          <a:p>
            <a:r>
              <a:rPr sz="2000"/>
              <a:t>*   **Natural Language:** Just like our sandwich instructions – simple sentences.</a:t>
            </a:r>
          </a:p>
          <a:p>
            <a:r>
              <a:rPr sz="2000"/>
              <a:t>*   **Flowcharts:** Diagrams using symbols to show steps and decisions (briefly show an example of decision, e.g., "Is toast burnt?").</a:t>
            </a:r>
          </a:p>
          <a:p>
            <a:r>
              <a:rPr sz="2000"/>
              <a:t>*   **Pseudocode:** A mix of natural language and programming-like statements (mention briefly, usually for more advanced lessons).</a:t>
            </a:r>
          </a:p>
          <a:p/>
          <a:p>
            <a:r>
              <a:rPr sz="2000"/>
              <a:t>---</a:t>
            </a:r>
          </a:p>
          <a:p/>
          <a:p>
            <a:r>
              <a:rPr sz="2000"/>
              <a:t>### 4. Guided Practice or Activities (15-20 minutes)</a:t>
            </a:r>
          </a:p>
          <a:p/>
          <a:p>
            <a:r>
              <a:rPr sz="2000"/>
              <a:t>**Activity 1: Algorithm or Not? (Individual/Pair Work - 5 minutes)**</a:t>
            </a:r>
          </a:p>
          <a:p>
            <a:r>
              <a:rPr sz="2000"/>
              <a:t>*   **Task:** Provide students with a list of scenarios. They decide if each scenario describes an algorithm and, if not, why.</a:t>
            </a:r>
          </a:p>
          <a:p>
            <a:r>
              <a:rPr sz="2000"/>
              <a:t>*   **Scenarios:**</a:t>
            </a:r>
          </a:p>
          <a:p>
            <a:r>
              <a:rPr sz="2000"/>
              <a:t>    1.  A recipe for chocolate chip cookies. (Algorithm)</a:t>
            </a:r>
          </a:p>
          <a:p>
            <a:r>
              <a:rPr sz="2000"/>
              <a:t>    2.  A poem about a rainy day. (Not an algorithm - no problem-solving, no clear steps)</a:t>
            </a:r>
          </a:p>
          <a:p>
            <a:r>
              <a:rPr sz="2000"/>
              <a:t>    3.  Instructions for assembling a flat-pack desk. (Algorithm)</a:t>
            </a:r>
          </a:p>
          <a:p>
            <a:r>
              <a:rPr sz="2000"/>
              <a:t>    4.  A list of things you like to do on a sunny afternoon. (Not an algorithm - no specific goal or order)</a:t>
            </a:r>
          </a:p>
          <a:p>
            <a:r>
              <a:rPr sz="2000"/>
              <a:t>    5.  The steps your computer takes to open a program when you click its icon. (Algorithm)</a:t>
            </a:r>
          </a:p>
          <a:p/>
          <a:p>
            <a:r>
              <a:rPr sz="2000"/>
              <a:t>**Activity 2: Design Your Own Algorithm (Individual/Pair Work - 10-15 minutes)**</a:t>
            </a:r>
          </a:p>
          <a:p>
            <a:r>
              <a:rPr sz="2000"/>
              <a:t>*   **Task:** Students choose *one* of the following everyday tasks and write a clear, step-by-step algorithm for it. Emphasize clarity and precision.</a:t>
            </a:r>
          </a:p>
          <a:p>
            <a:r>
              <a:rPr sz="2000"/>
              <a:t>*   **Options:**</a:t>
            </a:r>
          </a:p>
          <a:p>
            <a:r>
              <a:rPr sz="2000"/>
              <a:t>    1.  **Making a cup of tea/coffee.**</a:t>
            </a:r>
          </a:p>
          <a:p>
            <a:r>
              <a:rPr sz="2000"/>
              <a:t>    2.  **Packing your school bag for the next day.**</a:t>
            </a:r>
          </a:p>
          <a:p>
            <a:r>
              <a:rPr sz="2000"/>
              <a:t>    3.  **Crossing the road safely.**</a:t>
            </a:r>
          </a:p>
          <a:p>
            <a:r>
              <a:rPr sz="2000"/>
              <a:t>    4.  **Brushing your teeth.**</a:t>
            </a:r>
          </a:p>
          <a:p>
            <a:r>
              <a:rPr sz="2000"/>
              <a:t>    5.  **Logging onto your school computer.**</a:t>
            </a:r>
          </a:p>
          <a:p>
            <a:r>
              <a:rPr sz="2000"/>
              <a:t>*   **Differentiation:**</a:t>
            </a:r>
          </a:p>
          <a:p>
            <a:r>
              <a:rPr sz="2000"/>
              <a:t>    *   **Support:** Provide a starting step or a word bank of useful verbs (e.g., "open," "take," "pour," "mix," "press").</a:t>
            </a:r>
          </a:p>
          <a:p>
            <a:r>
              <a:rPr sz="2000"/>
              <a:t>    *   **Challenge:** Ask them to include a "decision" step (e.g., "Is the water boiling? If no, wait. If yes, proceed.") or identify potential ambiguities in their own algorithm.</a:t>
            </a:r>
          </a:p>
          <a:p/>
          <a:p>
            <a:r>
              <a:rPr sz="2000"/>
              <a:t>---</a:t>
            </a:r>
          </a:p>
          <a:p/>
          <a:p>
            <a:r>
              <a:rPr sz="2000"/>
              <a:t>### 5. Assessment Ideas</a:t>
            </a:r>
          </a:p>
          <a:p/>
          <a:p>
            <a:r>
              <a:rPr sz="2000"/>
              <a:t>**Formative (During Lesson):**</a:t>
            </a:r>
          </a:p>
          <a:p>
            <a:r>
              <a:rPr sz="2000"/>
              <a:t>*   **Observation:** Monitor students during the sandwich challenge and the algorithm design activity. Are they grasping the concept of precision? Are their algorithms logical?</a:t>
            </a:r>
          </a:p>
          <a:p>
            <a:r>
              <a:rPr sz="2000"/>
              <a:t>*   **Q&amp;A:** Ask targeted questions during the teaching points.</a:t>
            </a:r>
          </a:p>
          <a:p>
            <a:r>
              <a:rPr sz="2000"/>
              <a:t>*   **Mini-whiteboards:** Quick check-ins. "Write down one characteristic of an algorithm." "Is this an algorithm: 'Read a book.' Yes/No?"</a:t>
            </a:r>
          </a:p>
          <a:p>
            <a:r>
              <a:rPr sz="2000"/>
              <a:t>*   **Peer Assessment:** Have students swap their designed algorithms (Activity 2) and try to follow each other's instructions mentally or physically, noting any ambiguities.</a:t>
            </a:r>
          </a:p>
          <a:p/>
          <a:p>
            <a:r>
              <a:rPr sz="2000"/>
              <a:t>**Summative (End of Lesson/Future Lesson):**</a:t>
            </a:r>
          </a:p>
          <a:p>
            <a:r>
              <a:rPr sz="2000"/>
              <a:t>*   **Exit Ticket:** On a small slip of paper, students write:</a:t>
            </a:r>
          </a:p>
          <a:p>
            <a:r>
              <a:rPr sz="2000"/>
              <a:t>    *   "One thing I learned about algorithms today is..."</a:t>
            </a:r>
          </a:p>
          <a:p>
            <a:r>
              <a:rPr sz="2000"/>
              <a:t>    *   "An algorithm is (define in your own words)..."</a:t>
            </a:r>
          </a:p>
          <a:p>
            <a:r>
              <a:rPr sz="2000"/>
              <a:t>    *   "Name one everyday algorithm and one computational algorithm."</a:t>
            </a:r>
          </a:p>
          <a:p>
            <a:r>
              <a:rPr sz="2000"/>
              <a:t>*   **Short Quiz:** Multiple-choice or fill-in-the-blank questions based on definitions, characteristics, and examples.</a:t>
            </a:r>
          </a:p>
          <a:p>
            <a:r>
              <a:rPr sz="2000"/>
              <a:t>*   **Algorithm Challenge:** Give students a new, slightly more complex problem (e.g., "How to sort your school locker," "How to make a simple animation step-by-step") and ask them to design an algorithm using natural language or a simple flowchart.</a:t>
            </a:r>
          </a:p>
          <a:p/>
          <a:p>
            <a:r>
              <a:rPr sz="2000"/>
              <a:t>---</a:t>
            </a:r>
          </a:p>
          <a:p/>
          <a:p>
            <a:r>
              <a:rPr sz="2000"/>
              <a:t>### 6. Summary / Conclusion (5 minutes)</a:t>
            </a:r>
          </a:p>
          <a:p/>
          <a:p>
            <a:r>
              <a:rPr sz="2000"/>
              <a:t>*   **Recap Objectives:** Briefly revisit the lesson objectives to ensure students feel they've met them.</a:t>
            </a:r>
          </a:p>
          <a:p>
            <a:r>
              <a:rPr sz="2000"/>
              <a:t>*   **Key Takeaways:**</a:t>
            </a:r>
          </a:p>
          <a:p>
            <a:r>
              <a:rPr sz="2000"/>
              <a:t>    *   "Remember, an algorithm is simply a clear, step-by-step set of instructions to solve a problem or achieve a goal."</a:t>
            </a:r>
          </a:p>
          <a:p>
            <a:r>
              <a:rPr sz="2000"/>
              <a:t>    *   "Good algorithms are unambiguous, finite, and effective."</a:t>
            </a:r>
          </a:p>
          <a:p>
            <a:r>
              <a:rPr sz="2000"/>
              <a:t>    *   "Algorithms are everywhere – from making a sandwich to powering the internet!"</a:t>
            </a:r>
          </a:p>
          <a:p>
            <a:r>
              <a:rPr sz="2000"/>
              <a:t>*   **Big Picture:** "Understanding algorithms is fundamental to computer science. When you learn to program, you're essentially writing algorithms that a computer can understand and execute."</a:t>
            </a:r>
          </a:p>
          <a:p>
            <a:r>
              <a:rPr sz="2000"/>
              <a:t>*   **Challenge Question (Optional):** "Can anyone think of a situation where a *bad* or unclear algorithm could cause a big problem in the real world?" (e.g., self-driving cars, medical equipment).</a:t>
            </a:r>
          </a:p>
          <a:p/>
          <a:p>
            <a:r>
              <a:rPr sz="2000"/>
              <a:t>---</a:t>
            </a:r>
          </a:p>
          <a:p/>
          <a:p>
            <a:r>
              <a:rPr sz="2000"/>
              <a:t>### 7. PowerPoint Slide Outline</a:t>
            </a:r>
          </a:p>
          <a:p/>
          <a:p>
            <a:r>
              <a:rPr sz="2000"/>
              <a:t>**Slide 1: Title Slide**</a:t>
            </a:r>
          </a:p>
          <a:p>
            <a:r>
              <a:rPr sz="2000"/>
              <a:t>*   **Title:** Understanding Algorithms: The Art of Step-by-Step Instructions</a:t>
            </a:r>
          </a:p>
          <a:p>
            <a:r>
              <a:rPr sz="2000"/>
              <a:t>*   **Subtitle:** Learning how computers think (and how you already do!)</a:t>
            </a:r>
          </a:p>
          <a:p>
            <a:r>
              <a:rPr sz="2000"/>
              <a:t>*   **Image:** A simple, friendly robot or a flowchart icon.</a:t>
            </a:r>
          </a:p>
          <a:p/>
          <a:p>
            <a:r>
              <a:rPr sz="2000"/>
              <a:t>**Slide 2: Lesson Objectives**</a:t>
            </a:r>
          </a:p>
          <a:p>
            <a:r>
              <a:rPr sz="2000"/>
              <a:t>*   **Title:** What We'll Learn Today</a:t>
            </a:r>
          </a:p>
          <a:p>
            <a:r>
              <a:rPr sz="2000"/>
              <a:t>*   **Bullet Points:**</a:t>
            </a:r>
          </a:p>
          <a:p>
            <a:r>
              <a:rPr sz="2000"/>
              <a:t>    *   Define "algorithm."</a:t>
            </a:r>
          </a:p>
          <a:p>
            <a:r>
              <a:rPr sz="2000"/>
              <a:t>    *   Identify algorithms in daily life and computing.</a:t>
            </a:r>
          </a:p>
          <a:p>
            <a:r>
              <a:rPr sz="2000"/>
              <a:t>    *   Explain characteristics of good algorithms.</a:t>
            </a:r>
          </a:p>
          <a:p>
            <a:r>
              <a:rPr sz="2000"/>
              <a:t>    *   Design simple algorithms.</a:t>
            </a:r>
          </a:p>
          <a:p>
            <a:r>
              <a:rPr sz="2000"/>
              <a:t>    *   Appreciate precision in instructions.</a:t>
            </a:r>
          </a:p>
          <a:p/>
          <a:p>
            <a:r>
              <a:rPr sz="2000"/>
              <a:t>**Slide 3: Starter Activity: The Sandwich Challenge!**</a:t>
            </a:r>
          </a:p>
          <a:p>
            <a:r>
              <a:rPr sz="2000"/>
              <a:t>*   **Title:** The PB&amp;J Sandwich Challenge!</a:t>
            </a:r>
          </a:p>
          <a:p>
            <a:r>
              <a:rPr sz="2000"/>
              <a:t>*   **Bullet Points:**</a:t>
            </a:r>
          </a:p>
          <a:p>
            <a:r>
              <a:rPr sz="2000"/>
              <a:t>    *   Your task: Give me instructions to make a perfect PB&amp;J.</a:t>
            </a:r>
          </a:p>
          <a:p>
            <a:r>
              <a:rPr sz="2000"/>
              <a:t>    *   I will follow them *exactly* – no assumptions!</a:t>
            </a:r>
          </a:p>
          <a:p>
            <a:r>
              <a:rPr sz="2000"/>
              <a:t>    *   Let's see what happens...</a:t>
            </a:r>
          </a:p>
          <a:p>
            <a:r>
              <a:rPr sz="2000"/>
              <a:t>*   **Image:** Ingredients for a sandwich.</a:t>
            </a:r>
          </a:p>
          <a:p/>
          <a:p>
            <a:r>
              <a:rPr sz="2000"/>
              <a:t>**Slide 4: What Went Wrong?**</a:t>
            </a:r>
          </a:p>
          <a:p>
            <a:r>
              <a:rPr sz="2000"/>
              <a:t>*   **Title:** Why Was It Tricky?</a:t>
            </a:r>
          </a:p>
          <a:p>
            <a:r>
              <a:rPr sz="2000"/>
              <a:t>*   **Bullet Points:**</a:t>
            </a:r>
          </a:p>
          <a:p>
            <a:r>
              <a:rPr sz="2000"/>
              <a:t>    *   What problems did we encounter?</a:t>
            </a:r>
          </a:p>
          <a:p>
            <a:r>
              <a:rPr sz="2000"/>
              <a:t>    *   Why were some instructions hard to follow?</a:t>
            </a:r>
          </a:p>
          <a:p>
            <a:r>
              <a:rPr sz="2000"/>
              <a:t>    *   What do we need for *perfect* instructions?</a:t>
            </a:r>
          </a:p>
          <a:p>
            <a:r>
              <a:rPr sz="2000"/>
              <a:t>*   **Image:** A humorous, slightly messy sandwich.</a:t>
            </a:r>
          </a:p>
          <a:p/>
          <a:p>
            <a:r>
              <a:rPr sz="2000"/>
              <a:t>**Slide 5: Introducing Algorithms**</a:t>
            </a:r>
          </a:p>
          <a:p>
            <a:r>
              <a:rPr sz="2000"/>
              <a:t>*   **Title:** So, What IS an Algorithm?</a:t>
            </a:r>
          </a:p>
          <a:p>
            <a:r>
              <a:rPr sz="2000"/>
              <a:t>*   **Bullet Points:**</a:t>
            </a:r>
          </a:p>
          <a:p>
            <a:r>
              <a:rPr sz="2000"/>
              <a:t>    *   A set of **clear, step-by-step instructions**.</a:t>
            </a:r>
          </a:p>
          <a:p>
            <a:r>
              <a:rPr sz="2000"/>
              <a:t>    *   To solve a **problem** or achieve a **goal**.</a:t>
            </a:r>
          </a:p>
          <a:p>
            <a:r>
              <a:rPr sz="2000"/>
              <a:t>    *   Think: Recipes, assembly guides, treasure maps!</a:t>
            </a:r>
          </a:p>
          <a:p>
            <a:r>
              <a:rPr sz="2000"/>
              <a:t>    *   Origin: Named after a Persian mathematician, al-Khwarizmi.</a:t>
            </a:r>
          </a:p>
          <a:p>
            <a:r>
              <a:rPr sz="2000"/>
              <a:t>*   **Image:** A magnifying glass over a step-by-step diagram, or a medieval scroll.</a:t>
            </a:r>
          </a:p>
          <a:p/>
          <a:p>
            <a:r>
              <a:rPr sz="2000"/>
              <a:t>**Slide 6: Characteristics of a Good Algorithm**</a:t>
            </a:r>
          </a:p>
          <a:p>
            <a:r>
              <a:rPr sz="2000"/>
              <a:t>*   **Title:** The Perfect Algorithm: What Makes It Good?</a:t>
            </a:r>
          </a:p>
          <a:p>
            <a:r>
              <a:rPr sz="2000"/>
              <a:t>*   **Bullet Points:**</a:t>
            </a:r>
          </a:p>
          <a:p>
            <a:r>
              <a:rPr sz="2000"/>
              <a:t>    *   **Clear &amp; Unambiguous:** No confusion, one interpretation.</a:t>
            </a:r>
          </a:p>
          <a:p>
            <a:r>
              <a:rPr sz="2000"/>
              <a:t>    *   **Finite:** Must start and end.</a:t>
            </a:r>
          </a:p>
          <a:p>
            <a:r>
              <a:rPr sz="2000"/>
              <a:t>    *   **Ordered Steps:** Logical sequence.</a:t>
            </a:r>
          </a:p>
          <a:p>
            <a:r>
              <a:rPr sz="2000"/>
              <a:t>    *   **Input:** Takes something to begin.</a:t>
            </a:r>
          </a:p>
          <a:p>
            <a:r>
              <a:rPr sz="2000"/>
              <a:t>    *   **Output:** Produces a result.</a:t>
            </a:r>
          </a:p>
          <a:p>
            <a:r>
              <a:rPr sz="2000"/>
              <a:t>    *   **Effective:** Steps can actually be carried out.</a:t>
            </a:r>
          </a:p>
          <a:p>
            <a:r>
              <a:rPr sz="2000"/>
              <a:t>*   **Image:** A checklist or tick boxes.</a:t>
            </a:r>
          </a:p>
          <a:p/>
          <a:p>
            <a:r>
              <a:rPr sz="2000"/>
              <a:t>**Slide 7: Algorithms in Everyday Life**</a:t>
            </a:r>
          </a:p>
          <a:p>
            <a:r>
              <a:rPr sz="2000"/>
              <a:t>*   **Title:** Algorithms All Around Us!</a:t>
            </a:r>
          </a:p>
          <a:p>
            <a:r>
              <a:rPr sz="2000"/>
              <a:t>*   **Bullet Points:**</a:t>
            </a:r>
          </a:p>
          <a:p>
            <a:r>
              <a:rPr sz="2000"/>
              <a:t>    *   Cooking a recipe</a:t>
            </a:r>
          </a:p>
          <a:p>
            <a:r>
              <a:rPr sz="2000"/>
              <a:t>    *   Giving directions to a friend</a:t>
            </a:r>
          </a:p>
          <a:p>
            <a:r>
              <a:rPr sz="2000"/>
              <a:t>    *   Tying your shoelaces</a:t>
            </a:r>
          </a:p>
          <a:p>
            <a:r>
              <a:rPr sz="2000"/>
              <a:t>    *   Brushing your teeth</a:t>
            </a:r>
          </a:p>
          <a:p>
            <a:r>
              <a:rPr sz="2000"/>
              <a:t>    *   Finding a book in the library</a:t>
            </a:r>
          </a:p>
          <a:p>
            <a:r>
              <a:rPr sz="2000"/>
              <a:t>*   **Image:** Collage of everyday activities.</a:t>
            </a:r>
          </a:p>
          <a:p/>
          <a:p>
            <a:r>
              <a:rPr sz="2000"/>
              <a:t>**Slide 8: Algorithms in Computing**</a:t>
            </a:r>
          </a:p>
          <a:p>
            <a:r>
              <a:rPr sz="2000"/>
              <a:t>*   **Title:** How Computers Use Algorithms</a:t>
            </a:r>
          </a:p>
          <a:p>
            <a:r>
              <a:rPr sz="2000"/>
              <a:t>*   **Bullet Points:**</a:t>
            </a:r>
          </a:p>
          <a:p>
            <a:r>
              <a:rPr sz="2000"/>
              <a:t>    *   **Searching:** Google results</a:t>
            </a:r>
          </a:p>
          <a:p>
            <a:r>
              <a:rPr sz="2000"/>
              <a:t>    *   **Sorting:** Arranging lists alphabetically/numerically</a:t>
            </a:r>
          </a:p>
          <a:p>
            <a:r>
              <a:rPr sz="2000"/>
              <a:t>    *   **Navigation:** GPS routes</a:t>
            </a:r>
          </a:p>
          <a:p>
            <a:r>
              <a:rPr sz="2000"/>
              <a:t>    *   **Social Media:** Your feed content</a:t>
            </a:r>
          </a:p>
          <a:p>
            <a:r>
              <a:rPr sz="2000"/>
              <a:t>    *   **Gaming:** Character movements, game logic</a:t>
            </a:r>
          </a:p>
          <a:p>
            <a:r>
              <a:rPr sz="2000"/>
              <a:t>*   **Image:** Icons representing search, maps, social media, games.</a:t>
            </a:r>
          </a:p>
          <a:p/>
          <a:p>
            <a:r>
              <a:rPr sz="2000"/>
              <a:t>**Slide 9: Representing Algorithms (Brief Intro)**</a:t>
            </a:r>
          </a:p>
          <a:p>
            <a:r>
              <a:rPr sz="2000"/>
              <a:t>*   **Title:** How Do We Write Them Down?</a:t>
            </a:r>
          </a:p>
          <a:p>
            <a:r>
              <a:rPr sz="2000"/>
              <a:t>*   **Bullet Points:**</a:t>
            </a:r>
          </a:p>
          <a:p>
            <a:r>
              <a:rPr sz="2000"/>
              <a:t>    *   **Natural Language:** Simple sentences (like we've been doing!)</a:t>
            </a:r>
          </a:p>
          <a:p>
            <a:r>
              <a:rPr sz="2000"/>
              <a:t>    *   **Flowcharts:** Diagrams with symbols to show steps and decisions (brief example).</a:t>
            </a:r>
          </a:p>
          <a:p>
            <a:r>
              <a:rPr sz="2000"/>
              <a:t>    *   **Pseudocode:** A mix of English and programming concepts (for later).</a:t>
            </a:r>
          </a:p>
          <a:p>
            <a:r>
              <a:rPr sz="2000"/>
              <a:t>*   **Image:** A very simple flowchart snippet (e.g., Start -&gt; Step 1 -&gt; Decision? -&gt; Step 2 -&gt; End).</a:t>
            </a:r>
          </a:p>
          <a:p/>
          <a:p>
            <a:r>
              <a:rPr sz="2000"/>
              <a:t>**Slide 10: Activity 1: Algorithm or Not?**</a:t>
            </a:r>
          </a:p>
          <a:p>
            <a:r>
              <a:rPr sz="2000"/>
              <a:t>*   **Title:** Is It an Algorithm? You Decide!</a:t>
            </a:r>
          </a:p>
          <a:p>
            <a:r>
              <a:rPr sz="2000"/>
              <a:t>*   **Bullet Points:**</a:t>
            </a:r>
          </a:p>
          <a:p>
            <a:r>
              <a:rPr sz="2000"/>
              <a:t>    *   Work individually or in pairs.</a:t>
            </a:r>
          </a:p>
          <a:p>
            <a:r>
              <a:rPr sz="2000"/>
              <a:t>    *   Decide if each scenario is an algorithm. If not, explain why.</a:t>
            </a:r>
          </a:p>
          <a:p>
            <a:r>
              <a:rPr sz="2000"/>
              <a:t>    *   (List scenarios from Activity 1 on the slide or hand them out).</a:t>
            </a:r>
          </a:p>
          <a:p>
            <a:r>
              <a:rPr sz="2000"/>
              <a:t>*   **Image:** A question mark or a "yes/no" icon.</a:t>
            </a:r>
          </a:p>
          <a:p/>
          <a:p>
            <a:r>
              <a:rPr sz="2000"/>
              <a:t>**Slide 11: Activity 2: Design Your Own Algorithm**</a:t>
            </a:r>
          </a:p>
          <a:p>
            <a:r>
              <a:rPr sz="2000"/>
              <a:t>*   **Title:** Your Turn: Be an Algorithm Designer!</a:t>
            </a:r>
          </a:p>
          <a:p>
            <a:r>
              <a:rPr sz="2000"/>
              <a:t>*   **Bullet Points:**</a:t>
            </a:r>
          </a:p>
          <a:p>
            <a:r>
              <a:rPr sz="2000"/>
              <a:t>    *   Choose ONE task:</a:t>
            </a:r>
          </a:p>
          <a:p>
            <a:r>
              <a:rPr sz="2000"/>
              <a:t>        *   Making a cup of tea/coffee</a:t>
            </a:r>
          </a:p>
          <a:p>
            <a:r>
              <a:rPr sz="2000"/>
              <a:t>        *   Packing your school bag</a:t>
            </a:r>
          </a:p>
          <a:p>
            <a:r>
              <a:rPr sz="2000"/>
              <a:t>        *   Crossing the road safely</a:t>
            </a:r>
          </a:p>
          <a:p>
            <a:r>
              <a:rPr sz="2000"/>
              <a:t>        *   Brushing your teeth</a:t>
            </a:r>
          </a:p>
          <a:p>
            <a:r>
              <a:rPr sz="2000"/>
              <a:t>        *   Logging onto your school computer</a:t>
            </a:r>
          </a:p>
          <a:p>
            <a:r>
              <a:rPr sz="2000"/>
              <a:t>    *   Write clear, numbered, step-by-step instructions.</a:t>
            </a:r>
          </a:p>
          <a:p>
            <a:r>
              <a:rPr sz="2000"/>
              <a:t>    *   Remember the characteristics of a good algorithm!</a:t>
            </a:r>
          </a:p>
          <a:p>
            <a:r>
              <a:rPr sz="2000"/>
              <a:t>*   **Image:** A person thinking, with lightbulb.</a:t>
            </a:r>
          </a:p>
          <a:p/>
          <a:p>
            <a:r>
              <a:rPr sz="2000"/>
              <a:t>**Slide 12: Review &amp; Reflect**</a:t>
            </a:r>
          </a:p>
          <a:p>
            <a:r>
              <a:rPr sz="2000"/>
              <a:t>*   **Title:** Let's Recap!</a:t>
            </a:r>
          </a:p>
          <a:p>
            <a:r>
              <a:rPr sz="2000"/>
              <a:t>*   **Bullet Points:**</a:t>
            </a:r>
          </a:p>
          <a:p>
            <a:r>
              <a:rPr sz="2000"/>
              <a:t>    *   What is an algorithm?</a:t>
            </a:r>
          </a:p>
          <a:p>
            <a:r>
              <a:rPr sz="2000"/>
              <a:t>    *   Can you name 3 characteristics?</a:t>
            </a:r>
          </a:p>
          <a:p>
            <a:r>
              <a:rPr sz="2000"/>
              <a:t>    *   Give an everyday and a computer algorithm example.</a:t>
            </a:r>
          </a:p>
          <a:p>
            <a:r>
              <a:rPr sz="2000"/>
              <a:t>    *   Why is precision so important?</a:t>
            </a:r>
          </a:p>
          <a:p>
            <a:r>
              <a:rPr sz="2000"/>
              <a:t>*   **Image:** A thought bubble or a student reviewing notes.</a:t>
            </a:r>
          </a:p>
          <a:p/>
          <a:p>
            <a:r>
              <a:rPr sz="2000"/>
              <a:t>**Slide 13: Summary &amp; Conclusion**</a:t>
            </a:r>
          </a:p>
          <a:p>
            <a:r>
              <a:rPr sz="2000"/>
              <a:t>*   **Title:** Algorithms: The Foundations of Computing</a:t>
            </a:r>
          </a:p>
          <a:p>
            <a:r>
              <a:rPr sz="2000"/>
              <a:t>*   **Bullet Points:**</a:t>
            </a:r>
          </a:p>
          <a:p>
            <a:r>
              <a:rPr sz="2000"/>
              <a:t>    *   Algorithms are fundamental to problem-solving, both human and computer.</a:t>
            </a:r>
          </a:p>
          <a:p>
            <a:r>
              <a:rPr sz="2000"/>
              <a:t>    *   Clear, unambiguous instructions are key to success.</a:t>
            </a:r>
          </a:p>
          <a:p>
            <a:r>
              <a:rPr sz="2000"/>
              <a:t>    *   You're already using and creating algorithms every day!</a:t>
            </a:r>
          </a:p>
          <a:p>
            <a:r>
              <a:rPr sz="2000"/>
              <a:t>    *   Next time: We'll look at specific types of algorithms.</a:t>
            </a:r>
          </a:p>
          <a:p>
            <a:r>
              <a:rPr sz="2000"/>
              <a:t>*   **Image:** A powerful, abstract image representing logic or connectivity.</a:t>
            </a:r>
          </a:p>
          <a:p/>
          <a:p>
            <a:r>
              <a:rPr sz="2000"/>
              <a:t>**Slide 14: Exit Ticket**</a:t>
            </a:r>
          </a:p>
          <a:p>
            <a:r>
              <a:rPr sz="2000"/>
              <a:t>*   **Title:** Before You Go... (Exit Ticket)</a:t>
            </a:r>
          </a:p>
          <a:p>
            <a:r>
              <a:rPr sz="2000"/>
              <a:t>*   **Bullet Points:**</a:t>
            </a:r>
          </a:p>
          <a:p>
            <a:r>
              <a:rPr sz="2000"/>
              <a:t>    *   1. Define "algorithm" in your own words.</a:t>
            </a:r>
          </a:p>
          <a:p>
            <a:r>
              <a:rPr sz="2000"/>
              <a:t>    *   2. Name one thing you learned about algorithms today.</a:t>
            </a:r>
          </a:p>
          <a:p>
            <a:r>
              <a:rPr sz="2000"/>
              <a:t>    *   3. Write one question you still have about algorithms.</a:t>
            </a:r>
          </a:p>
          <a:p>
            <a:r>
              <a:rPr sz="2000"/>
              <a:t>*   **Image:** A pen writing on paper.</a:t>
            </a:r>
          </a:p>
          <a:p/>
          <a:p>
            <a:r>
              <a:rPr sz="2000"/>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142</TotalTime>
  <Words>539</Words>
  <Application>Microsoft Office PowerPoint</Application>
  <PresentationFormat>Custom</PresentationFormat>
  <Paragraphs>66</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Helvetica World</vt:lpstr>
      <vt:lpstr>Arial</vt:lpstr>
      <vt:lpstr>Helvetica World Bold</vt:lpstr>
      <vt:lpstr>Georgia Pro Condensed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Algorithms: Searching and Sorting</dc:title>
  <dc:description>Presentation - Algorithms: Searching and Sorting</dc:description>
  <cp:lastModifiedBy>user</cp:lastModifiedBy>
  <cp:revision>3</cp:revision>
  <dcterms:created xsi:type="dcterms:W3CDTF">2006-08-16T00:00:00Z</dcterms:created>
  <dcterms:modified xsi:type="dcterms:W3CDTF">2025-11-05T12:34:16Z</dcterms:modified>
  <dc:identifier>DAG3zzhZX2A</dc:identifier>
</cp:coreProperties>
</file>