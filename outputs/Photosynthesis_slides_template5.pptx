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14"/>
    <p:sldId id="257" r:id="rId15"/>
    <p:sldId id="258" r:id="rId13"/>
    <p:sldId id="259" r:id="rId12"/>
    <p:sldId id="260" r:id="rId11"/>
    <p:sldId id="261" r:id="rId10"/>
    <p:sldId id="262" r:id="rId9"/>
    <p:sldId id="263" r:id="rId8"/>
    <p:sldId id="264" r:id="rId7"/>
    <p:sldId id="265" r:id="rId6"/>
    <p:sldId id="266" r:id="rId5"/>
    <p:sldId id="267" r:id="rId4"/>
    <p:sldId id="268" r:id="rId3"/>
    <p:sldId id="269" r:id="rId2"/>
    <p:sldId id="270" r:id="rId28"/>
    <p:sldId id="271" r:id="rId29"/>
    <p:sldId id="272" r:id="rId30"/>
    <p:sldId id="273" r:id="rId31"/>
    <p:sldId id="274" r:id="rId32"/>
    <p:sldId id="275" r:id="rId33"/>
    <p:sldId id="276" r:id="rId34"/>
    <p:sldId id="277" r:id="rId35"/>
  </p:sldIdLst>
  <p:sldSz cx="18288000" cy="10287000"/>
  <p:notesSz cx="6858000" cy="9144000"/>
  <p:embeddedFontLst>
    <p:embeddedFont>
      <p:font typeface="TT Interphases Bold" panose="020B0604020202020204" charset="0"/>
      <p:regular r:id="rId16"/>
    </p:embeddedFont>
    <p:embeddedFont>
      <p:font typeface="Calibri" panose="020F0502020204030204" pitchFamily="34" charset="0"/>
      <p:regular r:id="rId17"/>
      <p:bold r:id="rId18"/>
      <p:italic r:id="rId19"/>
      <p:boldItalic r:id="rId20"/>
    </p:embeddedFont>
    <p:embeddedFont>
      <p:font typeface="TT Interphases" panose="020B0604020202020204" charset="0"/>
      <p:regular r:id="rId21"/>
    </p:embeddedFont>
    <p:embeddedFont>
      <p:font typeface="Georgia Pro Condensed Bold" panose="020B0604020202020204" charset="0"/>
      <p:regular r:id="rId22"/>
    </p:embeddedFont>
    <p:embeddedFont>
      <p:font typeface="Georgia Pro Condensed Light"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3" d="100"/>
          <a:sy n="53" d="100"/>
        </p:scale>
        <p:origin x="730"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4.xml"/><Relationship Id="rId3" Type="http://schemas.openxmlformats.org/officeDocument/2006/relationships/slide" Target="slides/slide13.xml"/><Relationship Id="rId4" Type="http://schemas.openxmlformats.org/officeDocument/2006/relationships/slide" Target="slides/slide12.xml"/><Relationship Id="rId5" Type="http://schemas.openxmlformats.org/officeDocument/2006/relationships/slide" Target="slides/slide11.xml"/><Relationship Id="rId6" Type="http://schemas.openxmlformats.org/officeDocument/2006/relationships/slide" Target="slides/slide10.xml"/><Relationship Id="rId7" Type="http://schemas.openxmlformats.org/officeDocument/2006/relationships/slide" Target="slides/slide9.xml"/><Relationship Id="rId8" Type="http://schemas.openxmlformats.org/officeDocument/2006/relationships/slide" Target="slides/slide8.xml"/><Relationship Id="rId9" Type="http://schemas.openxmlformats.org/officeDocument/2006/relationships/slide" Target="slides/slide7.xml"/><Relationship Id="rId10" Type="http://schemas.openxmlformats.org/officeDocument/2006/relationships/slide" Target="slides/slide6.xml"/><Relationship Id="rId11" Type="http://schemas.openxmlformats.org/officeDocument/2006/relationships/slide" Target="slides/slide5.xml"/><Relationship Id="rId12" Type="http://schemas.openxmlformats.org/officeDocument/2006/relationships/slide" Target="slides/slide4.xml"/><Relationship Id="rId13" Type="http://schemas.openxmlformats.org/officeDocument/2006/relationships/slide" Target="slides/slide3.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font" Target="fonts/font1.fntdata"/><Relationship Id="rId17" Type="http://schemas.openxmlformats.org/officeDocument/2006/relationships/font" Target="fonts/font2.fntdata"/><Relationship Id="rId18" Type="http://schemas.openxmlformats.org/officeDocument/2006/relationships/font" Target="fonts/font3.fntdata"/><Relationship Id="rId19" Type="http://schemas.openxmlformats.org/officeDocument/2006/relationships/font" Target="fonts/font4.fntdata"/><Relationship Id="rId20" Type="http://schemas.openxmlformats.org/officeDocument/2006/relationships/font" Target="fonts/font5.fntdata"/><Relationship Id="rId21" Type="http://schemas.openxmlformats.org/officeDocument/2006/relationships/font" Target="fonts/font6.fntdata"/><Relationship Id="rId22" Type="http://schemas.openxmlformats.org/officeDocument/2006/relationships/font" Target="fonts/font7.fntdata"/><Relationship Id="rId23" Type="http://schemas.openxmlformats.org/officeDocument/2006/relationships/font" Target="fonts/font8.fntdata"/><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t>As an expert teacher and PowerPoint creator, I'm thrilled to present a comprehen</a:t>
            </a:r>
          </a:p>
        </p:txBody>
      </p:sp>
      <p:sp>
        <p:nvSpPr>
          <p:cNvPr id="3" name="Content Placeholder 2"/>
          <p:cNvSpPr>
            <a:spLocks noGrp="1"/>
          </p:cNvSpPr>
          <p:nvPr>
            <p:ph idx="1"/>
          </p:nvPr>
        </p:nvSpPr>
        <p:spPr/>
        <p:txBody>
          <a:bodyPr/>
          <a:lstStyle/>
          <a:p>
            <a:r>
              <a:rPr sz="1800"/>
              <a:t>---</a:t>
            </a:r>
          </a:p>
          <a:p/>
          <a:p>
            <a:r>
              <a:rPr sz="1800"/>
              <a:t>## **Photosynthesis: The Plant's Secret Recipe for Life!**</a:t>
            </a:r>
          </a:p>
          <a:p/>
          <a:p>
            <a:r>
              <a:rPr sz="1800"/>
              <a:t>### **1. Lesson Objectives**</a:t>
            </a:r>
          </a:p>
          <a:p/>
          <a:p>
            <a:r>
              <a:rPr sz="1800"/>
              <a:t>By the end of this lesson, students will be able to:</a:t>
            </a:r>
          </a:p>
          <a:p/>
          <a:p>
            <a:r>
              <a:rPr sz="1800"/>
              <a:t>*   **Define** photosynthesis as the process by which green plants make their own food.</a:t>
            </a:r>
          </a:p>
          <a:p>
            <a:r>
              <a:rPr sz="1800"/>
              <a:t>*   **Identify** the essential ingredients (reactants) for photosynthesis: sunlight, carbon dioxide, and water.</a:t>
            </a:r>
          </a:p>
          <a:p>
            <a:r>
              <a:rPr sz="1800"/>
              <a:t>*   **Describe** the main products of photosynthesis: glucose (sugar) and oxygen.</a:t>
            </a:r>
          </a:p>
          <a:p>
            <a:r>
              <a:rPr sz="1800"/>
              <a:t>*   **Locate** where photosynthesis primarily occurs within a plant (leaves, chloroplasts, chlorophyll).</a:t>
            </a:r>
          </a:p>
          <a:p>
            <a:r>
              <a:rPr sz="1800"/>
              <a:t>*   **Explain** the importance of photosynthesis for plants, animals, and the entire ecosystem (food and oxygen production).</a:t>
            </a:r>
          </a:p>
          <a:p>
            <a:r>
              <a:rPr sz="1800"/>
              <a:t>*   **Write** the word equation for photosynthesis.</a:t>
            </a:r>
          </a:p>
          <a:p/>
          <a:p>
            <a:r>
              <a:rPr sz="1800"/>
              <a:t>### **2. Introduction / Starter Activity (10-15 minutes)**</a:t>
            </a:r>
          </a:p>
          <a:p/>
          <a:p>
            <a:r>
              <a:rPr sz="1800"/>
              <a:t>**Activity Title:** "What Do Plants Eat?" - A Classroom Poll &amp; Mystery Unveiling</a:t>
            </a:r>
          </a:p>
          <a:p/>
          <a:p>
            <a:r>
              <a:rPr sz="1800"/>
              <a:t>**Materials:** Small whiteboards or scrap paper, markers/pens.</a:t>
            </a:r>
          </a:p>
          <a:p/>
          <a:p>
            <a:r>
              <a:rPr sz="1800"/>
              <a:t>**Procedure:**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t>**Engage:** Begin by asking students, "If you're hungry, what do you do? You eat</a:t>
            </a:r>
          </a:p>
        </p:txBody>
      </p:sp>
      <p:sp>
        <p:nvSpPr>
          <p:cNvPr id="3" name="Content Placeholder 2"/>
          <p:cNvSpPr>
            <a:spLocks noGrp="1"/>
          </p:cNvSpPr>
          <p:nvPr>
            <p:ph idx="1"/>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t>**Poll &amp; Discussion (5 minutes):**</a:t>
            </a:r>
          </a:p>
        </p:txBody>
      </p:sp>
      <p:sp>
        <p:nvSpPr>
          <p:cNvPr id="3" name="Content Placeholder 2"/>
          <p:cNvSpPr>
            <a:spLocks noGrp="1"/>
          </p:cNvSpPr>
          <p:nvPr>
            <p:ph idx="1"/>
          </p:nvPr>
        </p:nvSpPr>
        <p:spPr/>
        <p:txBody>
          <a:bodyPr/>
          <a:lstStyle/>
          <a:p>
            <a:r>
              <a:rPr sz="1800"/>
              <a:t>*   Ask students to write down their ideas on their whiteboards/paper: "What do plants eat?"</a:t>
            </a:r>
          </a:p>
          <a:p>
            <a:r>
              <a:rPr sz="1800"/>
              <a:t>    *   Have them hold up their answers. Expect common answers like "water," "soil," "nutrients," "sunlight."</a:t>
            </a:r>
          </a:p>
          <a:p>
            <a:r>
              <a:rPr sz="1800"/>
              <a:t>    *   Lead a brief discussion, affirming some ideas while gently challenging others. "Water is certainly important, but is it 'food' in the way a sandwich is food for us?" "Soil provides nutrients, but does it provide *energy*?"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t>**Introduce the Mystery (5 minutes):**</a:t>
            </a:r>
          </a:p>
        </p:txBody>
      </p:sp>
      <p:sp>
        <p:nvSpPr>
          <p:cNvPr id="3" name="Content Placeholder 2"/>
          <p:cNvSpPr>
            <a:spLocks noGrp="1"/>
          </p:cNvSpPr>
          <p:nvPr>
            <p:ph idx="1"/>
          </p:nvPr>
        </p:nvSpPr>
        <p:spPr/>
        <p:txBody>
          <a:bodyPr/>
          <a:lstStyle/>
          <a:p>
            <a:r>
              <a:rPr sz="1800"/>
              <a:t>*   "Today, we're going to solve this mystery! Plants don't *eat* in the same way we do. They have a secret, amazing recipe they use to make their *own* food. It's called Photosynthesis."</a:t>
            </a:r>
          </a:p>
          <a:p>
            <a:r>
              <a:rPr sz="1800"/>
              <a:t>    *   Show a captivating image of a lush green forest or a single, vibrant plant.</a:t>
            </a:r>
          </a:p>
          <a:p>
            <a:r>
              <a:rPr sz="1800"/>
              <a:t>    *   **Hook Question:** "Imagine a tiny seed. It weighs almost nothing. Then it grows into a giant tree! Where does all that *mass* come from? We'll discover the answer today!"</a:t>
            </a:r>
          </a:p>
          <a:p/>
          <a:p>
            <a:r>
              <a:rPr sz="1800"/>
              <a:t>### **3. Key Teaching Points (25-30 minutes)**</a:t>
            </a:r>
          </a:p>
          <a:p/>
          <a:p>
            <a:r>
              <a:rPr sz="1800"/>
              <a:t>**A. What is Photosynthesis? (The Big Picture)**</a:t>
            </a:r>
          </a:p>
          <a:p/>
          <a:p>
            <a:r>
              <a:rPr sz="1800"/>
              <a:t>*   **Definition:** Photosynthesis is the incredible process where green plants (and some other organisms) use sunlight, water, and carbon dioxide to create their own food (a type of sugar called glucose) and release oxygen.</a:t>
            </a:r>
          </a:p>
          <a:p>
            <a:r>
              <a:rPr sz="1800"/>
              <a:t>*   **Etymology:** Break down the word: "Photo" means light, "synthesis" means to make. So, "making with light!"</a:t>
            </a:r>
          </a:p>
          <a:p>
            <a:r>
              <a:rPr sz="1800"/>
              <a:t>*   **Importance:** It's the foundation of almost all life on Earth!</a:t>
            </a:r>
          </a:p>
          <a:p>
            <a:r>
              <a:rPr sz="1800"/>
              <a:t>    *   **Food:** Plants make their own food, and then animals eat plants (or eat animals that ate plants).</a:t>
            </a:r>
          </a:p>
          <a:p>
            <a:r>
              <a:rPr sz="1800"/>
              <a:t>    *   **Oxygen:** They release the oxygen we breathe, which is essential for our survival.</a:t>
            </a:r>
          </a:p>
          <a:p/>
          <a:p>
            <a:r>
              <a:rPr sz="1800"/>
              <a:t>**B. The Ingredients (Reactants) - What do plants need?**</a:t>
            </a:r>
          </a:p>
          <a:p/>
          <a:p>
            <a:r>
              <a:rPr sz="1800"/>
              <a:t>*   **Sunlight (Energy Source):**</a:t>
            </a:r>
          </a:p>
          <a:p>
            <a:r>
              <a:rPr sz="1800"/>
              <a:t>    *   The "power" that fuels the entire process.</a:t>
            </a:r>
          </a:p>
          <a:p>
            <a:r>
              <a:rPr sz="1800"/>
              <a:t>    *   Captured by special pigments.</a:t>
            </a:r>
          </a:p>
          <a:p>
            <a:r>
              <a:rPr sz="1800"/>
              <a:t>*   **Water (H2O):**</a:t>
            </a:r>
          </a:p>
          <a:p>
            <a:r>
              <a:rPr sz="1800"/>
              <a:t>    *   Absorbed by the roots from the soil.</a:t>
            </a:r>
          </a:p>
          <a:p>
            <a:r>
              <a:rPr sz="1800"/>
              <a:t>    *   Travels up the stem to the leaves.</a:t>
            </a:r>
          </a:p>
          <a:p>
            <a:r>
              <a:rPr sz="1800"/>
              <a:t>*   **Carbon Dioxide (CO2):**</a:t>
            </a:r>
          </a:p>
          <a:p>
            <a:r>
              <a:rPr sz="1800"/>
              <a:t>    *   A gas found in the air.</a:t>
            </a:r>
          </a:p>
          <a:p>
            <a:r>
              <a:rPr sz="1800"/>
              <a:t>    *   Enters the leaves through tiny pores called **stomata** (singular: stoma).</a:t>
            </a:r>
          </a:p>
          <a:p/>
          <a:p>
            <a:r>
              <a:rPr sz="1800"/>
              <a:t>**C. The "Factory" and the "Chef" (Where it Happens &amp; How)**</a:t>
            </a:r>
          </a:p>
          <a:p/>
          <a:p>
            <a:r>
              <a:rPr sz="1800"/>
              <a:t>*   **The Leaves:** The primary "factories" of photosynthesis. They are broad and flat to capture maximum sunlight.</a:t>
            </a:r>
          </a:p>
          <a:p>
            <a:r>
              <a:rPr sz="1800"/>
              <a:t>*   **Chloroplasts:** Tiny organelles *inside* plant cells (especially in leaves) where photosynthesis actually takes place. Think of them as the "workbenches" or "kitchens."</a:t>
            </a:r>
          </a:p>
          <a:p>
            <a:r>
              <a:rPr sz="1800"/>
              <a:t>*   **Chlorophyll:** The green pigment *inside* chloroplasts. This is the "chef" that captures sunlight energy. It's why plants are green!</a:t>
            </a:r>
          </a:p>
          <a:p/>
          <a:p>
            <a:r>
              <a:rPr sz="1800"/>
              <a:t>**D. The Products - What do plants make?**</a:t>
            </a:r>
          </a:p>
          <a:p/>
          <a:p>
            <a:r>
              <a:rPr sz="1800"/>
              <a:t>*   **Glucose (C6H12O6):**</a:t>
            </a:r>
          </a:p>
          <a:p>
            <a:r>
              <a:rPr sz="1800"/>
              <a:t>    *   The "food" for the plant. It's a sugar.</a:t>
            </a:r>
          </a:p>
          <a:p>
            <a:r>
              <a:rPr sz="1800"/>
              <a:t>    *   Used for energy (respiration), growth, reproduction, and stored as starch for later.</a:t>
            </a:r>
          </a:p>
          <a:p>
            <a:r>
              <a:rPr sz="1800"/>
              <a:t>*   **Oxygen (O2):**</a:t>
            </a:r>
          </a:p>
          <a:p>
            <a:r>
              <a:rPr sz="1800"/>
              <a:t>    *   A "waste product" for the plant, but vital for us!</a:t>
            </a:r>
          </a:p>
          <a:p>
            <a:r>
              <a:rPr sz="1800"/>
              <a:t>    *   Released back into the atmosphere through the stomata.</a:t>
            </a:r>
          </a:p>
          <a:p/>
          <a:p>
            <a:r>
              <a:rPr sz="1800"/>
              <a:t>**E. The Photosynthesis Word Equation:**</a:t>
            </a:r>
          </a:p>
          <a:p/>
          <a:p>
            <a:r>
              <a:rPr sz="1800"/>
              <a:t>*   **Simple Version:**</a:t>
            </a:r>
          </a:p>
          <a:p>
            <a:r>
              <a:rPr sz="1800"/>
              <a:t>    Sunlight</a:t>
            </a:r>
          </a:p>
          <a:p>
            <a:r>
              <a:rPr sz="1800"/>
              <a:t>    Carbon Dioxide + Water --------&gt; Glucose + Oxygen</a:t>
            </a:r>
          </a:p>
          <a:p>
            <a:r>
              <a:rPr sz="1800"/>
              <a:t>    Chlorophyll</a:t>
            </a:r>
          </a:p>
          <a:p/>
          <a:p>
            <a:r>
              <a:rPr sz="1800"/>
              <a:t>*   **Explain:** "On the left side, we have our ingredients (reactants). On the right side, we have what's made (products). Sunlight and chlorophyll are like the special conditions needed for the recipe to work."</a:t>
            </a:r>
          </a:p>
          <a:p/>
          <a:p>
            <a:r>
              <a:rPr sz="1800"/>
              <a:t>### **4. Guided Practice / Class Activities (20-25 minutes)**</a:t>
            </a:r>
          </a:p>
          <a:p/>
          <a:p>
            <a:r>
              <a:rPr sz="1800"/>
              <a:t>**Activity 1: "Photosynthesis Recipe Card" (Individual/Pair Work - 10 minutes)**</a:t>
            </a:r>
          </a:p>
          <a:p/>
          <a:p>
            <a:r>
              <a:rPr sz="1800"/>
              <a:t>*   **Materials:** Pre-printed "Recipe Card" template (or blank paper), colored pencils/markers.</a:t>
            </a:r>
          </a:p>
          <a:p>
            <a:r>
              <a:rPr sz="1800"/>
              <a:t>*   **Procedure:**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t>Distribute the template which has sections for: "Recipe Name," "Ingredients (Rea</a:t>
            </a:r>
          </a:p>
        </p:txBody>
      </p:sp>
      <p:sp>
        <p:nvSpPr>
          <p:cNvPr id="3" name="Content Placeholder 2"/>
          <p:cNvSpPr>
            <a:spLocks noGrp="1"/>
          </p:cNvSpPr>
          <p:nvPr>
            <p:ph idx="1"/>
          </p:nvPr>
        </p:nvSpPr>
        <p:spPr/>
        <p:txBody>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t>Students work individually or in pairs to fill out the card based on the teachin</a:t>
            </a:r>
          </a:p>
        </p:txBody>
      </p:sp>
      <p:sp>
        <p:nvSpPr>
          <p:cNvPr id="3" name="Content Placeholder 2"/>
          <p:cNvSpPr>
            <a:spLocks noGrp="1"/>
          </p:cNvSpPr>
          <p:nvPr>
            <p:ph idx="1"/>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t>**Differentiation:** For struggling learners, provide a word bank. For advanced </a:t>
            </a:r>
          </a:p>
        </p:txBody>
      </p:sp>
      <p:sp>
        <p:nvSpPr>
          <p:cNvPr id="3" name="Content Placeholder 2"/>
          <p:cNvSpPr>
            <a:spLocks noGrp="1"/>
          </p:cNvSpPr>
          <p:nvPr>
            <p:ph idx="1"/>
          </p:nvPr>
        </p:nvSpPr>
        <p:spPr/>
        <p:txBody>
          <a:bodyPr/>
          <a:lstStyle/>
          <a:p>
            <a:r>
              <a:rPr sz="1800"/>
              <a:t>**Activity 2: "Stomata Simulation" (Class Demonstration &amp; Discussion - 5 minutes)**</a:t>
            </a:r>
          </a:p>
          <a:p/>
          <a:p>
            <a:r>
              <a:rPr sz="1800"/>
              <a:t>*   **Materials:** Two inflated balloons, two paper towels, water.</a:t>
            </a:r>
          </a:p>
          <a:p>
            <a:r>
              <a:rPr sz="1800"/>
              <a:t>*   **Procedure:**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t>**Teacher Demo:** "Imagine these balloons are the air *inside* a leaf cell. We n</a:t>
            </a:r>
          </a:p>
        </p:txBody>
      </p:sp>
      <p:sp>
        <p:nvSpPr>
          <p:cNvPr id="3" name="Content Placeholder 2"/>
          <p:cNvSpPr>
            <a:spLocks noGrp="1"/>
          </p:cNvSpPr>
          <p:nvPr>
            <p:ph idx="1"/>
          </p:nvPr>
        </p:nvSpPr>
        <p:spPr/>
        <p:txBody>
          <a:bodyP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t>Hold up a paper towel. "If the leaf was just solid, how would gases get in and o</a:t>
            </a:r>
          </a:p>
        </p:txBody>
      </p:sp>
      <p:sp>
        <p:nvSpPr>
          <p:cNvPr id="3" name="Content Placeholder 2"/>
          <p:cNvSpPr>
            <a:spLocks noGrp="1"/>
          </p:cNvSpPr>
          <p:nvPr>
            <p:ph idx="1"/>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t>Tear small holes in the paper towel. "These holes are like stomata. They open an</a:t>
            </a:r>
          </a:p>
        </p:txBody>
      </p:sp>
      <p:sp>
        <p:nvSpPr>
          <p:cNvPr id="3" name="Content Placeholder 2"/>
          <p:cNvSpPr>
            <a:spLocks noGrp="1"/>
          </p:cNvSpPr>
          <p:nvPr>
            <p:ph idx="1"/>
          </p:nvPr>
        </p:nvSpPr>
        <p:spPr/>
        <p:txBody>
          <a:bodyPr/>
          <a:lstStyle/>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t>Dip one balloon (with a paper towel around it) into water. "When there's plenty </a:t>
            </a:r>
          </a:p>
        </p:txBody>
      </p:sp>
      <p:sp>
        <p:nvSpPr>
          <p:cNvPr id="3" name="Content Placeholder 2"/>
          <p:cNvSpPr>
            <a:spLocks noGrp="1"/>
          </p:cNvSpPr>
          <p:nvPr>
            <p:ph idx="1"/>
          </p:nvPr>
        </p:nvSpPr>
        <p:spPr/>
        <p:txBody>
          <a:bodyPr/>
          <a:lstStyle/>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t>Let another balloon sit out. "But what if a plant is losing too much water? (Hol</a:t>
            </a:r>
          </a:p>
        </p:txBody>
      </p:sp>
      <p:sp>
        <p:nvSpPr>
          <p:cNvPr id="3" name="Content Placeholder 2"/>
          <p:cNvSpPr>
            <a:spLocks noGrp="1"/>
          </p:cNvSpPr>
          <p:nvPr>
            <p:ph idx="1"/>
          </p:nvPr>
        </p:nvSpPr>
        <p:spPr/>
        <p:txBody>
          <a:bodyPr/>
          <a:lstStyle/>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t>**Discussion:** Ask students, "Why is it a problem for a plant if its stomata st</a:t>
            </a:r>
          </a:p>
        </p:txBody>
      </p:sp>
      <p:sp>
        <p:nvSpPr>
          <p:cNvPr id="3" name="Content Placeholder 2"/>
          <p:cNvSpPr>
            <a:spLocks noGrp="1"/>
          </p:cNvSpPr>
          <p:nvPr>
            <p:ph idx="1"/>
          </p:nvPr>
        </p:nvSpPr>
        <p:spPr/>
        <p:txBody>
          <a:bodyPr/>
          <a:lstStyle/>
          <a:p>
            <a:r>
              <a:rPr sz="1800"/>
              <a:t>**Activity 3: "Living Diagram" - Photosynthesis Flow Chart (Group Activity - 10 minutes)**</a:t>
            </a:r>
          </a:p>
          <a:p/>
          <a:p>
            <a:r>
              <a:rPr sz="1800"/>
              <a:t>*   **Materials:** Large index cards or small pieces of paper labeled with: "Sunlight," "Water," "Carbon Dioxide," "Chloroplast," "Chlorophyll," "Glucose," "Oxygen," "Leaf." Arrows.</a:t>
            </a:r>
          </a:p>
          <a:p>
            <a:r>
              <a:rPr sz="1800"/>
              <a:t>*   **Procedure:**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t>Divide the class into small groups (3-4 students).</a:t>
            </a:r>
          </a:p>
        </p:txBody>
      </p:sp>
      <p:sp>
        <p:nvSpPr>
          <p:cNvPr id="3" name="Content Placeholder 2"/>
          <p:cNvSpPr>
            <a:spLocks noGrp="1"/>
          </p:cNvSpPr>
          <p:nvPr>
            <p:ph idx="1"/>
          </p:nvPr>
        </p:nvSpPr>
        <p:spPr/>
        <p:txBody>
          <a:bodyP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t>Give each group a set of cards and arrows.</a:t>
            </a:r>
          </a:p>
        </p:txBody>
      </p:sp>
      <p:sp>
        <p:nvSpPr>
          <p:cNvPr id="3" name="Content Placeholder 2"/>
          <p:cNvSpPr>
            <a:spLocks noGrp="1"/>
          </p:cNvSpPr>
          <p:nvPr>
            <p:ph idx="1"/>
          </p:nvPr>
        </p:nvSpPr>
        <p:spPr/>
        <p:txBody>
          <a:bodyPr/>
          <a:lstStyle/>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t>Their task is to arrange the cards on their desk to create a visual flow chart s</a:t>
            </a:r>
          </a:p>
        </p:txBody>
      </p:sp>
      <p:sp>
        <p:nvSpPr>
          <p:cNvPr id="3" name="Content Placeholder 2"/>
          <p:cNvSpPr>
            <a:spLocks noGrp="1"/>
          </p:cNvSpPr>
          <p:nvPr>
            <p:ph idx="1"/>
          </p:nvPr>
        </p:nvSpPr>
        <p:spPr/>
        <p:txBody>
          <a:bodyPr/>
          <a:lstStyle/>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t>Circulate and provide guidance.</a:t>
            </a:r>
          </a:p>
        </p:txBody>
      </p:sp>
      <p:sp>
        <p:nvSpPr>
          <p:cNvPr id="3" name="Content Placeholder 2"/>
          <p:cNvSpPr>
            <a:spLocks noGrp="1"/>
          </p:cNvSpPr>
          <p:nvPr>
            <p:ph idx="1"/>
          </p:nvPr>
        </p:nvSpPr>
        <p:spPr/>
        <p:txBody>
          <a:bodyPr/>
          <a:lstStyle/>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t>Have each group briefly present their flow chart, explaining the connections.</a:t>
            </a:r>
          </a:p>
        </p:txBody>
      </p:sp>
      <p:sp>
        <p:nvSpPr>
          <p:cNvPr id="3" name="Content Placeholder 2"/>
          <p:cNvSpPr>
            <a:spLocks noGrp="1"/>
          </p:cNvSpPr>
          <p:nvPr>
            <p:ph idx="1"/>
          </p:nvPr>
        </p:nvSpPr>
        <p:spPr/>
        <p:txBody>
          <a:bodyPr/>
          <a:lstStyle/>
          <a:p>
            <a:r>
              <a:rPr sz="1800"/>
              <a:t>### **5. Assessment Ideas**</a:t>
            </a:r>
          </a:p>
          <a:p/>
          <a:p>
            <a:r>
              <a:rPr sz="1800"/>
              <a:t>*   **Exit Ticket (Formative):**</a:t>
            </a:r>
          </a:p>
          <a:p>
            <a:r>
              <a:rPr sz="1800"/>
              <a:t>    *   "List 3 things a plant needs for photosynthesis."</a:t>
            </a:r>
          </a:p>
          <a:p>
            <a:r>
              <a:rPr sz="1800"/>
              <a:t>    *   "What are the 2 main products of photosynthesis?"</a:t>
            </a:r>
          </a:p>
          <a:p>
            <a:r>
              <a:rPr sz="1800"/>
              <a:t>    *   "Why is photosynthesis important to YOU?"</a:t>
            </a:r>
          </a:p>
          <a:p>
            <a:r>
              <a:rPr sz="1800"/>
              <a:t>*   **"Draw &amp; Label" Assessment (Formative/Summative):**</a:t>
            </a:r>
          </a:p>
          <a:p>
            <a:r>
              <a:rPr sz="1800"/>
              <a:t>    *   Provide a blank diagram of a leaf cross-section or a simple plant. Students label the key parts involved in photosynthesis (roots, stem, leaf, stomata, chloroplasts) and draw arrows to show the input/output of gases/water.</a:t>
            </a:r>
          </a:p>
          <a:p>
            <a:r>
              <a:rPr sz="1800"/>
              <a:t>*   **Quick Quiz (Summative):**</a:t>
            </a:r>
          </a:p>
          <a:p>
            <a:r>
              <a:rPr sz="1800"/>
              <a:t>    *   Multiple-choice and short-answer questions covering definitions, reactants, products, and location.</a:t>
            </a:r>
          </a:p>
          <a:p>
            <a:r>
              <a:rPr sz="1800"/>
              <a:t>*   **Concept Map (Summative):**</a:t>
            </a:r>
          </a:p>
          <a:p>
            <a:r>
              <a:rPr sz="1800"/>
              <a:t>    *   Give students the central term "Photosynthesis" and have them create a concept map connecting it to all related terms learned in the lesson (e.g., sunlight, water, CO2, glucose, oxygen, chlorophyll, chloroplasts, stomata, leaves, energy, food chain).</a:t>
            </a:r>
          </a:p>
          <a:p/>
          <a:p>
            <a:r>
              <a:rPr sz="1800"/>
              <a:t>### **6. Summary / Conclusion (5-10 minutes)**</a:t>
            </a:r>
          </a:p>
          <a:p/>
          <a:p>
            <a:r>
              <a:rPr sz="1800"/>
              <a:t>**Activity:** "Human Photosynthesis Equation" &amp; Recap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t>**Human Photosynthesis Equation (Interactive Recap):**</a:t>
            </a:r>
          </a:p>
        </p:txBody>
      </p:sp>
      <p:sp>
        <p:nvSpPr>
          <p:cNvPr id="3" name="Content Placeholder 2"/>
          <p:cNvSpPr>
            <a:spLocks noGrp="1"/>
          </p:cNvSpPr>
          <p:nvPr>
            <p:ph idx="1"/>
          </p:nvPr>
        </p:nvSpPr>
        <p:spPr/>
        <p:txBody>
          <a:bodyPr/>
          <a:lstStyle/>
          <a:p>
            <a:r>
              <a:rPr sz="1800"/>
              <a:t>*   Ask for volunteers (or assign roles): 2 students for "Carbon Dioxide," 2 for "Water," 1 for "Sunlight" (holding arms up high), 1 for "Chlorophyll" (wearing something green if available), 2 for "Glucose," 2 for "Oxygen."</a:t>
            </a:r>
          </a:p>
          <a:p>
            <a:r>
              <a:rPr sz="1800"/>
              <a:t>    *   Have them stand in the correct order as you call out the word equation: "Carbon Dioxide + Water" (students stand together on one side), "powered by Sunlight and Chlorophyll" (these students stand in the middle), "to make Glucose + Oxygen" (these students stand together on the other side).</a:t>
            </a:r>
          </a:p>
          <a:p>
            <a:r>
              <a:rPr sz="1800"/>
              <a:t>    *   Briefly review what each "person" represents.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t>**Reinforce Importance:** "So, thinking back to our mystery, where did the giant</a:t>
            </a:r>
          </a:p>
        </p:txBody>
      </p:sp>
      <p:sp>
        <p:nvSpPr>
          <p:cNvPr id="3" name="Content Placeholder 2"/>
          <p:cNvSpPr>
            <a:spLocks noGrp="1"/>
          </p:cNvSpPr>
          <p:nvPr>
            <p:ph idx="1"/>
          </p:nvPr>
        </p:nvSpPr>
        <p:spPr/>
        <p:txBody>
          <a:bodyPr/>
          <a:lstStyle/>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t>**Connection to Daily Life:** "Every time you eat a vegetable, or even meat from</a:t>
            </a:r>
          </a:p>
        </p:txBody>
      </p:sp>
      <p:sp>
        <p:nvSpPr>
          <p:cNvPr id="3" name="Content Placeholder 2"/>
          <p:cNvSpPr>
            <a:spLocks noGrp="1"/>
          </p:cNvSpPr>
          <p:nvPr>
            <p:ph idx="1"/>
          </p:nvPr>
        </p:nvSpPr>
        <p:spPr/>
        <p:txBody>
          <a:bodyPr/>
          <a:lstStyle/>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t>**Open for Questions:** Allow a few minutes for any final questions.</a:t>
            </a:r>
          </a:p>
        </p:txBody>
      </p:sp>
      <p:sp>
        <p:nvSpPr>
          <p:cNvPr id="3" name="Content Placeholder 2"/>
          <p:cNvSpPr>
            <a:spLocks noGrp="1"/>
          </p:cNvSpPr>
          <p:nvPr>
            <p:ph idx="1"/>
          </p:nvPr>
        </p:nvSpPr>
        <p:spPr/>
        <p:txBody>
          <a:bodyPr/>
          <a:lstStyle/>
          <a:p>
            <a:r>
              <a:rPr sz="1800"/>
              <a:t>### **7. PowerPoint Slide Outline**</a:t>
            </a:r>
          </a:p>
          <a:p/>
          <a:p>
            <a:r>
              <a:rPr sz="1800"/>
              <a:t>---</a:t>
            </a:r>
          </a:p>
          <a:p/>
          <a:p>
            <a:r>
              <a:rPr sz="1800"/>
              <a:t>**Slide 1: Title Slide**</a:t>
            </a:r>
          </a:p>
          <a:p>
            <a:r>
              <a:rPr sz="1800"/>
              <a:t>*   **Title:** Photosynthesis: The Plant's Secret Recipe for Life!</a:t>
            </a:r>
          </a:p>
          <a:p>
            <a:r>
              <a:rPr sz="1800"/>
              <a:t>*   **Subtitle:** How Green Plants Make Their Own Food &amp; Fuel Our Planet</a:t>
            </a:r>
          </a:p>
          <a:p>
            <a:r>
              <a:rPr sz="1800"/>
              <a:t>*   **Image:** A vibrant, close-up photo of a healthy green plant or a lush forest.</a:t>
            </a:r>
          </a:p>
          <a:p>
            <a:r>
              <a:rPr sz="1800"/>
              <a:t>*   **Teacher Note:** Start with the "What do plants eat?" starter activity.</a:t>
            </a:r>
          </a:p>
          <a:p/>
          <a:p>
            <a:r>
              <a:rPr sz="1800"/>
              <a:t>**Slide 2: Lesson Objectives**</a:t>
            </a:r>
          </a:p>
          <a:p>
            <a:r>
              <a:rPr sz="1800"/>
              <a:t>*   **Title:** Today, We Will Learn To...</a:t>
            </a:r>
          </a:p>
          <a:p>
            <a:r>
              <a:rPr sz="1800"/>
              <a:t>*   **Bullet Points:**</a:t>
            </a:r>
          </a:p>
          <a:p>
            <a:r>
              <a:rPr sz="1800"/>
              <a:t>    *   Define photosynthesis.</a:t>
            </a:r>
          </a:p>
          <a:p>
            <a:r>
              <a:rPr sz="1800"/>
              <a:t>    *   Identify the ingredients (reactants) plants need.</a:t>
            </a:r>
          </a:p>
          <a:p>
            <a:r>
              <a:rPr sz="1800"/>
              <a:t>    *   Describe the products plants make.</a:t>
            </a:r>
          </a:p>
          <a:p>
            <a:r>
              <a:rPr sz="1800"/>
              <a:t>    *   Locate where it happens in a plant.</a:t>
            </a:r>
          </a:p>
          <a:p>
            <a:r>
              <a:rPr sz="1800"/>
              <a:t>    *   Explain why it's vital for life on Earth.</a:t>
            </a:r>
          </a:p>
          <a:p>
            <a:r>
              <a:rPr sz="1800"/>
              <a:t>    *   Write the word equation.</a:t>
            </a:r>
          </a:p>
          <a:p>
            <a:r>
              <a:rPr sz="1800"/>
              <a:t>*   **Teacher Note:** Briefly review these, setting expectations.</a:t>
            </a:r>
          </a:p>
          <a:p/>
          <a:p>
            <a:r>
              <a:rPr sz="1800"/>
              <a:t>**Slide 3: What is Photosynthesis?**</a:t>
            </a:r>
          </a:p>
          <a:p>
            <a:r>
              <a:rPr sz="1800"/>
              <a:t>*   **Title:** Photo-Synthesis: Making with Light!</a:t>
            </a:r>
          </a:p>
          <a:p>
            <a:r>
              <a:rPr sz="1800"/>
              <a:t>*   **Bullet Points:**</a:t>
            </a:r>
          </a:p>
          <a:p>
            <a:r>
              <a:rPr sz="1800"/>
              <a:t>    *   "Photo" = Light</a:t>
            </a:r>
          </a:p>
          <a:p>
            <a:r>
              <a:rPr sz="1800"/>
              <a:t>    *   "Synthesis" = To Make</a:t>
            </a:r>
          </a:p>
          <a:p>
            <a:r>
              <a:rPr sz="1800"/>
              <a:t>    *   It's how green plants use **sunlight, water,** and **carbon dioxide** to create their own **food (sugar)** and release **oxygen**.</a:t>
            </a:r>
          </a:p>
          <a:p>
            <a:r>
              <a:rPr sz="1800"/>
              <a:t>*   **Image:** Simple diagram showing sun -&gt; plant -&gt; sugar + oxygen.</a:t>
            </a:r>
          </a:p>
          <a:p>
            <a:r>
              <a:rPr sz="1800"/>
              <a:t>*   **Teacher Note:** Emphasize the broken-down word meaning.</a:t>
            </a:r>
          </a:p>
          <a:p/>
          <a:p>
            <a:r>
              <a:rPr sz="1800"/>
              <a:t>**Slide 4: Why is Photosynthesis So Important?**</a:t>
            </a:r>
          </a:p>
          <a:p>
            <a:r>
              <a:rPr sz="1800"/>
              <a:t>*   **Title:** The Foundation of Life!</a:t>
            </a:r>
          </a:p>
          <a:p>
            <a:r>
              <a:rPr sz="1800"/>
              <a:t>*   **Bullet Points:**</a:t>
            </a:r>
          </a:p>
          <a:p>
            <a:r>
              <a:rPr sz="1800"/>
              <a:t>    *   **Food Source:** Plants make their own food (sugar). Animals eat plants, or eat other animals that ate plants. (The start of most food chains!)</a:t>
            </a:r>
          </a:p>
          <a:p>
            <a:r>
              <a:rPr sz="1800"/>
              <a:t>    *   **Oxygen Production:** Releases the oxygen that almost all living things need to breathe!</a:t>
            </a:r>
          </a:p>
          <a:p>
            <a:r>
              <a:rPr sz="1800"/>
              <a:t>*   **Images:** A simple food chain diagram, a person breathing clean air.</a:t>
            </a:r>
          </a:p>
          <a:p>
            <a:r>
              <a:rPr sz="1800"/>
              <a:t>*   **Teacher Note:** Connect to student's own survival.</a:t>
            </a:r>
          </a:p>
          <a:p/>
          <a:p>
            <a:r>
              <a:rPr sz="1800"/>
              <a:t>**Slide 5: The Ingredients (Reactants)**</a:t>
            </a:r>
          </a:p>
          <a:p>
            <a:r>
              <a:rPr sz="1800"/>
              <a:t>*   **Title:** What Does a Plant Need for its Recipe?</a:t>
            </a:r>
          </a:p>
          <a:p>
            <a:r>
              <a:rPr sz="1800"/>
              <a:t>*   **Bullet Points:**</a:t>
            </a:r>
          </a:p>
          <a:p>
            <a:r>
              <a:rPr sz="1800"/>
              <a:t>    *   **1. Sunlight:** The energy source! (Think of it as the oven's electricity)</a:t>
            </a:r>
          </a:p>
          <a:p>
            <a:r>
              <a:rPr sz="1800"/>
              <a:t>    *   **2. Water (H2O):** Absorbed by roots. (Like the water in your soup)</a:t>
            </a:r>
          </a:p>
          <a:p>
            <a:r>
              <a:rPr sz="1800"/>
              <a:t>    *   **3. Carbon Dioxide (CO2):** A gas from the air. Enters through tiny pores called **stomata** on leaves. (Like the flour or salt)</a:t>
            </a:r>
          </a:p>
          <a:p>
            <a:r>
              <a:rPr sz="1800"/>
              <a:t>*   **Images:** Sun icon, roots absorbing water, CO2 molecules entering a leaf diagram.</a:t>
            </a:r>
          </a:p>
          <a:p>
            <a:r>
              <a:rPr sz="1800"/>
              <a:t>*   **Teacher Note:** Use the analogy of a cooking recipe.</a:t>
            </a:r>
          </a:p>
          <a:p/>
          <a:p>
            <a:r>
              <a:rPr sz="1800"/>
              <a:t>**Slide 6: The "Factory" and the "Chef"**</a:t>
            </a:r>
          </a:p>
          <a:p>
            <a:r>
              <a:rPr sz="1800"/>
              <a:t>*   **Title:** Where Does the Magic Happen?</a:t>
            </a:r>
          </a:p>
          <a:p>
            <a:r>
              <a:rPr sz="1800"/>
              <a:t>*   **Bullet Points:**</a:t>
            </a:r>
          </a:p>
          <a:p>
            <a:r>
              <a:rPr sz="1800"/>
              <a:t>    *   **Leaves:** The main "factories." Flat and wide to catch sunlight.</a:t>
            </a:r>
          </a:p>
          <a:p>
            <a:r>
              <a:rPr sz="1800"/>
              <a:t>    *   **Chloroplasts:** Tiny green "kitchens" *inside* plant cells where photosynthesis occurs.</a:t>
            </a:r>
          </a:p>
          <a:p>
            <a:r>
              <a:rPr sz="1800"/>
              <a:t>    *   **Chlorophyll:** The green "chef" pigment *inside* chloroplasts that *captures* sunlight energy. It's why plants are green!</a:t>
            </a:r>
          </a:p>
          <a:p>
            <a:r>
              <a:rPr sz="1800"/>
              <a:t>*   **Images:** Diagram of a leaf cross-section, magnified image of chloroplasts within a plant cell.</a:t>
            </a:r>
          </a:p>
          <a:p>
            <a:r>
              <a:rPr sz="1800"/>
              <a:t>*   **Teacher Note:** Explain stomata in more detail if time allows.</a:t>
            </a:r>
          </a:p>
          <a:p/>
          <a:p>
            <a:r>
              <a:rPr sz="1800"/>
              <a:t>**Slide 7: The Products**</a:t>
            </a:r>
          </a:p>
          <a:p>
            <a:r>
              <a:rPr sz="1800"/>
              <a:t>*   **Title:** What Does the Plant Make?</a:t>
            </a:r>
          </a:p>
          <a:p>
            <a:r>
              <a:rPr sz="1800"/>
              <a:t>*   **Bullet Points:**</a:t>
            </a:r>
          </a:p>
          <a:p>
            <a:r>
              <a:rPr sz="1800"/>
              <a:t>    *   **1. Glucose (Sugar - C6H12O6):**</a:t>
            </a:r>
          </a:p>
          <a:p>
            <a:r>
              <a:rPr sz="1800"/>
              <a:t>        *   The plant's "food" (energy).</a:t>
            </a:r>
          </a:p>
          <a:p>
            <a:r>
              <a:rPr sz="1800"/>
              <a:t>        *   Used for growth, repair, reproduction.</a:t>
            </a:r>
          </a:p>
          <a:p>
            <a:r>
              <a:rPr sz="1800"/>
              <a:t>        *   Stored as starch for later.</a:t>
            </a:r>
          </a:p>
          <a:p>
            <a:r>
              <a:rPr sz="1800"/>
              <a:t>    *   **2. Oxygen (O2):**</a:t>
            </a:r>
          </a:p>
          <a:p>
            <a:r>
              <a:rPr sz="1800"/>
              <a:t>        *   A "waste product" for the plant, but ESSENTIAL for us!</a:t>
            </a:r>
          </a:p>
          <a:p>
            <a:r>
              <a:rPr sz="1800"/>
              <a:t>        *   Released back into the air through stomata.</a:t>
            </a:r>
          </a:p>
          <a:p>
            <a:r>
              <a:rPr sz="1800"/>
              <a:t>*   **Images:** Sugar cube/glucose molecule, bubbling oxygen in water, person breathing.</a:t>
            </a:r>
          </a:p>
          <a:p/>
          <a:p>
            <a:r>
              <a:rPr sz="1800"/>
              <a:t>**Slide 8: The Photosynthesis Word Equation**</a:t>
            </a:r>
          </a:p>
          <a:p>
            <a:r>
              <a:rPr sz="1800"/>
              <a:t>*   **Title:** The Recipe in Words!</a:t>
            </a:r>
          </a:p>
          <a:p>
            <a:r>
              <a:rPr sz="1800"/>
              <a:t>*   **Equation:**</a:t>
            </a:r>
          </a:p>
          <a:p>
            <a:r>
              <a:rPr sz="1800"/>
              <a:t>    Sunlight</a:t>
            </a:r>
          </a:p>
          <a:p>
            <a:r>
              <a:rPr sz="1800"/>
              <a:t>    Carbon Dioxide + Water --------&gt; Glucose + Oxygen</a:t>
            </a:r>
          </a:p>
          <a:p>
            <a:r>
              <a:rPr sz="1800"/>
              <a:t>    Chlorophyll</a:t>
            </a:r>
          </a:p>
          <a:p>
            <a:r>
              <a:rPr sz="1800"/>
              <a:t>*   **Bullet Points:**</a:t>
            </a:r>
          </a:p>
          <a:p>
            <a:r>
              <a:rPr sz="1800"/>
              <a:t>    *   **Left Side:** Reactants (Ingredients)</a:t>
            </a:r>
          </a:p>
          <a:p>
            <a:r>
              <a:rPr sz="1800"/>
              <a:t>    *   **Right Side:** Products (What's Made)</a:t>
            </a:r>
          </a:p>
          <a:p>
            <a:r>
              <a:rPr sz="1800"/>
              <a:t>    *   **Above/Below Arrow:** Conditions needed</a:t>
            </a:r>
          </a:p>
          <a:p>
            <a:r>
              <a:rPr sz="1800"/>
              <a:t>*   **Teacher Note:** Emphasize balancing of elements if students are ready, but focus on the word equation for this level. Have students write this down.</a:t>
            </a:r>
          </a:p>
          <a:p/>
          <a:p>
            <a:r>
              <a:rPr sz="1800"/>
              <a:t>**Slide 9: Guided Practice: "Photosynthesis Recipe Card"**</a:t>
            </a:r>
          </a:p>
          <a:p>
            <a:r>
              <a:rPr sz="1800"/>
              <a:t>*   **Title:** Time to Practice! Your Photosynthesis Recipe Card</a:t>
            </a:r>
          </a:p>
          <a:p>
            <a:r>
              <a:rPr sz="1800"/>
              <a:t>*   **Bullet Points:**</a:t>
            </a:r>
          </a:p>
          <a:p>
            <a:r>
              <a:rPr sz="1800"/>
              <a:t>    *   Work individually or in pairs.</a:t>
            </a:r>
          </a:p>
          <a:p>
            <a:r>
              <a:rPr sz="1800"/>
              <a:t>    *   Fill out the template: Ingredients, Products, Special Conditions, and a drawing of the process.</a:t>
            </a:r>
          </a:p>
          <a:p>
            <a:r>
              <a:rPr sz="1800"/>
              <a:t>    *   Be ready to share!</a:t>
            </a:r>
          </a:p>
          <a:p>
            <a:r>
              <a:rPr sz="1800"/>
              <a:t>*   **Image:** Example of a partially filled recipe card.</a:t>
            </a:r>
          </a:p>
          <a:p>
            <a:r>
              <a:rPr sz="1800"/>
              <a:t>*   **Teacher Note:** Distribute recipe card templates. Circulate and assist.</a:t>
            </a:r>
          </a:p>
          <a:p/>
          <a:p>
            <a:r>
              <a:rPr sz="1800"/>
              <a:t>**Slide 10: Guided Practice: "Living Diagram" (Optional Review)**</a:t>
            </a:r>
          </a:p>
          <a:p>
            <a:r>
              <a:rPr sz="1800"/>
              <a:t>*   **Title:** Let's Build the Process!</a:t>
            </a:r>
          </a:p>
          <a:p>
            <a:r>
              <a:rPr sz="1800"/>
              <a:t>*   **Bullet Points:**</a:t>
            </a:r>
          </a:p>
          <a:p>
            <a:r>
              <a:rPr sz="1800"/>
              <a:t>    *   In your groups, arrange the cards to show the flow of photosynthesis.</a:t>
            </a:r>
          </a:p>
          <a:p>
            <a:r>
              <a:rPr sz="1800"/>
              <a:t>    *   Be ready to explain your diagram.</a:t>
            </a:r>
          </a:p>
          <a:p>
            <a:r>
              <a:rPr sz="1800"/>
              <a:t>*   **Image:** Simple, unordered cards of photosynthesis components.</a:t>
            </a:r>
          </a:p>
          <a:p>
            <a:r>
              <a:rPr sz="1800"/>
              <a:t>*   **Teacher Note:** Facilitate the group activity. This can be used as a quick check for understanding.</a:t>
            </a:r>
          </a:p>
          <a:p/>
          <a:p>
            <a:r>
              <a:rPr sz="1800"/>
              <a:t>**Slide 11: Summary &amp; Recap**</a:t>
            </a:r>
          </a:p>
          <a:p>
            <a:r>
              <a:rPr sz="1800"/>
              <a:t>*   **Title:** Photosynthesis in a Nutshell!</a:t>
            </a:r>
          </a:p>
          <a:p>
            <a:r>
              <a:rPr sz="1800"/>
              <a:t>*   **Bullet Points:**</a:t>
            </a:r>
          </a:p>
          <a:p>
            <a:r>
              <a:rPr sz="1800"/>
              <a:t>    *   Plants make their own food using sunlight, water, and CO2.</a:t>
            </a:r>
          </a:p>
          <a:p>
            <a:r>
              <a:rPr sz="1800"/>
              <a:t>    *   They produce glucose (food) and oxygen (for us!).</a:t>
            </a:r>
          </a:p>
          <a:p>
            <a:r>
              <a:rPr sz="1800"/>
              <a:t>    *   Happens mainly in leaves, in chloroplasts, using chlorophyll.</a:t>
            </a:r>
          </a:p>
          <a:p>
            <a:r>
              <a:rPr sz="1800"/>
              <a:t>    *   It's the ultimate energy source for almost all life!</a:t>
            </a:r>
          </a:p>
          <a:p>
            <a:r>
              <a:rPr sz="1800"/>
              <a:t>*   **Image:** A consolidated infographic of the photosynthesis process.</a:t>
            </a:r>
          </a:p>
          <a:p>
            <a:r>
              <a:rPr sz="1800"/>
              <a:t>*   **Teacher Note:** Lead the "Human Photosynthesis Equation" activity here.</a:t>
            </a:r>
          </a:p>
          <a:p/>
          <a:p>
            <a:r>
              <a:rPr sz="1800"/>
              <a:t>**Slide 12: Exit Ticket / Check for Understanding**</a:t>
            </a:r>
          </a:p>
          <a:p>
            <a:r>
              <a:rPr sz="1800"/>
              <a:t>*   **Title:** Before You Go...</a:t>
            </a:r>
          </a:p>
          <a:p>
            <a:r>
              <a:rPr sz="1800"/>
              <a:t>*   **Bullet Points:**</a:t>
            </a:r>
          </a:p>
          <a:p>
            <a:r>
              <a:rPr sz="1800"/>
              <a:t>    *   1. List 3 things a plant needs for photosynthesis.</a:t>
            </a:r>
          </a:p>
          <a:p>
            <a:r>
              <a:rPr sz="1800"/>
              <a:t>    *   2. What are the 2 main products of photosynthesis?</a:t>
            </a:r>
          </a:p>
          <a:p>
            <a:r>
              <a:rPr sz="1800"/>
              <a:t>    *   3. Why is photosynthesis important to YOU?</a:t>
            </a:r>
          </a:p>
          <a:p>
            <a:r>
              <a:rPr sz="1800"/>
              <a:t>*   **Image:** A thought bubble or question mark.</a:t>
            </a:r>
          </a:p>
          <a:p>
            <a:r>
              <a:rPr sz="1800"/>
              <a:t>*   **Teacher Note:** Distribute exit tickets or have students write on scrap paper. Collect them as students leave.</a:t>
            </a:r>
          </a:p>
          <a:p/>
          <a:p>
            <a:r>
              <a:rPr sz="1800"/>
              <a:t>**Slide 13: Thank You / Next Steps**</a:t>
            </a:r>
          </a:p>
          <a:p>
            <a:r>
              <a:rPr sz="1800"/>
              <a:t>*   **Title:** Amazing Work, Scientists!</a:t>
            </a:r>
          </a:p>
          <a:p>
            <a:r>
              <a:rPr sz="1800"/>
              <a:t>*   **Bullet Points:**</a:t>
            </a:r>
          </a:p>
          <a:p>
            <a:r>
              <a:rPr sz="1800"/>
              <a:t>    *   Next time: Cellular Respiration – How plants (and animals) use that glucose!</a:t>
            </a:r>
          </a:p>
          <a:p>
            <a:r>
              <a:rPr sz="1800"/>
              <a:t>    *   Keep observing the plants around you!</a:t>
            </a:r>
          </a:p>
          <a:p>
            <a:r>
              <a:rPr sz="1800"/>
              <a:t>*   **Image:** A beautiful, healthy plant or a field of flowers.</a:t>
            </a:r>
          </a:p>
          <a:p/>
          <a:p>
            <a:r>
              <a:rPr sz="180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457</Words>
  <Application>Microsoft Office PowerPoint</Application>
  <PresentationFormat>Custom</PresentationFormat>
  <Paragraphs>88</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TT Interphases Bold</vt:lpstr>
      <vt:lpstr>Calibri</vt:lpstr>
      <vt:lpstr>TT Interphases</vt:lpstr>
      <vt:lpstr>Arial</vt:lpstr>
      <vt:lpstr>Georgia Pro Condensed Bold</vt:lpstr>
      <vt:lpstr>Georgia Pro Condensed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A Journey Through Time</dc:title>
  <dc:creator>user</dc:creator>
  <dc:description>Presentation - A Journey Through Time</dc:description>
  <cp:lastModifiedBy>user</cp:lastModifiedBy>
  <cp:revision>2</cp:revision>
  <dcterms:created xsi:type="dcterms:W3CDTF">2006-08-16T00:00:00Z</dcterms:created>
  <dcterms:modified xsi:type="dcterms:W3CDTF">2025-11-06T14:39:22Z</dcterms:modified>
  <dc:identifier>DAG37vBZ0QM</dc:identifier>
</cp:coreProperties>
</file>