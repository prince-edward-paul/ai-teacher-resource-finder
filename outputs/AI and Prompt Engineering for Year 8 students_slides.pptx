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2.svg" ContentType="image/svg+xml"/>
  <Override PartName="/ppt/media/image3.svg" ContentType="image/svg+xml"/>
  <Override PartName="/ppt/media/image5.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Lst>
  <p:sldSz cx="18288000" cy="10287000"/>
  <p:notesSz cx="6858000" cy="9144000"/>
  <p:embeddedFontLst>
    <p:embeddedFont>
      <p:font typeface="Helvetica World" panose="020B0604020202020204" charset="-128"/>
      <p:regular r:id="rId14"/>
    </p:embeddedFont>
    <p:embeddedFont>
      <p:font typeface="Helvetica World Bold" panose="020B0604020202020204" charset="-128"/>
      <p:regular r:id="rId15"/>
    </p:embeddedFont>
    <p:embeddedFont>
      <p:font typeface="Georgia Pro Condensed" panose="020B0604020202020204" charset="0"/>
      <p:regular r:id="rId16"/>
    </p:embeddedFont>
    <p:embeddedFont>
      <p:font typeface="Calibri" panose="020F0502020204030204" pitchFamily="34" charset="0"/>
      <p:regular r:id="rId17"/>
      <p:bold r:id="rId18"/>
      <p:italic r:id="rId19"/>
      <p:boldItalic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3" d="100"/>
          <a:sy n="53" d="100"/>
        </p:scale>
        <p:origin x="110"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 Id="rId3" Type="http://schemas.openxmlformats.org/officeDocument/2006/relationships/image" Target="../media/image5.jpe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eg"/><Relationship Id="rId3" Type="http://schemas.openxmlformats.org/officeDocument/2006/relationships/image" Target="../media/image8.jpeg"/><Relationship Id="rId4" Type="http://schemas.openxmlformats.org/officeDocument/2006/relationships/image" Target="../media/image9.png"/><Relationship Id="rId5" Type="http://schemas.openxmlformats.org/officeDocument/2006/relationships/image" Target="../media/image12.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eg"/><Relationship Id="rId3" Type="http://schemas.openxmlformats.org/officeDocument/2006/relationships/image" Target="../media/image11.jpeg"/><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eg"/><Relationship Id="rId3" Type="http://schemas.openxmlformats.org/officeDocument/2006/relationships/image" Target="../media/image14.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eg"/><Relationship Id="rId3" Type="http://schemas.openxmlformats.org/officeDocument/2006/relationships/image" Target="../media/image2.png"/><Relationship Id="rId4" Type="http://schemas.openxmlformats.org/officeDocument/2006/relationships/image" Target="../media/image3.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A3A66"/>
        </a:solidFill>
        <a:effectLst/>
      </p:bgPr>
    </p:bg>
    <p:spTree>
      <p:nvGrpSpPr>
        <p:cNvPr id="1" name=""/>
        <p:cNvGrpSpPr/>
        <p:nvPr/>
      </p:nvGrpSpPr>
      <p:grpSpPr>
        <a:xfrm>
          <a:off x="0" y="0"/>
          <a:ext cx="0" cy="0"/>
          <a:chOff x="0" y="0"/>
          <a:chExt cx="0" cy="0"/>
        </a:xfrm>
      </p:grpSpPr>
      <p:grpSp>
        <p:nvGrpSpPr>
          <p:cNvPr id="2" name="Group 2"/>
          <p:cNvGrpSpPr/>
          <p:nvPr/>
        </p:nvGrpSpPr>
        <p:grpSpPr>
          <a:xfrm>
            <a:off x="0" y="-12700"/>
            <a:ext cx="11201400" cy="10299700"/>
            <a:chOff x="0" y="0"/>
            <a:chExt cx="963348" cy="885799"/>
          </a:xfrm>
        </p:grpSpPr>
        <p:sp>
          <p:nvSpPr>
            <p:cNvPr id="3" name="Freeform 3"/>
            <p:cNvSpPr/>
            <p:nvPr/>
          </p:nvSpPr>
          <p:spPr>
            <a:xfrm>
              <a:off x="0" y="0"/>
              <a:ext cx="963348" cy="885799"/>
            </a:xfrm>
            <a:custGeom>
              <a:avLst/>
              <a:gdLst/>
              <a:ahLst/>
              <a:cxnLst/>
              <a:rect l="l" t="t" r="r" b="b"/>
              <a:pathLst>
                <a:path w="963348" h="885799">
                  <a:moveTo>
                    <a:pt x="0" y="0"/>
                  </a:moveTo>
                  <a:lnTo>
                    <a:pt x="963348" y="0"/>
                  </a:lnTo>
                  <a:lnTo>
                    <a:pt x="963348" y="885799"/>
                  </a:lnTo>
                  <a:lnTo>
                    <a:pt x="0" y="885799"/>
                  </a:lnTo>
                  <a:close/>
                </a:path>
              </a:pathLst>
            </a:custGeom>
            <a:solidFill>
              <a:srgbClr val="F4F6F8"/>
            </a:solidFill>
            <a:ln w="12700">
              <a:solidFill>
                <a:srgbClr val="000000"/>
              </a:solidFill>
            </a:ln>
          </p:spPr>
        </p:sp>
      </p:grpSp>
      <p:grpSp>
        <p:nvGrpSpPr>
          <p:cNvPr id="4" name="Group 4"/>
          <p:cNvGrpSpPr/>
          <p:nvPr/>
        </p:nvGrpSpPr>
        <p:grpSpPr>
          <a:xfrm>
            <a:off x="11868150" y="666750"/>
            <a:ext cx="5753100" cy="8953500"/>
            <a:chOff x="0" y="0"/>
            <a:chExt cx="814724" cy="1267949"/>
          </a:xfrm>
        </p:grpSpPr>
        <p:sp>
          <p:nvSpPr>
            <p:cNvPr id="5" name="Freeform 5"/>
            <p:cNvSpPr/>
            <p:nvPr/>
          </p:nvSpPr>
          <p:spPr>
            <a:xfrm>
              <a:off x="0" y="0"/>
              <a:ext cx="814724" cy="1267949"/>
            </a:xfrm>
            <a:custGeom>
              <a:avLst/>
              <a:gdLst/>
              <a:ahLst/>
              <a:cxnLst/>
              <a:rect l="l" t="t" r="r" b="b"/>
              <a:pathLst>
                <a:path w="814724" h="1267949">
                  <a:moveTo>
                    <a:pt x="26914" y="0"/>
                  </a:moveTo>
                  <a:lnTo>
                    <a:pt x="787810" y="0"/>
                  </a:lnTo>
                  <a:cubicBezTo>
                    <a:pt x="802675" y="0"/>
                    <a:pt x="814724" y="12050"/>
                    <a:pt x="814724" y="26914"/>
                  </a:cubicBezTo>
                  <a:lnTo>
                    <a:pt x="814724" y="1241035"/>
                  </a:lnTo>
                  <a:cubicBezTo>
                    <a:pt x="814724" y="1255899"/>
                    <a:pt x="802675" y="1267949"/>
                    <a:pt x="787810" y="1267949"/>
                  </a:cubicBezTo>
                  <a:lnTo>
                    <a:pt x="26914" y="1267949"/>
                  </a:lnTo>
                  <a:cubicBezTo>
                    <a:pt x="12050" y="1267949"/>
                    <a:pt x="0" y="1255899"/>
                    <a:pt x="0" y="1241035"/>
                  </a:cubicBezTo>
                  <a:lnTo>
                    <a:pt x="0" y="26914"/>
                  </a:lnTo>
                  <a:cubicBezTo>
                    <a:pt x="0" y="12050"/>
                    <a:pt x="12050" y="0"/>
                    <a:pt x="26914" y="0"/>
                  </a:cubicBezTo>
                  <a:close/>
                </a:path>
              </a:pathLst>
            </a:custGeom>
            <a:blipFill>
              <a:blip r:embed="rId2"/>
              <a:stretch>
                <a:fillRect t="-199" b="-199"/>
              </a:stretch>
            </a:blipFill>
          </p:spPr>
        </p:sp>
      </p:grpSp>
      <p:sp>
        <p:nvSpPr>
          <p:cNvPr id="6" name="TextBox 6"/>
          <p:cNvSpPr txBox="1"/>
          <p:nvPr/>
        </p:nvSpPr>
        <p:spPr>
          <a:xfrm>
            <a:off x="666750" y="9001760"/>
            <a:ext cx="6886575" cy="593752"/>
          </a:xfrm>
          <a:prstGeom prst="rect">
            <a:avLst/>
          </a:prstGeom>
        </p:spPr>
        <p:txBody>
          <a:bodyPr lIns="0" tIns="0" rIns="0" bIns="0" rtlCol="0" anchor="t">
            <a:spAutoFit/>
          </a:bodyPr>
          <a:lstStyle/>
          <a:p>
            <a:pPr marL="0" lvl="0" indent="0" algn="l">
              <a:lnSpc>
                <a:spcPts val="4940"/>
              </a:lnSpc>
            </a:pPr>
            <a:r>
              <a:rPr lang="en-US" sz="3800" u="none" strike="noStrike" spc="-57" dirty="0" smtClean="0">
                <a:solidFill>
                  <a:srgbClr val="1C1C1C"/>
                </a:solidFill>
                <a:latin typeface="Helvetica World"/>
                <a:ea typeface="Helvetica World"/>
                <a:cs typeface="Helvetica World"/>
                <a:sym typeface="Helvetica World"/>
              </a:rPr>
              <a:t>by Mr. Edward Paul</a:t>
            </a:r>
            <a:endParaRPr lang="en-US" sz="3800" u="none" strike="noStrike" spc="-57" dirty="0">
              <a:solidFill>
                <a:srgbClr val="1C1C1C"/>
              </a:solidFill>
              <a:latin typeface="Helvetica World"/>
              <a:ea typeface="Helvetica World"/>
              <a:cs typeface="Helvetica World"/>
              <a:sym typeface="Helvetica World"/>
            </a:endParaRPr>
          </a:p>
        </p:txBody>
      </p:sp>
      <p:sp>
        <p:nvSpPr>
          <p:cNvPr id="7" name="TextBox 7"/>
          <p:cNvSpPr txBox="1"/>
          <p:nvPr/>
        </p:nvSpPr>
        <p:spPr>
          <a:xfrm>
            <a:off x="675380" y="975068"/>
            <a:ext cx="9754495" cy="5790084"/>
          </a:xfrm>
          <a:prstGeom prst="rect">
            <a:avLst/>
          </a:prstGeom>
        </p:spPr>
        <p:txBody>
          <a:bodyPr lIns="0" tIns="0" rIns="0" bIns="0" rtlCol="0" anchor="t">
            <a:spAutoFit/>
          </a:bodyPr>
          <a:lstStyle/>
          <a:p>
            <a:pPr marL="0" lvl="0" indent="0" algn="l">
              <a:lnSpc>
                <a:spcPts val="14956"/>
              </a:lnSpc>
            </a:pPr>
            <a:r>
              <a:rPr lang="en-US" sz="14956" u="none" strike="noStrike" spc="-523">
                <a:solidFill>
                  <a:srgbClr val="2A3A66"/>
                </a:solidFill>
                <a:latin typeface="Georgia Pro Condensed"/>
                <a:ea typeface="Georgia Pro Condensed"/>
                <a:cs typeface="Georgia Pro Condensed"/>
                <a:sym typeface="Georgia Pro Condensed"/>
              </a:rPr>
              <a:t>Algorithms: Searching and Sorting</a:t>
            </a:r>
          </a:p>
        </p:txBody>
      </p:sp>
      <p:sp>
        <p:nvSpPr>
          <p:cNvPr id="8" name="Freeform 8"/>
          <p:cNvSpPr/>
          <p:nvPr/>
        </p:nvSpPr>
        <p:spPr>
          <a:xfrm rot="-3117037">
            <a:off x="8947742" y="7656091"/>
            <a:ext cx="2112604" cy="1859092"/>
          </a:xfrm>
          <a:custGeom>
            <a:avLst/>
            <a:gdLst/>
            <a:ahLst/>
            <a:cxnLst/>
            <a:rect l="l" t="t" r="r" b="b"/>
            <a:pathLst>
              <a:path w="2112604" h="1859092">
                <a:moveTo>
                  <a:pt x="0" y="0"/>
                </a:moveTo>
                <a:lnTo>
                  <a:pt x="2112604" y="0"/>
                </a:lnTo>
                <a:lnTo>
                  <a:pt x="2112604" y="1859091"/>
                </a:lnTo>
                <a:lnTo>
                  <a:pt x="0" y="1859091"/>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sp>
        <p:nvSpPr>
          <p:cNvPr id="2" name="TextBox 2"/>
          <p:cNvSpPr txBox="1"/>
          <p:nvPr/>
        </p:nvSpPr>
        <p:spPr>
          <a:xfrm>
            <a:off x="17259300" y="9201150"/>
            <a:ext cx="152400" cy="209550"/>
          </a:xfrm>
          <a:prstGeom prst="rect">
            <a:avLst/>
          </a:prstGeom>
        </p:spPr>
        <p:txBody>
          <a:bodyPr wrap="none" lIns="0" tIns="0" rIns="0" bIns="0" rtlCol="0" anchor="t">
            <a:spAutoFit/>
          </a:bodyPr>
          <a:lstStyle/>
          <a:p>
            <a:pPr marL="0" lvl="0" indent="0" algn="ctr">
              <a:lnSpc>
                <a:spcPts val="2800"/>
              </a:lnSpc>
              <a:spcBef>
                <a:spcPct val="0"/>
              </a:spcBef>
            </a:pPr>
            <a:r>
              <a:rPr lang="en-US" sz="2000">
                <a:solidFill>
                  <a:srgbClr val="1C1C1C"/>
                </a:solidFill>
                <a:latin typeface="Helvetica World"/>
                <a:ea typeface="Helvetica World"/>
                <a:cs typeface="Helvetica World"/>
                <a:sym typeface="Helvetica World"/>
              </a:rPr>
              <a:t>2</a:t>
            </a:r>
          </a:p>
        </p:txBody>
      </p:sp>
      <p:grpSp>
        <p:nvGrpSpPr>
          <p:cNvPr id="3" name="Group 3"/>
          <p:cNvGrpSpPr/>
          <p:nvPr/>
        </p:nvGrpSpPr>
        <p:grpSpPr>
          <a:xfrm>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BCCFFE"/>
            </a:solidFill>
            <a:ln cap="rnd">
              <a:noFill/>
              <a:prstDash val="solid"/>
              <a:round/>
            </a:ln>
          </p:spPr>
        </p:sp>
        <p:sp>
          <p:nvSpPr>
            <p:cNvPr id="5" name="TextBox 5"/>
            <p:cNvSpPr txBox="1"/>
            <p:nvPr/>
          </p:nvSpPr>
          <p:spPr>
            <a:xfrm>
              <a:off x="0" y="-57150"/>
              <a:ext cx="4465383" cy="2415273"/>
            </a:xfrm>
            <a:prstGeom prst="rect">
              <a:avLst/>
            </a:prstGeom>
          </p:spPr>
          <p:txBody>
            <a:bodyPr lIns="50800" tIns="50800" rIns="50800" bIns="50800" rtlCol="0" anchor="ctr"/>
            <a:lstStyle/>
            <a:p>
              <a:pPr marL="0" lvl="0" indent="0" algn="ctr">
                <a:lnSpc>
                  <a:spcPts val="3359"/>
                </a:lnSpc>
                <a:spcBef>
                  <a:spcPct val="0"/>
                </a:spcBef>
              </a:pPr>
              <a:endParaRPr/>
            </a:p>
          </p:txBody>
        </p:sp>
      </p:grpSp>
      <p:grpSp>
        <p:nvGrpSpPr>
          <p:cNvPr id="6" name="Group 6"/>
          <p:cNvGrpSpPr/>
          <p:nvPr/>
        </p:nvGrpSpPr>
        <p:grpSpPr>
          <a:xfrm>
            <a:off x="1800225" y="1562100"/>
            <a:ext cx="12944475" cy="3581400"/>
            <a:chOff x="0" y="0"/>
            <a:chExt cx="17259300" cy="4775200"/>
          </a:xfrm>
        </p:grpSpPr>
        <p:sp>
          <p:nvSpPr>
            <p:cNvPr id="7" name="TextBox 7"/>
            <p:cNvSpPr txBox="1"/>
            <p:nvPr/>
          </p:nvSpPr>
          <p:spPr>
            <a:xfrm>
              <a:off x="0" y="-85725"/>
              <a:ext cx="17259300" cy="1702858"/>
            </a:xfrm>
            <a:prstGeom prst="rect">
              <a:avLst/>
            </a:prstGeom>
          </p:spPr>
          <p:txBody>
            <a:bodyPr lIns="0" tIns="0" rIns="0" bIns="0" rtlCol="0" anchor="t">
              <a:spAutoFit/>
            </a:bodyPr>
            <a:lstStyle/>
            <a:p>
              <a:pPr marL="0" lvl="0" indent="0" algn="l">
                <a:lnSpc>
                  <a:spcPts val="10400"/>
                </a:lnSpc>
              </a:pPr>
              <a:r>
                <a:rPr lang="en-US" sz="8000" spc="-240">
                  <a:solidFill>
                    <a:srgbClr val="2A3A66"/>
                  </a:solidFill>
                  <a:latin typeface="Georgia Pro Condensed"/>
                  <a:ea typeface="Georgia Pro Condensed"/>
                  <a:cs typeface="Georgia Pro Condensed"/>
                  <a:sym typeface="Georgia Pro Condensed"/>
                </a:rPr>
                <a:t>Understanding Algorithms</a:t>
              </a:r>
            </a:p>
          </p:txBody>
        </p:sp>
        <p:sp>
          <p:nvSpPr>
            <p:cNvPr id="8" name="TextBox 8"/>
            <p:cNvSpPr txBox="1"/>
            <p:nvPr/>
          </p:nvSpPr>
          <p:spPr>
            <a:xfrm>
              <a:off x="0" y="2187687"/>
              <a:ext cx="17259300" cy="568325"/>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2A3A66"/>
                  </a:solidFill>
                  <a:latin typeface="Helvetica World Bold"/>
                  <a:ea typeface="Helvetica World Bold"/>
                  <a:cs typeface="Helvetica World Bold"/>
                  <a:sym typeface="Helvetica World Bold"/>
                </a:rPr>
                <a:t>Their Importance in Computer Science</a:t>
              </a:r>
            </a:p>
          </p:txBody>
        </p:sp>
        <p:sp>
          <p:nvSpPr>
            <p:cNvPr id="9" name="TextBox 9"/>
            <p:cNvSpPr txBox="1"/>
            <p:nvPr/>
          </p:nvSpPr>
          <p:spPr>
            <a:xfrm>
              <a:off x="0" y="3059641"/>
              <a:ext cx="13512134" cy="1715559"/>
            </a:xfrm>
            <a:prstGeom prst="rect">
              <a:avLst/>
            </a:prstGeom>
          </p:spPr>
          <p:txBody>
            <a:bodyPr lIns="0" tIns="0" rIns="0" bIns="0" rtlCol="0" anchor="t">
              <a:spAutoFit/>
            </a:bodyPr>
            <a:lstStyle/>
            <a:p>
              <a:pPr marL="0" lvl="0" indent="0" algn="l">
                <a:lnSpc>
                  <a:spcPts val="3499"/>
                </a:lnSpc>
              </a:pPr>
              <a:r>
                <a:rPr lang="en-US" sz="2499" spc="-37">
                  <a:solidFill>
                    <a:srgbClr val="1C1C1C"/>
                  </a:solidFill>
                  <a:latin typeface="Helvetica World"/>
                  <a:ea typeface="Helvetica World"/>
                  <a:cs typeface="Helvetica World"/>
                  <a:sym typeface="Helvetica World"/>
                </a:rPr>
                <a:t>Algorithms are essential, defined as step-by-step procedures for solving problems. They enable computers to efficiently process information, making them a fundamental aspect of computer science and programming.</a:t>
              </a:r>
            </a:p>
          </p:txBody>
        </p:sp>
      </p:grpSp>
      <p:sp>
        <p:nvSpPr>
          <p:cNvPr id="10" name="Freeform 10"/>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A3A66"/>
        </a:solidFill>
        <a:effectLst/>
      </p:bgPr>
    </p:bg>
    <p:spTree>
      <p:nvGrpSpPr>
        <p:cNvPr id="1" name=""/>
        <p:cNvGrpSpPr/>
        <p:nvPr/>
      </p:nvGrpSpPr>
      <p:grpSpPr>
        <a:xfrm>
          <a:off x="0" y="0"/>
          <a:ext cx="0" cy="0"/>
          <a:chOff x="0" y="0"/>
          <a:chExt cx="0" cy="0"/>
        </a:xfrm>
      </p:grpSpPr>
      <p:grpSp>
        <p:nvGrpSpPr>
          <p:cNvPr id="2" name="Group 2"/>
          <p:cNvGrpSpPr/>
          <p:nvPr/>
        </p:nvGrpSpPr>
        <p:grpSpPr>
          <a:xfrm>
            <a:off x="666750" y="2908300"/>
            <a:ext cx="5448300" cy="6711950"/>
            <a:chOff x="0" y="0"/>
            <a:chExt cx="1434943" cy="1767756"/>
          </a:xfrm>
        </p:grpSpPr>
        <p:sp>
          <p:nvSpPr>
            <p:cNvPr id="3" name="Freeform 3"/>
            <p:cNvSpPr/>
            <p:nvPr/>
          </p:nvSpPr>
          <p:spPr>
            <a:xfrm>
              <a:off x="0" y="0"/>
              <a:ext cx="1434943" cy="1767756"/>
            </a:xfrm>
            <a:custGeom>
              <a:avLst/>
              <a:gdLst/>
              <a:ahLst/>
              <a:cxnLst/>
              <a:rect l="l" t="t" r="r" b="b"/>
              <a:pathLst>
                <a:path w="1434943" h="1767756">
                  <a:moveTo>
                    <a:pt x="28420" y="0"/>
                  </a:moveTo>
                  <a:lnTo>
                    <a:pt x="1406524" y="0"/>
                  </a:lnTo>
                  <a:cubicBezTo>
                    <a:pt x="1422219" y="0"/>
                    <a:pt x="1434943" y="12724"/>
                    <a:pt x="1434943" y="28420"/>
                  </a:cubicBezTo>
                  <a:lnTo>
                    <a:pt x="1434943" y="1739337"/>
                  </a:lnTo>
                  <a:cubicBezTo>
                    <a:pt x="1434943" y="1755033"/>
                    <a:pt x="1422219" y="1767756"/>
                    <a:pt x="1406524" y="1767756"/>
                  </a:cubicBezTo>
                  <a:lnTo>
                    <a:pt x="28420" y="1767756"/>
                  </a:lnTo>
                  <a:cubicBezTo>
                    <a:pt x="12724" y="1767756"/>
                    <a:pt x="0" y="1755033"/>
                    <a:pt x="0" y="1739337"/>
                  </a:cubicBezTo>
                  <a:lnTo>
                    <a:pt x="0" y="28420"/>
                  </a:lnTo>
                  <a:cubicBezTo>
                    <a:pt x="0" y="12724"/>
                    <a:pt x="12724" y="0"/>
                    <a:pt x="28420" y="0"/>
                  </a:cubicBezTo>
                  <a:close/>
                </a:path>
              </a:pathLst>
            </a:custGeom>
            <a:solidFill>
              <a:srgbClr val="F4F6F8"/>
            </a:solidFill>
          </p:spPr>
        </p:sp>
        <p:sp>
          <p:nvSpPr>
            <p:cNvPr id="4" name="TextBox 4"/>
            <p:cNvSpPr txBox="1"/>
            <p:nvPr/>
          </p:nvSpPr>
          <p:spPr>
            <a:xfrm>
              <a:off x="0" y="-28575"/>
              <a:ext cx="1434943" cy="1796331"/>
            </a:xfrm>
            <a:prstGeom prst="rect">
              <a:avLst/>
            </a:prstGeom>
          </p:spPr>
          <p:txBody>
            <a:bodyPr lIns="50800" tIns="50800" rIns="50800" bIns="50800" rtlCol="0" anchor="ctr"/>
            <a:lstStyle/>
            <a:p>
              <a:pPr marL="0" lvl="0" indent="0" algn="ctr">
                <a:lnSpc>
                  <a:spcPts val="1736"/>
                </a:lnSpc>
              </a:pPr>
              <a:endParaRPr/>
            </a:p>
          </p:txBody>
        </p:sp>
      </p:grpSp>
      <p:grpSp>
        <p:nvGrpSpPr>
          <p:cNvPr id="5" name="Group 5"/>
          <p:cNvGrpSpPr/>
          <p:nvPr/>
        </p:nvGrpSpPr>
        <p:grpSpPr>
          <a:xfrm>
            <a:off x="6419850" y="2908300"/>
            <a:ext cx="5448300" cy="6711950"/>
            <a:chOff x="0" y="0"/>
            <a:chExt cx="1434943" cy="1767756"/>
          </a:xfrm>
        </p:grpSpPr>
        <p:sp>
          <p:nvSpPr>
            <p:cNvPr id="6" name="Freeform 6"/>
            <p:cNvSpPr/>
            <p:nvPr/>
          </p:nvSpPr>
          <p:spPr>
            <a:xfrm>
              <a:off x="0" y="0"/>
              <a:ext cx="1434943" cy="1767756"/>
            </a:xfrm>
            <a:custGeom>
              <a:avLst/>
              <a:gdLst/>
              <a:ahLst/>
              <a:cxnLst/>
              <a:rect l="l" t="t" r="r" b="b"/>
              <a:pathLst>
                <a:path w="1434943" h="1767756">
                  <a:moveTo>
                    <a:pt x="28420" y="0"/>
                  </a:moveTo>
                  <a:lnTo>
                    <a:pt x="1406524" y="0"/>
                  </a:lnTo>
                  <a:cubicBezTo>
                    <a:pt x="1422219" y="0"/>
                    <a:pt x="1434943" y="12724"/>
                    <a:pt x="1434943" y="28420"/>
                  </a:cubicBezTo>
                  <a:lnTo>
                    <a:pt x="1434943" y="1739337"/>
                  </a:lnTo>
                  <a:cubicBezTo>
                    <a:pt x="1434943" y="1755033"/>
                    <a:pt x="1422219" y="1767756"/>
                    <a:pt x="1406524" y="1767756"/>
                  </a:cubicBezTo>
                  <a:lnTo>
                    <a:pt x="28420" y="1767756"/>
                  </a:lnTo>
                  <a:cubicBezTo>
                    <a:pt x="12724" y="1767756"/>
                    <a:pt x="0" y="1755033"/>
                    <a:pt x="0" y="1739337"/>
                  </a:cubicBezTo>
                  <a:lnTo>
                    <a:pt x="0" y="28420"/>
                  </a:lnTo>
                  <a:cubicBezTo>
                    <a:pt x="0" y="12724"/>
                    <a:pt x="12724" y="0"/>
                    <a:pt x="28420" y="0"/>
                  </a:cubicBezTo>
                  <a:close/>
                </a:path>
              </a:pathLst>
            </a:custGeom>
            <a:solidFill>
              <a:srgbClr val="F4F6F8"/>
            </a:solidFill>
          </p:spPr>
        </p:sp>
        <p:sp>
          <p:nvSpPr>
            <p:cNvPr id="7" name="TextBox 7"/>
            <p:cNvSpPr txBox="1"/>
            <p:nvPr/>
          </p:nvSpPr>
          <p:spPr>
            <a:xfrm>
              <a:off x="0" y="-28575"/>
              <a:ext cx="1434943" cy="1796331"/>
            </a:xfrm>
            <a:prstGeom prst="rect">
              <a:avLst/>
            </a:prstGeom>
          </p:spPr>
          <p:txBody>
            <a:bodyPr lIns="50800" tIns="50800" rIns="50800" bIns="50800" rtlCol="0" anchor="ctr"/>
            <a:lstStyle/>
            <a:p>
              <a:pPr marL="0" lvl="0" indent="0" algn="ctr">
                <a:lnSpc>
                  <a:spcPts val="1736"/>
                </a:lnSpc>
              </a:pPr>
              <a:endParaRPr/>
            </a:p>
          </p:txBody>
        </p:sp>
      </p:grpSp>
      <p:grpSp>
        <p:nvGrpSpPr>
          <p:cNvPr id="8" name="Group 8"/>
          <p:cNvGrpSpPr/>
          <p:nvPr/>
        </p:nvGrpSpPr>
        <p:grpSpPr>
          <a:xfrm>
            <a:off x="12172950" y="2908300"/>
            <a:ext cx="5448300" cy="6711950"/>
            <a:chOff x="0" y="0"/>
            <a:chExt cx="1434943" cy="1767756"/>
          </a:xfrm>
        </p:grpSpPr>
        <p:sp>
          <p:nvSpPr>
            <p:cNvPr id="9" name="Freeform 9"/>
            <p:cNvSpPr/>
            <p:nvPr/>
          </p:nvSpPr>
          <p:spPr>
            <a:xfrm>
              <a:off x="0" y="0"/>
              <a:ext cx="1434943" cy="1767756"/>
            </a:xfrm>
            <a:custGeom>
              <a:avLst/>
              <a:gdLst/>
              <a:ahLst/>
              <a:cxnLst/>
              <a:rect l="l" t="t" r="r" b="b"/>
              <a:pathLst>
                <a:path w="1434943" h="1767756">
                  <a:moveTo>
                    <a:pt x="28420" y="0"/>
                  </a:moveTo>
                  <a:lnTo>
                    <a:pt x="1406524" y="0"/>
                  </a:lnTo>
                  <a:cubicBezTo>
                    <a:pt x="1422219" y="0"/>
                    <a:pt x="1434943" y="12724"/>
                    <a:pt x="1434943" y="28420"/>
                  </a:cubicBezTo>
                  <a:lnTo>
                    <a:pt x="1434943" y="1739337"/>
                  </a:lnTo>
                  <a:cubicBezTo>
                    <a:pt x="1434943" y="1755033"/>
                    <a:pt x="1422219" y="1767756"/>
                    <a:pt x="1406524" y="1767756"/>
                  </a:cubicBezTo>
                  <a:lnTo>
                    <a:pt x="28420" y="1767756"/>
                  </a:lnTo>
                  <a:cubicBezTo>
                    <a:pt x="12724" y="1767756"/>
                    <a:pt x="0" y="1755033"/>
                    <a:pt x="0" y="1739337"/>
                  </a:cubicBezTo>
                  <a:lnTo>
                    <a:pt x="0" y="28420"/>
                  </a:lnTo>
                  <a:cubicBezTo>
                    <a:pt x="0" y="12724"/>
                    <a:pt x="12724" y="0"/>
                    <a:pt x="28420" y="0"/>
                  </a:cubicBezTo>
                  <a:close/>
                </a:path>
              </a:pathLst>
            </a:custGeom>
            <a:solidFill>
              <a:srgbClr val="F4F6F8"/>
            </a:solidFill>
          </p:spPr>
        </p:sp>
        <p:sp>
          <p:nvSpPr>
            <p:cNvPr id="10" name="TextBox 10"/>
            <p:cNvSpPr txBox="1"/>
            <p:nvPr/>
          </p:nvSpPr>
          <p:spPr>
            <a:xfrm>
              <a:off x="0" y="-28575"/>
              <a:ext cx="1434943" cy="1796331"/>
            </a:xfrm>
            <a:prstGeom prst="rect">
              <a:avLst/>
            </a:prstGeom>
          </p:spPr>
          <p:txBody>
            <a:bodyPr lIns="50800" tIns="50800" rIns="50800" bIns="50800" rtlCol="0" anchor="ctr"/>
            <a:lstStyle/>
            <a:p>
              <a:pPr marL="0" lvl="0" indent="0" algn="ctr">
                <a:lnSpc>
                  <a:spcPts val="1736"/>
                </a:lnSpc>
              </a:pPr>
              <a:endParaRPr/>
            </a:p>
          </p:txBody>
        </p:sp>
      </p:grpSp>
      <p:grpSp>
        <p:nvGrpSpPr>
          <p:cNvPr id="11" name="Group 11"/>
          <p:cNvGrpSpPr/>
          <p:nvPr/>
        </p:nvGrpSpPr>
        <p:grpSpPr>
          <a:xfrm>
            <a:off x="1066053" y="4248150"/>
            <a:ext cx="4649694" cy="3581400"/>
            <a:chOff x="0" y="0"/>
            <a:chExt cx="1259398" cy="970044"/>
          </a:xfrm>
        </p:grpSpPr>
        <p:sp>
          <p:nvSpPr>
            <p:cNvPr id="12" name="Freeform 12"/>
            <p:cNvSpPr/>
            <p:nvPr/>
          </p:nvSpPr>
          <p:spPr>
            <a:xfrm>
              <a:off x="0" y="0"/>
              <a:ext cx="1259398" cy="970044"/>
            </a:xfrm>
            <a:custGeom>
              <a:avLst/>
              <a:gdLst/>
              <a:ahLst/>
              <a:cxnLst/>
              <a:rect l="l" t="t" r="r" b="b"/>
              <a:pathLst>
                <a:path w="1259398" h="970044">
                  <a:moveTo>
                    <a:pt x="33301" y="0"/>
                  </a:moveTo>
                  <a:lnTo>
                    <a:pt x="1226097" y="0"/>
                  </a:lnTo>
                  <a:cubicBezTo>
                    <a:pt x="1244489" y="0"/>
                    <a:pt x="1259398" y="14909"/>
                    <a:pt x="1259398" y="33301"/>
                  </a:cubicBezTo>
                  <a:lnTo>
                    <a:pt x="1259398" y="936743"/>
                  </a:lnTo>
                  <a:cubicBezTo>
                    <a:pt x="1259398" y="955135"/>
                    <a:pt x="1244489" y="970044"/>
                    <a:pt x="1226097" y="970044"/>
                  </a:cubicBezTo>
                  <a:lnTo>
                    <a:pt x="33301" y="970044"/>
                  </a:lnTo>
                  <a:cubicBezTo>
                    <a:pt x="24469" y="970044"/>
                    <a:pt x="15999" y="966535"/>
                    <a:pt x="9754" y="960290"/>
                  </a:cubicBezTo>
                  <a:cubicBezTo>
                    <a:pt x="3508" y="954045"/>
                    <a:pt x="0" y="945575"/>
                    <a:pt x="0" y="936743"/>
                  </a:cubicBezTo>
                  <a:lnTo>
                    <a:pt x="0" y="33301"/>
                  </a:lnTo>
                  <a:cubicBezTo>
                    <a:pt x="0" y="24469"/>
                    <a:pt x="3508" y="15999"/>
                    <a:pt x="9754" y="9754"/>
                  </a:cubicBezTo>
                  <a:cubicBezTo>
                    <a:pt x="15999" y="3508"/>
                    <a:pt x="24469" y="0"/>
                    <a:pt x="33301" y="0"/>
                  </a:cubicBezTo>
                  <a:close/>
                </a:path>
              </a:pathLst>
            </a:custGeom>
            <a:blipFill>
              <a:blip r:embed="rId2"/>
              <a:stretch>
                <a:fillRect l="-342" r="-342"/>
              </a:stretch>
            </a:blipFill>
          </p:spPr>
        </p:sp>
      </p:grpSp>
      <p:grpSp>
        <p:nvGrpSpPr>
          <p:cNvPr id="13" name="Group 13"/>
          <p:cNvGrpSpPr/>
          <p:nvPr/>
        </p:nvGrpSpPr>
        <p:grpSpPr>
          <a:xfrm>
            <a:off x="6819153" y="4248150"/>
            <a:ext cx="4649694" cy="3581400"/>
            <a:chOff x="0" y="0"/>
            <a:chExt cx="1259398" cy="970044"/>
          </a:xfrm>
        </p:grpSpPr>
        <p:sp>
          <p:nvSpPr>
            <p:cNvPr id="14" name="Freeform 14"/>
            <p:cNvSpPr/>
            <p:nvPr/>
          </p:nvSpPr>
          <p:spPr>
            <a:xfrm>
              <a:off x="0" y="0"/>
              <a:ext cx="1259398" cy="970044"/>
            </a:xfrm>
            <a:custGeom>
              <a:avLst/>
              <a:gdLst/>
              <a:ahLst/>
              <a:cxnLst/>
              <a:rect l="l" t="t" r="r" b="b"/>
              <a:pathLst>
                <a:path w="1259398" h="970044">
                  <a:moveTo>
                    <a:pt x="33301" y="0"/>
                  </a:moveTo>
                  <a:lnTo>
                    <a:pt x="1226097" y="0"/>
                  </a:lnTo>
                  <a:cubicBezTo>
                    <a:pt x="1244489" y="0"/>
                    <a:pt x="1259398" y="14909"/>
                    <a:pt x="1259398" y="33301"/>
                  </a:cubicBezTo>
                  <a:lnTo>
                    <a:pt x="1259398" y="936743"/>
                  </a:lnTo>
                  <a:cubicBezTo>
                    <a:pt x="1259398" y="955135"/>
                    <a:pt x="1244489" y="970044"/>
                    <a:pt x="1226097" y="970044"/>
                  </a:cubicBezTo>
                  <a:lnTo>
                    <a:pt x="33301" y="970044"/>
                  </a:lnTo>
                  <a:cubicBezTo>
                    <a:pt x="24469" y="970044"/>
                    <a:pt x="15999" y="966535"/>
                    <a:pt x="9754" y="960290"/>
                  </a:cubicBezTo>
                  <a:cubicBezTo>
                    <a:pt x="3508" y="954045"/>
                    <a:pt x="0" y="945575"/>
                    <a:pt x="0" y="936743"/>
                  </a:cubicBezTo>
                  <a:lnTo>
                    <a:pt x="0" y="33301"/>
                  </a:lnTo>
                  <a:cubicBezTo>
                    <a:pt x="0" y="24469"/>
                    <a:pt x="3508" y="15999"/>
                    <a:pt x="9754" y="9754"/>
                  </a:cubicBezTo>
                  <a:cubicBezTo>
                    <a:pt x="15999" y="3508"/>
                    <a:pt x="24469" y="0"/>
                    <a:pt x="33301" y="0"/>
                  </a:cubicBezTo>
                  <a:close/>
                </a:path>
              </a:pathLst>
            </a:custGeom>
            <a:blipFill>
              <a:blip r:embed="rId3"/>
              <a:stretch>
                <a:fillRect l="-342" r="-342"/>
              </a:stretch>
            </a:blipFill>
          </p:spPr>
        </p:sp>
      </p:grpSp>
      <p:grpSp>
        <p:nvGrpSpPr>
          <p:cNvPr id="15" name="Group 15"/>
          <p:cNvGrpSpPr/>
          <p:nvPr/>
        </p:nvGrpSpPr>
        <p:grpSpPr>
          <a:xfrm>
            <a:off x="12572253" y="4248150"/>
            <a:ext cx="4649694" cy="3581400"/>
            <a:chOff x="0" y="0"/>
            <a:chExt cx="1259398" cy="970044"/>
          </a:xfrm>
        </p:grpSpPr>
        <p:sp>
          <p:nvSpPr>
            <p:cNvPr id="16" name="Freeform 16"/>
            <p:cNvSpPr/>
            <p:nvPr/>
          </p:nvSpPr>
          <p:spPr>
            <a:xfrm>
              <a:off x="0" y="0"/>
              <a:ext cx="1259398" cy="970044"/>
            </a:xfrm>
            <a:custGeom>
              <a:avLst/>
              <a:gdLst/>
              <a:ahLst/>
              <a:cxnLst/>
              <a:rect l="l" t="t" r="r" b="b"/>
              <a:pathLst>
                <a:path w="1259398" h="970044">
                  <a:moveTo>
                    <a:pt x="33301" y="0"/>
                  </a:moveTo>
                  <a:lnTo>
                    <a:pt x="1226097" y="0"/>
                  </a:lnTo>
                  <a:cubicBezTo>
                    <a:pt x="1244489" y="0"/>
                    <a:pt x="1259398" y="14909"/>
                    <a:pt x="1259398" y="33301"/>
                  </a:cubicBezTo>
                  <a:lnTo>
                    <a:pt x="1259398" y="936743"/>
                  </a:lnTo>
                  <a:cubicBezTo>
                    <a:pt x="1259398" y="955135"/>
                    <a:pt x="1244489" y="970044"/>
                    <a:pt x="1226097" y="970044"/>
                  </a:cubicBezTo>
                  <a:lnTo>
                    <a:pt x="33301" y="970044"/>
                  </a:lnTo>
                  <a:cubicBezTo>
                    <a:pt x="24469" y="970044"/>
                    <a:pt x="15999" y="966535"/>
                    <a:pt x="9754" y="960290"/>
                  </a:cubicBezTo>
                  <a:cubicBezTo>
                    <a:pt x="3508" y="954045"/>
                    <a:pt x="0" y="945575"/>
                    <a:pt x="0" y="936743"/>
                  </a:cubicBezTo>
                  <a:lnTo>
                    <a:pt x="0" y="33301"/>
                  </a:lnTo>
                  <a:cubicBezTo>
                    <a:pt x="0" y="24469"/>
                    <a:pt x="3508" y="15999"/>
                    <a:pt x="9754" y="9754"/>
                  </a:cubicBezTo>
                  <a:cubicBezTo>
                    <a:pt x="15999" y="3508"/>
                    <a:pt x="24469" y="0"/>
                    <a:pt x="33301" y="0"/>
                  </a:cubicBezTo>
                  <a:close/>
                </a:path>
              </a:pathLst>
            </a:custGeom>
            <a:blipFill>
              <a:blip r:embed="rId4"/>
              <a:stretch>
                <a:fillRect l="-342" r="-342"/>
              </a:stretch>
            </a:blipFill>
          </p:spPr>
        </p:sp>
      </p:grpSp>
      <p:sp>
        <p:nvSpPr>
          <p:cNvPr id="17" name="TextBox 17"/>
          <p:cNvSpPr txBox="1"/>
          <p:nvPr/>
        </p:nvSpPr>
        <p:spPr>
          <a:xfrm>
            <a:off x="1021783" y="8282996"/>
            <a:ext cx="4738234" cy="621736"/>
          </a:xfrm>
          <a:prstGeom prst="rect">
            <a:avLst/>
          </a:prstGeom>
        </p:spPr>
        <p:txBody>
          <a:bodyPr lIns="0" tIns="0" rIns="0" bIns="0" rtlCol="0" anchor="t">
            <a:spAutoFit/>
          </a:bodyPr>
          <a:lstStyle/>
          <a:p>
            <a:pPr marL="0" lvl="0" indent="0" algn="ctr">
              <a:lnSpc>
                <a:spcPts val="2481"/>
              </a:lnSpc>
            </a:pPr>
            <a:r>
              <a:rPr lang="en-US" sz="1772" spc="-26">
                <a:solidFill>
                  <a:srgbClr val="1C1C1C"/>
                </a:solidFill>
                <a:latin typeface="Helvetica World"/>
                <a:ea typeface="Helvetica World"/>
                <a:cs typeface="Helvetica World"/>
                <a:sym typeface="Helvetica World"/>
              </a:rPr>
              <a:t>Understand how algorithms locate data effectively through different searching techniques.</a:t>
            </a:r>
          </a:p>
        </p:txBody>
      </p:sp>
      <p:sp>
        <p:nvSpPr>
          <p:cNvPr id="18" name="TextBox 18"/>
          <p:cNvSpPr txBox="1"/>
          <p:nvPr/>
        </p:nvSpPr>
        <p:spPr>
          <a:xfrm>
            <a:off x="1041066" y="3381375"/>
            <a:ext cx="4699667" cy="543561"/>
          </a:xfrm>
          <a:prstGeom prst="rect">
            <a:avLst/>
          </a:prstGeom>
        </p:spPr>
        <p:txBody>
          <a:bodyPr lIns="0" tIns="0" rIns="0" bIns="0" rtlCol="0" anchor="t">
            <a:spAutoFit/>
          </a:bodyPr>
          <a:lstStyle/>
          <a:p>
            <a:pPr marL="0" lvl="0" indent="0" algn="ctr">
              <a:lnSpc>
                <a:spcPts val="4180"/>
              </a:lnSpc>
              <a:spcBef>
                <a:spcPct val="0"/>
              </a:spcBef>
            </a:pPr>
            <a:r>
              <a:rPr lang="en-US" sz="3800" u="none" strike="noStrike" spc="-95">
                <a:solidFill>
                  <a:srgbClr val="2A3A66"/>
                </a:solidFill>
                <a:latin typeface="Georgia Pro Condensed"/>
                <a:ea typeface="Georgia Pro Condensed"/>
                <a:cs typeface="Georgia Pro Condensed"/>
                <a:sym typeface="Georgia Pro Condensed"/>
              </a:rPr>
              <a:t>Search Algorithms</a:t>
            </a:r>
          </a:p>
        </p:txBody>
      </p:sp>
      <p:sp>
        <p:nvSpPr>
          <p:cNvPr id="19" name="TextBox 19"/>
          <p:cNvSpPr txBox="1"/>
          <p:nvPr/>
        </p:nvSpPr>
        <p:spPr>
          <a:xfrm>
            <a:off x="6773192" y="8282996"/>
            <a:ext cx="4741615" cy="621736"/>
          </a:xfrm>
          <a:prstGeom prst="rect">
            <a:avLst/>
          </a:prstGeom>
        </p:spPr>
        <p:txBody>
          <a:bodyPr lIns="0" tIns="0" rIns="0" bIns="0" rtlCol="0" anchor="t">
            <a:spAutoFit/>
          </a:bodyPr>
          <a:lstStyle/>
          <a:p>
            <a:pPr marL="0" lvl="0" indent="0" algn="ctr">
              <a:lnSpc>
                <a:spcPts val="2481"/>
              </a:lnSpc>
            </a:pPr>
            <a:r>
              <a:rPr lang="en-US" sz="1772" spc="-26">
                <a:solidFill>
                  <a:srgbClr val="1C1C1C"/>
                </a:solidFill>
                <a:latin typeface="Helvetica World"/>
                <a:ea typeface="Helvetica World"/>
                <a:cs typeface="Helvetica World"/>
                <a:sym typeface="Helvetica World"/>
              </a:rPr>
              <a:t>Learn the efficiency differences between linear and binary search methods in data retrieval.</a:t>
            </a:r>
          </a:p>
        </p:txBody>
      </p:sp>
      <p:sp>
        <p:nvSpPr>
          <p:cNvPr id="20" name="TextBox 20"/>
          <p:cNvSpPr txBox="1"/>
          <p:nvPr/>
        </p:nvSpPr>
        <p:spPr>
          <a:xfrm>
            <a:off x="6773192" y="3381375"/>
            <a:ext cx="4741615" cy="543561"/>
          </a:xfrm>
          <a:prstGeom prst="rect">
            <a:avLst/>
          </a:prstGeom>
        </p:spPr>
        <p:txBody>
          <a:bodyPr lIns="0" tIns="0" rIns="0" bIns="0" rtlCol="0" anchor="t">
            <a:spAutoFit/>
          </a:bodyPr>
          <a:lstStyle/>
          <a:p>
            <a:pPr marL="0" lvl="0" indent="0" algn="ctr">
              <a:lnSpc>
                <a:spcPts val="4180"/>
              </a:lnSpc>
              <a:spcBef>
                <a:spcPct val="0"/>
              </a:spcBef>
            </a:pPr>
            <a:r>
              <a:rPr lang="en-US" sz="3800" u="none" strike="noStrike" spc="-95">
                <a:solidFill>
                  <a:srgbClr val="2A3A66"/>
                </a:solidFill>
                <a:latin typeface="Georgia Pro Condensed"/>
                <a:ea typeface="Georgia Pro Condensed"/>
                <a:cs typeface="Georgia Pro Condensed"/>
                <a:sym typeface="Georgia Pro Condensed"/>
              </a:rPr>
              <a:t>Compare Efficiencies</a:t>
            </a:r>
          </a:p>
        </p:txBody>
      </p:sp>
      <p:sp>
        <p:nvSpPr>
          <p:cNvPr id="21" name="TextBox 21"/>
          <p:cNvSpPr txBox="1"/>
          <p:nvPr/>
        </p:nvSpPr>
        <p:spPr>
          <a:xfrm>
            <a:off x="12551109" y="8281844"/>
            <a:ext cx="4691983" cy="621736"/>
          </a:xfrm>
          <a:prstGeom prst="rect">
            <a:avLst/>
          </a:prstGeom>
        </p:spPr>
        <p:txBody>
          <a:bodyPr lIns="0" tIns="0" rIns="0" bIns="0" rtlCol="0" anchor="t">
            <a:spAutoFit/>
          </a:bodyPr>
          <a:lstStyle/>
          <a:p>
            <a:pPr marL="0" lvl="0" indent="0" algn="ctr">
              <a:lnSpc>
                <a:spcPts val="2481"/>
              </a:lnSpc>
            </a:pPr>
            <a:r>
              <a:rPr lang="en-US" sz="1772" spc="-26">
                <a:solidFill>
                  <a:srgbClr val="1C1C1C"/>
                </a:solidFill>
                <a:latin typeface="Helvetica World"/>
                <a:ea typeface="Helvetica World"/>
                <a:cs typeface="Helvetica World"/>
                <a:sym typeface="Helvetica World"/>
              </a:rPr>
              <a:t>Understand the basics of bubble sort and how it organizes data through comparisons.</a:t>
            </a:r>
          </a:p>
        </p:txBody>
      </p:sp>
      <p:sp>
        <p:nvSpPr>
          <p:cNvPr id="22" name="TextBox 22"/>
          <p:cNvSpPr txBox="1"/>
          <p:nvPr/>
        </p:nvSpPr>
        <p:spPr>
          <a:xfrm>
            <a:off x="12551109" y="3381375"/>
            <a:ext cx="4691983" cy="543561"/>
          </a:xfrm>
          <a:prstGeom prst="rect">
            <a:avLst/>
          </a:prstGeom>
        </p:spPr>
        <p:txBody>
          <a:bodyPr lIns="0" tIns="0" rIns="0" bIns="0" rtlCol="0" anchor="t">
            <a:spAutoFit/>
          </a:bodyPr>
          <a:lstStyle/>
          <a:p>
            <a:pPr marL="0" lvl="0" indent="0" algn="ctr">
              <a:lnSpc>
                <a:spcPts val="4180"/>
              </a:lnSpc>
            </a:pPr>
            <a:r>
              <a:rPr lang="en-US" sz="3800" spc="-95">
                <a:solidFill>
                  <a:srgbClr val="2A3A66"/>
                </a:solidFill>
                <a:latin typeface="Georgia Pro Condensed"/>
                <a:ea typeface="Georgia Pro Condensed"/>
                <a:cs typeface="Georgia Pro Condensed"/>
                <a:sym typeface="Georgia Pro Condensed"/>
              </a:rPr>
              <a:t>Bubble Sort</a:t>
            </a:r>
          </a:p>
        </p:txBody>
      </p:sp>
      <p:sp>
        <p:nvSpPr>
          <p:cNvPr id="23" name="TextBox 23"/>
          <p:cNvSpPr txBox="1"/>
          <p:nvPr/>
        </p:nvSpPr>
        <p:spPr>
          <a:xfrm>
            <a:off x="666750" y="809625"/>
            <a:ext cx="16954500" cy="1069976"/>
          </a:xfrm>
          <a:prstGeom prst="rect">
            <a:avLst/>
          </a:prstGeom>
        </p:spPr>
        <p:txBody>
          <a:bodyPr lIns="0" tIns="0" rIns="0" bIns="0" rtlCol="0" anchor="t">
            <a:spAutoFit/>
          </a:bodyPr>
          <a:lstStyle/>
          <a:p>
            <a:pPr marL="0" lvl="0" indent="0" algn="ctr">
              <a:lnSpc>
                <a:spcPts val="8000"/>
              </a:lnSpc>
            </a:pPr>
            <a:r>
              <a:rPr lang="en-US" sz="8000" spc="-200">
                <a:solidFill>
                  <a:srgbClr val="F4F6F8"/>
                </a:solidFill>
                <a:latin typeface="Georgia Pro Condensed"/>
                <a:ea typeface="Georgia Pro Condensed"/>
                <a:cs typeface="Georgia Pro Condensed"/>
                <a:sym typeface="Georgia Pro Condensed"/>
              </a:rPr>
              <a:t>Learning Objectives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sp>
        <p:nvSpPr>
          <p:cNvPr id="2" name="TextBox 2"/>
          <p:cNvSpPr txBox="1"/>
          <p:nvPr/>
        </p:nvSpPr>
        <p:spPr>
          <a:xfrm>
            <a:off x="17259300" y="9201150"/>
            <a:ext cx="152400" cy="209550"/>
          </a:xfrm>
          <a:prstGeom prst="rect">
            <a:avLst/>
          </a:prstGeom>
        </p:spPr>
        <p:txBody>
          <a:bodyPr wrap="none" lIns="0" tIns="0" rIns="0" bIns="0" rtlCol="0" anchor="t">
            <a:spAutoFit/>
          </a:bodyPr>
          <a:lstStyle/>
          <a:p>
            <a:pPr marL="0" lvl="0" indent="0" algn="ctr">
              <a:lnSpc>
                <a:spcPts val="2800"/>
              </a:lnSpc>
              <a:spcBef>
                <a:spcPct val="0"/>
              </a:spcBef>
            </a:pPr>
            <a:r>
              <a:rPr lang="en-US" sz="2000">
                <a:solidFill>
                  <a:srgbClr val="1C1C1C"/>
                </a:solidFill>
                <a:latin typeface="Helvetica World"/>
                <a:ea typeface="Helvetica World"/>
                <a:cs typeface="Helvetica World"/>
                <a:sym typeface="Helvetica World"/>
              </a:rPr>
              <a:t>4</a:t>
            </a:r>
          </a:p>
        </p:txBody>
      </p:sp>
      <p:grpSp>
        <p:nvGrpSpPr>
          <p:cNvPr id="3" name="Group 3"/>
          <p:cNvGrpSpPr/>
          <p:nvPr/>
        </p:nvGrpSpPr>
        <p:grpSpPr>
          <a:xfrm>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BCCFFE"/>
            </a:solidFill>
            <a:ln cap="rnd">
              <a:noFill/>
              <a:prstDash val="solid"/>
              <a:round/>
            </a:ln>
          </p:spPr>
        </p:sp>
        <p:sp>
          <p:nvSpPr>
            <p:cNvPr id="5" name="TextBox 5"/>
            <p:cNvSpPr txBox="1"/>
            <p:nvPr/>
          </p:nvSpPr>
          <p:spPr>
            <a:xfrm>
              <a:off x="0" y="-57150"/>
              <a:ext cx="4465383" cy="2415273"/>
            </a:xfrm>
            <a:prstGeom prst="rect">
              <a:avLst/>
            </a:prstGeom>
          </p:spPr>
          <p:txBody>
            <a:bodyPr lIns="50800" tIns="50800" rIns="50800" bIns="50800" rtlCol="0" anchor="ctr"/>
            <a:lstStyle/>
            <a:p>
              <a:pPr marL="0" lvl="0" indent="0" algn="ctr">
                <a:lnSpc>
                  <a:spcPts val="3359"/>
                </a:lnSpc>
                <a:spcBef>
                  <a:spcPct val="0"/>
                </a:spcBef>
              </a:pPr>
              <a:endParaRPr/>
            </a:p>
          </p:txBody>
        </p:sp>
      </p:grpSp>
      <p:grpSp>
        <p:nvGrpSpPr>
          <p:cNvPr id="6" name="Group 6"/>
          <p:cNvGrpSpPr/>
          <p:nvPr/>
        </p:nvGrpSpPr>
        <p:grpSpPr>
          <a:xfrm>
            <a:off x="1800225" y="1562100"/>
            <a:ext cx="13249275" cy="2067009"/>
            <a:chOff x="0" y="0"/>
            <a:chExt cx="17665700" cy="2756012"/>
          </a:xfrm>
        </p:grpSpPr>
        <p:sp>
          <p:nvSpPr>
            <p:cNvPr id="7" name="TextBox 7"/>
            <p:cNvSpPr txBox="1"/>
            <p:nvPr/>
          </p:nvSpPr>
          <p:spPr>
            <a:xfrm>
              <a:off x="0" y="-85725"/>
              <a:ext cx="17665700" cy="1702858"/>
            </a:xfrm>
            <a:prstGeom prst="rect">
              <a:avLst/>
            </a:prstGeom>
          </p:spPr>
          <p:txBody>
            <a:bodyPr lIns="0" tIns="0" rIns="0" bIns="0" rtlCol="0" anchor="t">
              <a:spAutoFit/>
            </a:bodyPr>
            <a:lstStyle/>
            <a:p>
              <a:pPr marL="0" lvl="0" indent="0" algn="l">
                <a:lnSpc>
                  <a:spcPts val="10400"/>
                </a:lnSpc>
              </a:pPr>
              <a:r>
                <a:rPr lang="en-US" sz="8000" spc="-240">
                  <a:solidFill>
                    <a:srgbClr val="2A3A66"/>
                  </a:solidFill>
                  <a:latin typeface="Georgia Pro Condensed"/>
                  <a:ea typeface="Georgia Pro Condensed"/>
                  <a:cs typeface="Georgia Pro Condensed"/>
                  <a:sym typeface="Georgia Pro Condensed"/>
                </a:rPr>
                <a:t>Linear Search</a:t>
              </a:r>
            </a:p>
          </p:txBody>
        </p:sp>
        <p:sp>
          <p:nvSpPr>
            <p:cNvPr id="8" name="TextBox 8"/>
            <p:cNvSpPr txBox="1"/>
            <p:nvPr/>
          </p:nvSpPr>
          <p:spPr>
            <a:xfrm>
              <a:off x="0" y="2187687"/>
              <a:ext cx="17665700" cy="568325"/>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2A3A66"/>
                  </a:solidFill>
                  <a:latin typeface="Helvetica World Bold"/>
                  <a:ea typeface="Helvetica World Bold"/>
                  <a:cs typeface="Helvetica World Bold"/>
                  <a:sym typeface="Helvetica World Bold"/>
                </a:rPr>
                <a:t>Sequential Scanning for Data Retrieval</a:t>
              </a:r>
            </a:p>
          </p:txBody>
        </p:sp>
      </p:grpSp>
      <p:grpSp>
        <p:nvGrpSpPr>
          <p:cNvPr id="9" name="Group 9"/>
          <p:cNvGrpSpPr/>
          <p:nvPr/>
        </p:nvGrpSpPr>
        <p:grpSpPr>
          <a:xfrm>
            <a:off x="1800225" y="5143500"/>
            <a:ext cx="4308497" cy="2197100"/>
            <a:chOff x="0" y="0"/>
            <a:chExt cx="5744662" cy="2929467"/>
          </a:xfrm>
        </p:grpSpPr>
        <p:sp>
          <p:nvSpPr>
            <p:cNvPr id="10" name="TextBox 10"/>
            <p:cNvSpPr txBox="1"/>
            <p:nvPr/>
          </p:nvSpPr>
          <p:spPr>
            <a:xfrm>
              <a:off x="0" y="0"/>
              <a:ext cx="5744662" cy="53340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2A3A66"/>
                  </a:solidFill>
                  <a:latin typeface="Helvetica World Bold"/>
                  <a:ea typeface="Helvetica World Bold"/>
                  <a:cs typeface="Helvetica World Bold"/>
                  <a:sym typeface="Helvetica World Bold"/>
                </a:rPr>
                <a:t>Definition</a:t>
              </a:r>
            </a:p>
          </p:txBody>
        </p:sp>
        <p:sp>
          <p:nvSpPr>
            <p:cNvPr id="11" name="TextBox 11"/>
            <p:cNvSpPr txBox="1"/>
            <p:nvPr/>
          </p:nvSpPr>
          <p:spPr>
            <a:xfrm>
              <a:off x="0" y="1060450"/>
              <a:ext cx="5744662" cy="1869017"/>
            </a:xfrm>
            <a:prstGeom prst="rect">
              <a:avLst/>
            </a:prstGeom>
          </p:spPr>
          <p:txBody>
            <a:bodyPr lIns="0" tIns="0" rIns="0" bIns="0" rtlCol="0" anchor="t">
              <a:spAutoFit/>
            </a:bodyPr>
            <a:lstStyle/>
            <a:p>
              <a:pPr marL="0" lvl="0" indent="0" algn="l">
                <a:lnSpc>
                  <a:spcPts val="2800"/>
                </a:lnSpc>
              </a:pPr>
              <a:r>
                <a:rPr lang="en-US" sz="2000" u="none" strike="noStrike" spc="-30">
                  <a:solidFill>
                    <a:srgbClr val="1C1C1C"/>
                  </a:solidFill>
                  <a:latin typeface="Helvetica World"/>
                  <a:ea typeface="Helvetica World"/>
                  <a:cs typeface="Helvetica World"/>
                  <a:sym typeface="Helvetica World"/>
                </a:rPr>
                <a:t>Linear search is a straightforward algorithm that checks each element in a list sequentially until it finds the target value or reaches the end of the list.</a:t>
              </a:r>
            </a:p>
          </p:txBody>
        </p:sp>
      </p:grpSp>
      <p:grpSp>
        <p:nvGrpSpPr>
          <p:cNvPr id="12" name="Group 12"/>
          <p:cNvGrpSpPr/>
          <p:nvPr/>
        </p:nvGrpSpPr>
        <p:grpSpPr>
          <a:xfrm>
            <a:off x="7291388" y="5143500"/>
            <a:ext cx="4010025" cy="2549525"/>
            <a:chOff x="0" y="0"/>
            <a:chExt cx="5346700" cy="3399367"/>
          </a:xfrm>
        </p:grpSpPr>
        <p:sp>
          <p:nvSpPr>
            <p:cNvPr id="13" name="TextBox 13"/>
            <p:cNvSpPr txBox="1"/>
            <p:nvPr/>
          </p:nvSpPr>
          <p:spPr>
            <a:xfrm>
              <a:off x="0" y="0"/>
              <a:ext cx="5346700" cy="53340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2A3A66"/>
                  </a:solidFill>
                  <a:latin typeface="Helvetica World Bold"/>
                  <a:ea typeface="Helvetica World Bold"/>
                  <a:cs typeface="Helvetica World Bold"/>
                  <a:sym typeface="Helvetica World Bold"/>
                </a:rPr>
                <a:t>Simple Mechanism</a:t>
              </a:r>
            </a:p>
          </p:txBody>
        </p:sp>
        <p:sp>
          <p:nvSpPr>
            <p:cNvPr id="14" name="TextBox 14"/>
            <p:cNvSpPr txBox="1"/>
            <p:nvPr/>
          </p:nvSpPr>
          <p:spPr>
            <a:xfrm>
              <a:off x="0" y="1060450"/>
              <a:ext cx="5346700" cy="2338917"/>
            </a:xfrm>
            <a:prstGeom prst="rect">
              <a:avLst/>
            </a:prstGeom>
          </p:spPr>
          <p:txBody>
            <a:bodyPr lIns="0" tIns="0" rIns="0" bIns="0" rtlCol="0" anchor="t">
              <a:spAutoFit/>
            </a:bodyPr>
            <a:lstStyle/>
            <a:p>
              <a:pPr marL="0" lvl="0" indent="0" algn="l">
                <a:lnSpc>
                  <a:spcPts val="2800"/>
                </a:lnSpc>
              </a:pPr>
              <a:r>
                <a:rPr lang="en-US" sz="2000" u="none" strike="noStrike" spc="-30">
                  <a:solidFill>
                    <a:srgbClr val="1C1C1C"/>
                  </a:solidFill>
                  <a:latin typeface="Helvetica World"/>
                  <a:ea typeface="Helvetica World"/>
                  <a:cs typeface="Helvetica World"/>
                  <a:sym typeface="Helvetica World"/>
                </a:rPr>
                <a:t>This method is easy to implement but can be inefficient for large datasets, as it might require examining every single item before locating the desired information.</a:t>
              </a:r>
            </a:p>
          </p:txBody>
        </p:sp>
      </p:grpSp>
      <p:grpSp>
        <p:nvGrpSpPr>
          <p:cNvPr id="15" name="Group 15"/>
          <p:cNvGrpSpPr/>
          <p:nvPr/>
        </p:nvGrpSpPr>
        <p:grpSpPr>
          <a:xfrm>
            <a:off x="12172950" y="5143500"/>
            <a:ext cx="4010025" cy="2549525"/>
            <a:chOff x="0" y="0"/>
            <a:chExt cx="5346700" cy="3399367"/>
          </a:xfrm>
        </p:grpSpPr>
        <p:sp>
          <p:nvSpPr>
            <p:cNvPr id="16" name="TextBox 16"/>
            <p:cNvSpPr txBox="1"/>
            <p:nvPr/>
          </p:nvSpPr>
          <p:spPr>
            <a:xfrm>
              <a:off x="0" y="0"/>
              <a:ext cx="5346700" cy="53340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2A3A66"/>
                  </a:solidFill>
                  <a:latin typeface="Helvetica World Bold"/>
                  <a:ea typeface="Helvetica World Bold"/>
                  <a:cs typeface="Helvetica World Bold"/>
                  <a:sym typeface="Helvetica World Bold"/>
                </a:rPr>
                <a:t>Use Cases</a:t>
              </a:r>
            </a:p>
          </p:txBody>
        </p:sp>
        <p:sp>
          <p:nvSpPr>
            <p:cNvPr id="17" name="TextBox 17"/>
            <p:cNvSpPr txBox="1"/>
            <p:nvPr/>
          </p:nvSpPr>
          <p:spPr>
            <a:xfrm>
              <a:off x="0" y="1060450"/>
              <a:ext cx="5346700" cy="2338917"/>
            </a:xfrm>
            <a:prstGeom prst="rect">
              <a:avLst/>
            </a:prstGeom>
          </p:spPr>
          <p:txBody>
            <a:bodyPr lIns="0" tIns="0" rIns="0" bIns="0" rtlCol="0" anchor="t">
              <a:spAutoFit/>
            </a:bodyPr>
            <a:lstStyle/>
            <a:p>
              <a:pPr marL="0" lvl="0" indent="0" algn="l">
                <a:lnSpc>
                  <a:spcPts val="2800"/>
                </a:lnSpc>
              </a:pPr>
              <a:r>
                <a:rPr lang="en-US" sz="2000" u="none" strike="noStrike" spc="-30">
                  <a:solidFill>
                    <a:srgbClr val="1C1C1C"/>
                  </a:solidFill>
                  <a:latin typeface="Helvetica World"/>
                  <a:ea typeface="Helvetica World"/>
                  <a:cs typeface="Helvetica World"/>
                  <a:sym typeface="Helvetica World"/>
                </a:rPr>
                <a:t>Linear search is particularly useful for small or unsorted datasets where quick implementation is necessary, making it an ideal choice for simple search tasks.</a:t>
              </a:r>
            </a:p>
          </p:txBody>
        </p:sp>
      </p:grpSp>
      <p:sp>
        <p:nvSpPr>
          <p:cNvPr id="18" name="Freeform 18"/>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A9BCEB"/>
        </a:solidFill>
        <a:effectLst/>
      </p:bgPr>
    </p:bg>
    <p:spTree>
      <p:nvGrpSpPr>
        <p:cNvPr id="1" name=""/>
        <p:cNvGrpSpPr/>
        <p:nvPr/>
      </p:nvGrpSpPr>
      <p:grpSpPr>
        <a:xfrm>
          <a:off x="0" y="0"/>
          <a:ext cx="0" cy="0"/>
          <a:chOff x="0" y="0"/>
          <a:chExt cx="0" cy="0"/>
        </a:xfrm>
      </p:grpSpPr>
      <p:sp>
        <p:nvSpPr>
          <p:cNvPr id="2" name="TextBox 2"/>
          <p:cNvSpPr txBox="1"/>
          <p:nvPr/>
        </p:nvSpPr>
        <p:spPr>
          <a:xfrm>
            <a:off x="17259300" y="9201150"/>
            <a:ext cx="152400" cy="209550"/>
          </a:xfrm>
          <a:prstGeom prst="rect">
            <a:avLst/>
          </a:prstGeom>
        </p:spPr>
        <p:txBody>
          <a:bodyPr wrap="none" lIns="0" tIns="0" rIns="0" bIns="0" rtlCol="0" anchor="t">
            <a:spAutoFit/>
          </a:bodyPr>
          <a:lstStyle/>
          <a:p>
            <a:pPr marL="0" lvl="0" indent="0" algn="ctr">
              <a:lnSpc>
                <a:spcPts val="2800"/>
              </a:lnSpc>
              <a:spcBef>
                <a:spcPct val="0"/>
              </a:spcBef>
            </a:pPr>
            <a:r>
              <a:rPr lang="en-US" sz="2000">
                <a:solidFill>
                  <a:srgbClr val="1C1C1C"/>
                </a:solidFill>
                <a:latin typeface="Helvetica World"/>
                <a:ea typeface="Helvetica World"/>
                <a:cs typeface="Helvetica World"/>
                <a:sym typeface="Helvetica World"/>
              </a:rPr>
              <a:t>5</a:t>
            </a:r>
          </a:p>
        </p:txBody>
      </p:sp>
      <p:grpSp>
        <p:nvGrpSpPr>
          <p:cNvPr id="3" name="Group 3"/>
          <p:cNvGrpSpPr/>
          <p:nvPr/>
        </p:nvGrpSpPr>
        <p:grpSpPr>
          <a:xfrm>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F4F6F8"/>
            </a:solidFill>
            <a:ln cap="rnd">
              <a:noFill/>
              <a:prstDash val="solid"/>
              <a:round/>
            </a:ln>
          </p:spPr>
        </p:sp>
        <p:sp>
          <p:nvSpPr>
            <p:cNvPr id="5" name="TextBox 5"/>
            <p:cNvSpPr txBox="1"/>
            <p:nvPr/>
          </p:nvSpPr>
          <p:spPr>
            <a:xfrm>
              <a:off x="0" y="-57150"/>
              <a:ext cx="4465383" cy="2415273"/>
            </a:xfrm>
            <a:prstGeom prst="rect">
              <a:avLst/>
            </a:prstGeom>
          </p:spPr>
          <p:txBody>
            <a:bodyPr lIns="50800" tIns="50800" rIns="50800" bIns="50800" rtlCol="0" anchor="ctr"/>
            <a:lstStyle/>
            <a:p>
              <a:pPr marL="0" lvl="0" indent="0" algn="ctr">
                <a:lnSpc>
                  <a:spcPts val="3359"/>
                </a:lnSpc>
                <a:spcBef>
                  <a:spcPct val="0"/>
                </a:spcBef>
              </a:pPr>
              <a:endParaRPr/>
            </a:p>
          </p:txBody>
        </p:sp>
      </p:grpSp>
      <p:grpSp>
        <p:nvGrpSpPr>
          <p:cNvPr id="6" name="Group 6"/>
          <p:cNvGrpSpPr/>
          <p:nvPr/>
        </p:nvGrpSpPr>
        <p:grpSpPr>
          <a:xfrm>
            <a:off x="1800225" y="1562100"/>
            <a:ext cx="13249275" cy="2067009"/>
            <a:chOff x="0" y="0"/>
            <a:chExt cx="17665700" cy="2756012"/>
          </a:xfrm>
        </p:grpSpPr>
        <p:sp>
          <p:nvSpPr>
            <p:cNvPr id="7" name="TextBox 7"/>
            <p:cNvSpPr txBox="1"/>
            <p:nvPr/>
          </p:nvSpPr>
          <p:spPr>
            <a:xfrm>
              <a:off x="0" y="-85725"/>
              <a:ext cx="17665700" cy="1702858"/>
            </a:xfrm>
            <a:prstGeom prst="rect">
              <a:avLst/>
            </a:prstGeom>
          </p:spPr>
          <p:txBody>
            <a:bodyPr lIns="0" tIns="0" rIns="0" bIns="0" rtlCol="0" anchor="t">
              <a:spAutoFit/>
            </a:bodyPr>
            <a:lstStyle/>
            <a:p>
              <a:pPr marL="0" lvl="0" indent="0" algn="l">
                <a:lnSpc>
                  <a:spcPts val="10400"/>
                </a:lnSpc>
              </a:pPr>
              <a:r>
                <a:rPr lang="en-US" sz="8000" spc="-240">
                  <a:solidFill>
                    <a:srgbClr val="2A3A66"/>
                  </a:solidFill>
                  <a:latin typeface="Georgia Pro Condensed"/>
                  <a:ea typeface="Georgia Pro Condensed"/>
                  <a:cs typeface="Georgia Pro Condensed"/>
                  <a:sym typeface="Georgia Pro Condensed"/>
                </a:rPr>
                <a:t>Binary Search</a:t>
              </a:r>
            </a:p>
          </p:txBody>
        </p:sp>
        <p:sp>
          <p:nvSpPr>
            <p:cNvPr id="8" name="TextBox 8"/>
            <p:cNvSpPr txBox="1"/>
            <p:nvPr/>
          </p:nvSpPr>
          <p:spPr>
            <a:xfrm>
              <a:off x="0" y="2187687"/>
              <a:ext cx="17665700" cy="568325"/>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2A3A66"/>
                  </a:solidFill>
                  <a:latin typeface="Helvetica World Bold"/>
                  <a:ea typeface="Helvetica World Bold"/>
                  <a:cs typeface="Helvetica World Bold"/>
                  <a:sym typeface="Helvetica World Bold"/>
                </a:rPr>
                <a:t>Divide and Conquer Method Explained</a:t>
              </a:r>
            </a:p>
          </p:txBody>
        </p:sp>
      </p:grpSp>
      <p:grpSp>
        <p:nvGrpSpPr>
          <p:cNvPr id="9" name="Group 9"/>
          <p:cNvGrpSpPr/>
          <p:nvPr/>
        </p:nvGrpSpPr>
        <p:grpSpPr>
          <a:xfrm>
            <a:off x="1800225" y="5143500"/>
            <a:ext cx="4308497" cy="2197100"/>
            <a:chOff x="0" y="0"/>
            <a:chExt cx="5744662" cy="2929467"/>
          </a:xfrm>
        </p:grpSpPr>
        <p:sp>
          <p:nvSpPr>
            <p:cNvPr id="10" name="TextBox 10"/>
            <p:cNvSpPr txBox="1"/>
            <p:nvPr/>
          </p:nvSpPr>
          <p:spPr>
            <a:xfrm>
              <a:off x="0" y="0"/>
              <a:ext cx="5744662" cy="53340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2A3A66"/>
                  </a:solidFill>
                  <a:latin typeface="Helvetica World Bold"/>
                  <a:ea typeface="Helvetica World Bold"/>
                  <a:cs typeface="Helvetica World Bold"/>
                  <a:sym typeface="Helvetica World Bold"/>
                </a:rPr>
                <a:t>Definition</a:t>
              </a:r>
            </a:p>
          </p:txBody>
        </p:sp>
        <p:sp>
          <p:nvSpPr>
            <p:cNvPr id="11" name="TextBox 11"/>
            <p:cNvSpPr txBox="1"/>
            <p:nvPr/>
          </p:nvSpPr>
          <p:spPr>
            <a:xfrm>
              <a:off x="0" y="1060450"/>
              <a:ext cx="5744662" cy="1869017"/>
            </a:xfrm>
            <a:prstGeom prst="rect">
              <a:avLst/>
            </a:prstGeom>
          </p:spPr>
          <p:txBody>
            <a:bodyPr lIns="0" tIns="0" rIns="0" bIns="0" rtlCol="0" anchor="t">
              <a:spAutoFit/>
            </a:bodyPr>
            <a:lstStyle/>
            <a:p>
              <a:pPr marL="0" lvl="0" indent="0" algn="l">
                <a:lnSpc>
                  <a:spcPts val="2800"/>
                </a:lnSpc>
              </a:pPr>
              <a:r>
                <a:rPr lang="en-US" sz="2000" u="none" strike="noStrike" spc="-30">
                  <a:solidFill>
                    <a:srgbClr val="1C1C1C"/>
                  </a:solidFill>
                  <a:latin typeface="Helvetica World"/>
                  <a:ea typeface="Helvetica World"/>
                  <a:cs typeface="Helvetica World"/>
                  <a:sym typeface="Helvetica World"/>
                </a:rPr>
                <a:t>Binary search is a fast search algorithm that finds the position of a target value within a sorted array, using a divide-and-conquer strategy for efficiency.</a:t>
              </a:r>
            </a:p>
          </p:txBody>
        </p:sp>
      </p:grpSp>
      <p:grpSp>
        <p:nvGrpSpPr>
          <p:cNvPr id="12" name="Group 12"/>
          <p:cNvGrpSpPr/>
          <p:nvPr/>
        </p:nvGrpSpPr>
        <p:grpSpPr>
          <a:xfrm>
            <a:off x="7291388" y="5143500"/>
            <a:ext cx="4010025" cy="2549525"/>
            <a:chOff x="0" y="0"/>
            <a:chExt cx="5346700" cy="3399367"/>
          </a:xfrm>
        </p:grpSpPr>
        <p:sp>
          <p:nvSpPr>
            <p:cNvPr id="13" name="TextBox 13"/>
            <p:cNvSpPr txBox="1"/>
            <p:nvPr/>
          </p:nvSpPr>
          <p:spPr>
            <a:xfrm>
              <a:off x="0" y="0"/>
              <a:ext cx="5346700" cy="53340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2A3A66"/>
                  </a:solidFill>
                  <a:latin typeface="Helvetica World Bold"/>
                  <a:ea typeface="Helvetica World Bold"/>
                  <a:cs typeface="Helvetica World Bold"/>
                  <a:sym typeface="Helvetica World Bold"/>
                </a:rPr>
                <a:t>Mechanism</a:t>
              </a:r>
            </a:p>
          </p:txBody>
        </p:sp>
        <p:sp>
          <p:nvSpPr>
            <p:cNvPr id="14" name="TextBox 14"/>
            <p:cNvSpPr txBox="1"/>
            <p:nvPr/>
          </p:nvSpPr>
          <p:spPr>
            <a:xfrm>
              <a:off x="0" y="1060450"/>
              <a:ext cx="5346700" cy="2338917"/>
            </a:xfrm>
            <a:prstGeom prst="rect">
              <a:avLst/>
            </a:prstGeom>
          </p:spPr>
          <p:txBody>
            <a:bodyPr lIns="0" tIns="0" rIns="0" bIns="0" rtlCol="0" anchor="t">
              <a:spAutoFit/>
            </a:bodyPr>
            <a:lstStyle/>
            <a:p>
              <a:pPr marL="0" lvl="0" indent="0" algn="l">
                <a:lnSpc>
                  <a:spcPts val="2800"/>
                </a:lnSpc>
              </a:pPr>
              <a:r>
                <a:rPr lang="en-US" sz="2000" u="none" strike="noStrike" spc="-30">
                  <a:solidFill>
                    <a:srgbClr val="1C1C1C"/>
                  </a:solidFill>
                  <a:latin typeface="Helvetica World"/>
                  <a:ea typeface="Helvetica World"/>
                  <a:cs typeface="Helvetica World"/>
                  <a:sym typeface="Helvetica World"/>
                </a:rPr>
                <a:t>The algorithm repeatedly divides the search interval in half; comparing the target value to the middle element, it narrows down the potential location until the target is found.</a:t>
              </a:r>
            </a:p>
          </p:txBody>
        </p:sp>
      </p:grpSp>
      <p:grpSp>
        <p:nvGrpSpPr>
          <p:cNvPr id="15" name="Group 15"/>
          <p:cNvGrpSpPr/>
          <p:nvPr/>
        </p:nvGrpSpPr>
        <p:grpSpPr>
          <a:xfrm>
            <a:off x="12172950" y="5143500"/>
            <a:ext cx="4010025" cy="2901950"/>
            <a:chOff x="0" y="0"/>
            <a:chExt cx="5346700" cy="3869267"/>
          </a:xfrm>
        </p:grpSpPr>
        <p:sp>
          <p:nvSpPr>
            <p:cNvPr id="16" name="TextBox 16"/>
            <p:cNvSpPr txBox="1"/>
            <p:nvPr/>
          </p:nvSpPr>
          <p:spPr>
            <a:xfrm>
              <a:off x="0" y="0"/>
              <a:ext cx="5346700" cy="53340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2A3A66"/>
                  </a:solidFill>
                  <a:latin typeface="Helvetica World Bold"/>
                  <a:ea typeface="Helvetica World Bold"/>
                  <a:cs typeface="Helvetica World Bold"/>
                  <a:sym typeface="Helvetica World Bold"/>
                </a:rPr>
                <a:t>Requirements</a:t>
              </a:r>
            </a:p>
          </p:txBody>
        </p:sp>
        <p:sp>
          <p:nvSpPr>
            <p:cNvPr id="17" name="TextBox 17"/>
            <p:cNvSpPr txBox="1"/>
            <p:nvPr/>
          </p:nvSpPr>
          <p:spPr>
            <a:xfrm>
              <a:off x="0" y="1060450"/>
              <a:ext cx="5346700" cy="2808817"/>
            </a:xfrm>
            <a:prstGeom prst="rect">
              <a:avLst/>
            </a:prstGeom>
          </p:spPr>
          <p:txBody>
            <a:bodyPr lIns="0" tIns="0" rIns="0" bIns="0" rtlCol="0" anchor="t">
              <a:spAutoFit/>
            </a:bodyPr>
            <a:lstStyle/>
            <a:p>
              <a:pPr marL="0" lvl="0" indent="0" algn="l">
                <a:lnSpc>
                  <a:spcPts val="2800"/>
                </a:lnSpc>
              </a:pPr>
              <a:r>
                <a:rPr lang="en-US" sz="2000" u="none" strike="noStrike" spc="-30">
                  <a:solidFill>
                    <a:srgbClr val="1C1C1C"/>
                  </a:solidFill>
                  <a:latin typeface="Helvetica World"/>
                  <a:ea typeface="Helvetica World"/>
                  <a:cs typeface="Helvetica World"/>
                  <a:sym typeface="Helvetica World"/>
                </a:rPr>
                <a:t>For binary search to work, the data must be sorted beforehand; this prerequisite allows the algorithm to efficiently eliminate half of the remaining elements with each comparison.</a:t>
              </a:r>
            </a:p>
          </p:txBody>
        </p:sp>
      </p:grpSp>
      <p:sp>
        <p:nvSpPr>
          <p:cNvPr id="18" name="Freeform 18"/>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BCCFFE"/>
        </a:solidFill>
        <a:effectLst/>
      </p:bgPr>
    </p:bg>
    <p:spTree>
      <p:nvGrpSpPr>
        <p:cNvPr id="1" name=""/>
        <p:cNvGrpSpPr/>
        <p:nvPr/>
      </p:nvGrpSpPr>
      <p:grpSpPr>
        <a:xfrm>
          <a:off x="0" y="0"/>
          <a:ext cx="0" cy="0"/>
          <a:chOff x="0" y="0"/>
          <a:chExt cx="0" cy="0"/>
        </a:xfrm>
      </p:grpSpPr>
      <p:grpSp>
        <p:nvGrpSpPr>
          <p:cNvPr id="2" name="Group 2"/>
          <p:cNvGrpSpPr/>
          <p:nvPr/>
        </p:nvGrpSpPr>
        <p:grpSpPr>
          <a:xfrm>
            <a:off x="9296400" y="666750"/>
            <a:ext cx="4010025" cy="6716121"/>
            <a:chOff x="0" y="0"/>
            <a:chExt cx="698915" cy="1170566"/>
          </a:xfrm>
        </p:grpSpPr>
        <p:sp>
          <p:nvSpPr>
            <p:cNvPr id="3" name="Freeform 3"/>
            <p:cNvSpPr/>
            <p:nvPr/>
          </p:nvSpPr>
          <p:spPr>
            <a:xfrm>
              <a:off x="0" y="0"/>
              <a:ext cx="698915" cy="1170566"/>
            </a:xfrm>
            <a:custGeom>
              <a:avLst/>
              <a:gdLst/>
              <a:ahLst/>
              <a:cxnLst/>
              <a:rect l="l" t="t" r="r" b="b"/>
              <a:pathLst>
                <a:path w="698915" h="1170566">
                  <a:moveTo>
                    <a:pt x="38613" y="0"/>
                  </a:moveTo>
                  <a:lnTo>
                    <a:pt x="660302" y="0"/>
                  </a:lnTo>
                  <a:cubicBezTo>
                    <a:pt x="681627" y="0"/>
                    <a:pt x="698915" y="17288"/>
                    <a:pt x="698915" y="38613"/>
                  </a:cubicBezTo>
                  <a:lnTo>
                    <a:pt x="698915" y="1131953"/>
                  </a:lnTo>
                  <a:cubicBezTo>
                    <a:pt x="698915" y="1142194"/>
                    <a:pt x="694847" y="1152015"/>
                    <a:pt x="687606" y="1159256"/>
                  </a:cubicBezTo>
                  <a:cubicBezTo>
                    <a:pt x="680364" y="1166498"/>
                    <a:pt x="670543" y="1170566"/>
                    <a:pt x="660302" y="1170566"/>
                  </a:cubicBezTo>
                  <a:lnTo>
                    <a:pt x="38613" y="1170566"/>
                  </a:lnTo>
                  <a:cubicBezTo>
                    <a:pt x="17288" y="1170566"/>
                    <a:pt x="0" y="1153278"/>
                    <a:pt x="0" y="1131953"/>
                  </a:cubicBezTo>
                  <a:lnTo>
                    <a:pt x="0" y="38613"/>
                  </a:lnTo>
                  <a:cubicBezTo>
                    <a:pt x="0" y="17288"/>
                    <a:pt x="17288" y="0"/>
                    <a:pt x="38613" y="0"/>
                  </a:cubicBezTo>
                  <a:close/>
                </a:path>
              </a:pathLst>
            </a:custGeom>
            <a:blipFill>
              <a:blip r:embed="rId2"/>
              <a:stretch>
                <a:fillRect t="-279" b="-279"/>
              </a:stretch>
            </a:blipFill>
            <a:ln cap="sq">
              <a:noFill/>
              <a:prstDash val="solid"/>
              <a:miter/>
            </a:ln>
          </p:spPr>
        </p:sp>
      </p:grpSp>
      <p:grpSp>
        <p:nvGrpSpPr>
          <p:cNvPr id="4" name="Group 4"/>
          <p:cNvGrpSpPr/>
          <p:nvPr/>
        </p:nvGrpSpPr>
        <p:grpSpPr>
          <a:xfrm>
            <a:off x="13611225" y="666750"/>
            <a:ext cx="4010025" cy="6716121"/>
            <a:chOff x="0" y="0"/>
            <a:chExt cx="698915" cy="1170566"/>
          </a:xfrm>
        </p:grpSpPr>
        <p:sp>
          <p:nvSpPr>
            <p:cNvPr id="5" name="Freeform 5"/>
            <p:cNvSpPr/>
            <p:nvPr/>
          </p:nvSpPr>
          <p:spPr>
            <a:xfrm>
              <a:off x="0" y="0"/>
              <a:ext cx="698915" cy="1170566"/>
            </a:xfrm>
            <a:custGeom>
              <a:avLst/>
              <a:gdLst/>
              <a:ahLst/>
              <a:cxnLst/>
              <a:rect l="l" t="t" r="r" b="b"/>
              <a:pathLst>
                <a:path w="698915" h="1170566">
                  <a:moveTo>
                    <a:pt x="38613" y="0"/>
                  </a:moveTo>
                  <a:lnTo>
                    <a:pt x="660302" y="0"/>
                  </a:lnTo>
                  <a:cubicBezTo>
                    <a:pt x="681627" y="0"/>
                    <a:pt x="698915" y="17288"/>
                    <a:pt x="698915" y="38613"/>
                  </a:cubicBezTo>
                  <a:lnTo>
                    <a:pt x="698915" y="1131953"/>
                  </a:lnTo>
                  <a:cubicBezTo>
                    <a:pt x="698915" y="1142194"/>
                    <a:pt x="694847" y="1152015"/>
                    <a:pt x="687606" y="1159256"/>
                  </a:cubicBezTo>
                  <a:cubicBezTo>
                    <a:pt x="680364" y="1166498"/>
                    <a:pt x="670543" y="1170566"/>
                    <a:pt x="660302" y="1170566"/>
                  </a:cubicBezTo>
                  <a:lnTo>
                    <a:pt x="38613" y="1170566"/>
                  </a:lnTo>
                  <a:cubicBezTo>
                    <a:pt x="17288" y="1170566"/>
                    <a:pt x="0" y="1153278"/>
                    <a:pt x="0" y="1131953"/>
                  </a:cubicBezTo>
                  <a:lnTo>
                    <a:pt x="0" y="38613"/>
                  </a:lnTo>
                  <a:cubicBezTo>
                    <a:pt x="0" y="17288"/>
                    <a:pt x="17288" y="0"/>
                    <a:pt x="38613" y="0"/>
                  </a:cubicBezTo>
                  <a:close/>
                </a:path>
              </a:pathLst>
            </a:custGeom>
            <a:blipFill>
              <a:blip r:embed="rId3"/>
              <a:stretch>
                <a:fillRect t="-279" b="-279"/>
              </a:stretch>
            </a:blipFill>
            <a:ln cap="sq">
              <a:noFill/>
              <a:prstDash val="solid"/>
              <a:miter/>
            </a:ln>
          </p:spPr>
        </p:sp>
      </p:grpSp>
      <p:grpSp>
        <p:nvGrpSpPr>
          <p:cNvPr id="6" name="Group 6"/>
          <p:cNvGrpSpPr/>
          <p:nvPr/>
        </p:nvGrpSpPr>
        <p:grpSpPr>
          <a:xfrm>
            <a:off x="0" y="0"/>
            <a:ext cx="7858125" cy="10287000"/>
            <a:chOff x="0" y="0"/>
            <a:chExt cx="2069630" cy="2709333"/>
          </a:xfrm>
        </p:grpSpPr>
        <p:sp>
          <p:nvSpPr>
            <p:cNvPr id="7" name="Freeform 7"/>
            <p:cNvSpPr/>
            <p:nvPr/>
          </p:nvSpPr>
          <p:spPr>
            <a:xfrm>
              <a:off x="0" y="0"/>
              <a:ext cx="2069630" cy="2709333"/>
            </a:xfrm>
            <a:custGeom>
              <a:avLst/>
              <a:gdLst/>
              <a:ahLst/>
              <a:cxnLst/>
              <a:rect l="l" t="t" r="r" b="b"/>
              <a:pathLst>
                <a:path w="2069630" h="2709333">
                  <a:moveTo>
                    <a:pt x="0" y="0"/>
                  </a:moveTo>
                  <a:lnTo>
                    <a:pt x="2069630" y="0"/>
                  </a:lnTo>
                  <a:lnTo>
                    <a:pt x="2069630" y="2709333"/>
                  </a:lnTo>
                  <a:lnTo>
                    <a:pt x="0" y="2709333"/>
                  </a:lnTo>
                  <a:close/>
                </a:path>
              </a:pathLst>
            </a:custGeom>
            <a:solidFill>
              <a:srgbClr val="2A3A66"/>
            </a:solidFill>
            <a:ln cap="sq">
              <a:noFill/>
              <a:prstDash val="solid"/>
              <a:miter/>
            </a:ln>
          </p:spPr>
        </p:sp>
        <p:sp>
          <p:nvSpPr>
            <p:cNvPr id="8" name="TextBox 8"/>
            <p:cNvSpPr txBox="1"/>
            <p:nvPr/>
          </p:nvSpPr>
          <p:spPr>
            <a:xfrm>
              <a:off x="0" y="-57150"/>
              <a:ext cx="2069630" cy="2766483"/>
            </a:xfrm>
            <a:prstGeom prst="rect">
              <a:avLst/>
            </a:prstGeom>
          </p:spPr>
          <p:txBody>
            <a:bodyPr lIns="50800" tIns="50800" rIns="50800" bIns="50800" rtlCol="0" anchor="ctr"/>
            <a:lstStyle/>
            <a:p>
              <a:pPr marL="0" lvl="0" indent="0" algn="ctr">
                <a:lnSpc>
                  <a:spcPts val="3359"/>
                </a:lnSpc>
              </a:pPr>
              <a:endParaRPr/>
            </a:p>
          </p:txBody>
        </p:sp>
      </p:grpSp>
      <p:grpSp>
        <p:nvGrpSpPr>
          <p:cNvPr id="9" name="Group 9"/>
          <p:cNvGrpSpPr/>
          <p:nvPr/>
        </p:nvGrpSpPr>
        <p:grpSpPr>
          <a:xfrm>
            <a:off x="9296400" y="7829550"/>
            <a:ext cx="2876550" cy="1231011"/>
            <a:chOff x="0" y="0"/>
            <a:chExt cx="3835400" cy="1641348"/>
          </a:xfrm>
        </p:grpSpPr>
        <p:sp>
          <p:nvSpPr>
            <p:cNvPr id="10" name="TextBox 10"/>
            <p:cNvSpPr txBox="1"/>
            <p:nvPr/>
          </p:nvSpPr>
          <p:spPr>
            <a:xfrm>
              <a:off x="0" y="-9525"/>
              <a:ext cx="3835400" cy="619125"/>
            </a:xfrm>
            <a:prstGeom prst="rect">
              <a:avLst/>
            </a:prstGeom>
          </p:spPr>
          <p:txBody>
            <a:bodyPr lIns="0" tIns="0" rIns="0" bIns="0" rtlCol="0" anchor="t">
              <a:spAutoFit/>
            </a:bodyPr>
            <a:lstStyle/>
            <a:p>
              <a:pPr marL="0" lvl="0" indent="0" algn="l">
                <a:lnSpc>
                  <a:spcPts val="3360"/>
                </a:lnSpc>
                <a:spcBef>
                  <a:spcPct val="0"/>
                </a:spcBef>
              </a:pPr>
              <a:r>
                <a:rPr lang="en-US" sz="2800" b="1" spc="-42">
                  <a:solidFill>
                    <a:srgbClr val="2A3A66"/>
                  </a:solidFill>
                  <a:latin typeface="Helvetica World Bold"/>
                  <a:ea typeface="Helvetica World Bold"/>
                  <a:cs typeface="Helvetica World Bold"/>
                  <a:sym typeface="Helvetica World Bold"/>
                </a:rPr>
                <a:t>Efficiency</a:t>
              </a:r>
            </a:p>
          </p:txBody>
        </p:sp>
        <p:sp>
          <p:nvSpPr>
            <p:cNvPr id="11" name="TextBox 11"/>
            <p:cNvSpPr txBox="1"/>
            <p:nvPr/>
          </p:nvSpPr>
          <p:spPr>
            <a:xfrm>
              <a:off x="0" y="779653"/>
              <a:ext cx="3835400" cy="861695"/>
            </a:xfrm>
            <a:prstGeom prst="rect">
              <a:avLst/>
            </a:prstGeom>
          </p:spPr>
          <p:txBody>
            <a:bodyPr lIns="0" tIns="0" rIns="0" bIns="0" rtlCol="0" anchor="t">
              <a:spAutoFit/>
            </a:bodyPr>
            <a:lstStyle/>
            <a:p>
              <a:pPr marL="0" lvl="0" indent="0" algn="l">
                <a:lnSpc>
                  <a:spcPts val="2580"/>
                </a:lnSpc>
                <a:spcBef>
                  <a:spcPct val="0"/>
                </a:spcBef>
              </a:pPr>
              <a:r>
                <a:rPr lang="en-US" sz="2000" u="none" strike="noStrike" spc="-30">
                  <a:solidFill>
                    <a:srgbClr val="1C1C1C"/>
                  </a:solidFill>
                  <a:latin typeface="Helvetica World"/>
                  <a:ea typeface="Helvetica World"/>
                  <a:cs typeface="Helvetica World"/>
                  <a:sym typeface="Helvetica World"/>
                </a:rPr>
                <a:t>Linear search has O(n) time complexity.</a:t>
              </a:r>
            </a:p>
          </p:txBody>
        </p:sp>
      </p:grpSp>
      <p:grpSp>
        <p:nvGrpSpPr>
          <p:cNvPr id="12" name="Group 12"/>
          <p:cNvGrpSpPr/>
          <p:nvPr/>
        </p:nvGrpSpPr>
        <p:grpSpPr>
          <a:xfrm>
            <a:off x="13611225" y="7865173"/>
            <a:ext cx="2876550" cy="1231011"/>
            <a:chOff x="0" y="0"/>
            <a:chExt cx="3835400" cy="1641348"/>
          </a:xfrm>
        </p:grpSpPr>
        <p:sp>
          <p:nvSpPr>
            <p:cNvPr id="13" name="TextBox 13"/>
            <p:cNvSpPr txBox="1"/>
            <p:nvPr/>
          </p:nvSpPr>
          <p:spPr>
            <a:xfrm>
              <a:off x="0" y="-9525"/>
              <a:ext cx="3835400" cy="619125"/>
            </a:xfrm>
            <a:prstGeom prst="rect">
              <a:avLst/>
            </a:prstGeom>
          </p:spPr>
          <p:txBody>
            <a:bodyPr lIns="0" tIns="0" rIns="0" bIns="0" rtlCol="0" anchor="t">
              <a:spAutoFit/>
            </a:bodyPr>
            <a:lstStyle/>
            <a:p>
              <a:pPr marL="0" lvl="0" indent="0" algn="l">
                <a:lnSpc>
                  <a:spcPts val="3360"/>
                </a:lnSpc>
                <a:spcBef>
                  <a:spcPct val="0"/>
                </a:spcBef>
              </a:pPr>
              <a:r>
                <a:rPr lang="en-US" sz="2800" b="1" spc="-42">
                  <a:solidFill>
                    <a:srgbClr val="2A3A66"/>
                  </a:solidFill>
                  <a:latin typeface="Helvetica World Bold"/>
                  <a:ea typeface="Helvetica World Bold"/>
                  <a:cs typeface="Helvetica World Bold"/>
                  <a:sym typeface="Helvetica World Bold"/>
                </a:rPr>
                <a:t>Pros and Cons</a:t>
              </a:r>
            </a:p>
          </p:txBody>
        </p:sp>
        <p:sp>
          <p:nvSpPr>
            <p:cNvPr id="14" name="TextBox 14"/>
            <p:cNvSpPr txBox="1"/>
            <p:nvPr/>
          </p:nvSpPr>
          <p:spPr>
            <a:xfrm>
              <a:off x="0" y="779653"/>
              <a:ext cx="3835400" cy="861695"/>
            </a:xfrm>
            <a:prstGeom prst="rect">
              <a:avLst/>
            </a:prstGeom>
          </p:spPr>
          <p:txBody>
            <a:bodyPr lIns="0" tIns="0" rIns="0" bIns="0" rtlCol="0" anchor="t">
              <a:spAutoFit/>
            </a:bodyPr>
            <a:lstStyle/>
            <a:p>
              <a:pPr marL="0" lvl="0" indent="0" algn="l">
                <a:lnSpc>
                  <a:spcPts val="2580"/>
                </a:lnSpc>
                <a:spcBef>
                  <a:spcPct val="0"/>
                </a:spcBef>
              </a:pPr>
              <a:r>
                <a:rPr lang="en-US" sz="2000" u="none" strike="noStrike" spc="-30">
                  <a:solidFill>
                    <a:srgbClr val="1C1C1C"/>
                  </a:solidFill>
                  <a:latin typeface="Helvetica World"/>
                  <a:ea typeface="Helvetica World"/>
                  <a:cs typeface="Helvetica World"/>
                  <a:sym typeface="Helvetica World"/>
                </a:rPr>
                <a:t>Binary search is faster but needs sorted data.</a:t>
              </a:r>
            </a:p>
          </p:txBody>
        </p:sp>
      </p:grpSp>
      <p:sp>
        <p:nvSpPr>
          <p:cNvPr id="15" name="TextBox 15"/>
          <p:cNvSpPr txBox="1"/>
          <p:nvPr/>
        </p:nvSpPr>
        <p:spPr>
          <a:xfrm>
            <a:off x="666750" y="733425"/>
            <a:ext cx="7021245" cy="4492627"/>
          </a:xfrm>
          <a:prstGeom prst="rect">
            <a:avLst/>
          </a:prstGeom>
        </p:spPr>
        <p:txBody>
          <a:bodyPr lIns="0" tIns="0" rIns="0" bIns="0" rtlCol="0" anchor="t">
            <a:spAutoFit/>
          </a:bodyPr>
          <a:lstStyle/>
          <a:p>
            <a:pPr marL="0" lvl="0" indent="0" algn="l">
              <a:lnSpc>
                <a:spcPts val="8800"/>
              </a:lnSpc>
            </a:pPr>
            <a:r>
              <a:rPr lang="en-US" sz="8000" spc="-240">
                <a:solidFill>
                  <a:srgbClr val="F4F6F8"/>
                </a:solidFill>
                <a:latin typeface="Georgia Pro Condensed"/>
                <a:ea typeface="Georgia Pro Condensed"/>
                <a:cs typeface="Georgia Pro Condensed"/>
                <a:sym typeface="Georgia Pro Condensed"/>
              </a:rPr>
              <a:t>Comparing Efficiency of Search Algorithms</a:t>
            </a:r>
          </a:p>
        </p:txBody>
      </p:sp>
      <p:sp>
        <p:nvSpPr>
          <p:cNvPr id="16" name="Freeform 16"/>
          <p:cNvSpPr/>
          <p:nvPr/>
        </p:nvSpPr>
        <p:spPr>
          <a:xfrm>
            <a:off x="708153" y="7606302"/>
            <a:ext cx="2112604" cy="1859092"/>
          </a:xfrm>
          <a:custGeom>
            <a:avLst/>
            <a:gdLst/>
            <a:ahLst/>
            <a:cxnLst/>
            <a:rect l="l" t="t" r="r" b="b"/>
            <a:pathLst>
              <a:path w="2112604" h="1859092">
                <a:moveTo>
                  <a:pt x="0" y="0"/>
                </a:moveTo>
                <a:lnTo>
                  <a:pt x="2112604" y="0"/>
                </a:lnTo>
                <a:lnTo>
                  <a:pt x="2112604" y="1859092"/>
                </a:lnTo>
                <a:lnTo>
                  <a:pt x="0" y="1859092"/>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a:ln cap="sq">
            <a:noFill/>
            <a:prstDash val="solid"/>
            <a:miter/>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A9BCEB"/>
        </a:solidFill>
        <a:effectLst/>
      </p:bgPr>
    </p:bg>
    <p:spTree>
      <p:nvGrpSpPr>
        <p:cNvPr id="1" name=""/>
        <p:cNvGrpSpPr/>
        <p:nvPr/>
      </p:nvGrpSpPr>
      <p:grpSpPr>
        <a:xfrm>
          <a:off x="0" y="0"/>
          <a:ext cx="0" cy="0"/>
          <a:chOff x="0" y="0"/>
          <a:chExt cx="0" cy="0"/>
        </a:xfrm>
      </p:grpSpPr>
      <p:sp>
        <p:nvSpPr>
          <p:cNvPr id="2" name="TextBox 2"/>
          <p:cNvSpPr txBox="1"/>
          <p:nvPr/>
        </p:nvSpPr>
        <p:spPr>
          <a:xfrm>
            <a:off x="669118" y="3357562"/>
            <a:ext cx="5445932" cy="40005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2A3A66"/>
                </a:solidFill>
                <a:latin typeface="Helvetica World Bold"/>
                <a:ea typeface="Helvetica World Bold"/>
                <a:cs typeface="Helvetica World Bold"/>
                <a:sym typeface="Helvetica World Bold"/>
              </a:rPr>
              <a:t>Linear Search</a:t>
            </a:r>
          </a:p>
        </p:txBody>
      </p:sp>
      <p:sp>
        <p:nvSpPr>
          <p:cNvPr id="3" name="TextBox 3"/>
          <p:cNvSpPr txBox="1"/>
          <p:nvPr/>
        </p:nvSpPr>
        <p:spPr>
          <a:xfrm>
            <a:off x="669118" y="5086350"/>
            <a:ext cx="5445932" cy="1416050"/>
          </a:xfrm>
          <a:prstGeom prst="rect">
            <a:avLst/>
          </a:prstGeom>
        </p:spPr>
        <p:txBody>
          <a:bodyPr lIns="0" tIns="0" rIns="0" bIns="0" rtlCol="0" anchor="t">
            <a:spAutoFit/>
          </a:bodyPr>
          <a:lstStyle/>
          <a:p>
            <a:pPr marL="0" lvl="0" indent="0" algn="l">
              <a:lnSpc>
                <a:spcPts val="2800"/>
              </a:lnSpc>
            </a:pPr>
            <a:r>
              <a:rPr lang="en-US" sz="2000" u="none" strike="noStrike" spc="-30">
                <a:solidFill>
                  <a:srgbClr val="1C1C1C"/>
                </a:solidFill>
                <a:latin typeface="Helvetica World"/>
                <a:ea typeface="Helvetica World"/>
                <a:cs typeface="Helvetica World"/>
                <a:sym typeface="Helvetica World"/>
              </a:rPr>
              <a:t>In linear search, each element is examined sequentially until the target is found. This straightforward approach is effective for small or unsorted datasets, but can be slow for larger lists.</a:t>
            </a:r>
          </a:p>
        </p:txBody>
      </p:sp>
      <p:sp>
        <p:nvSpPr>
          <p:cNvPr id="4" name="TextBox 4"/>
          <p:cNvSpPr txBox="1"/>
          <p:nvPr/>
        </p:nvSpPr>
        <p:spPr>
          <a:xfrm>
            <a:off x="6419850" y="3357562"/>
            <a:ext cx="5446184" cy="40005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2A3A66"/>
                </a:solidFill>
                <a:latin typeface="Helvetica World Bold"/>
                <a:ea typeface="Helvetica World Bold"/>
                <a:cs typeface="Helvetica World Bold"/>
                <a:sym typeface="Helvetica World Bold"/>
              </a:rPr>
              <a:t>Binary Search</a:t>
            </a:r>
          </a:p>
        </p:txBody>
      </p:sp>
      <p:sp>
        <p:nvSpPr>
          <p:cNvPr id="5" name="TextBox 5"/>
          <p:cNvSpPr txBox="1"/>
          <p:nvPr/>
        </p:nvSpPr>
        <p:spPr>
          <a:xfrm>
            <a:off x="6421966" y="5086350"/>
            <a:ext cx="5446184" cy="1768475"/>
          </a:xfrm>
          <a:prstGeom prst="rect">
            <a:avLst/>
          </a:prstGeom>
        </p:spPr>
        <p:txBody>
          <a:bodyPr lIns="0" tIns="0" rIns="0" bIns="0" rtlCol="0" anchor="t">
            <a:spAutoFit/>
          </a:bodyPr>
          <a:lstStyle/>
          <a:p>
            <a:pPr marL="0" lvl="0" indent="0" algn="l">
              <a:lnSpc>
                <a:spcPts val="2800"/>
              </a:lnSpc>
            </a:pPr>
            <a:r>
              <a:rPr lang="en-US" sz="2000" u="none" strike="noStrike" spc="-30">
                <a:solidFill>
                  <a:srgbClr val="1C1C1C"/>
                </a:solidFill>
                <a:latin typeface="Helvetica World"/>
                <a:ea typeface="Helvetica World"/>
                <a:cs typeface="Helvetica World"/>
                <a:sym typeface="Helvetica World"/>
              </a:rPr>
              <a:t>Binary search requires a sorted list, dividing the search space in half repeatedly, which drastically reduces the number of checks needed to find the target value, making it more efficient than linear search.</a:t>
            </a:r>
          </a:p>
        </p:txBody>
      </p:sp>
      <p:sp>
        <p:nvSpPr>
          <p:cNvPr id="6" name="TextBox 6"/>
          <p:cNvSpPr txBox="1"/>
          <p:nvPr/>
        </p:nvSpPr>
        <p:spPr>
          <a:xfrm>
            <a:off x="12172950" y="3357562"/>
            <a:ext cx="5448300" cy="40005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2A3A66"/>
                </a:solidFill>
                <a:latin typeface="Helvetica World Bold"/>
                <a:ea typeface="Helvetica World Bold"/>
                <a:cs typeface="Helvetica World Bold"/>
                <a:sym typeface="Helvetica World Bold"/>
              </a:rPr>
              <a:t>Efficiency Comparison</a:t>
            </a:r>
          </a:p>
        </p:txBody>
      </p:sp>
      <p:sp>
        <p:nvSpPr>
          <p:cNvPr id="7" name="TextBox 7"/>
          <p:cNvSpPr txBox="1"/>
          <p:nvPr/>
        </p:nvSpPr>
        <p:spPr>
          <a:xfrm>
            <a:off x="12172950" y="5086350"/>
            <a:ext cx="5448300" cy="1768475"/>
          </a:xfrm>
          <a:prstGeom prst="rect">
            <a:avLst/>
          </a:prstGeom>
        </p:spPr>
        <p:txBody>
          <a:bodyPr lIns="0" tIns="0" rIns="0" bIns="0" rtlCol="0" anchor="t">
            <a:spAutoFit/>
          </a:bodyPr>
          <a:lstStyle/>
          <a:p>
            <a:pPr marL="0" lvl="0" indent="0" algn="l">
              <a:lnSpc>
                <a:spcPts val="2800"/>
              </a:lnSpc>
            </a:pPr>
            <a:r>
              <a:rPr lang="en-US" sz="2000" u="none" strike="noStrike" spc="-30">
                <a:solidFill>
                  <a:srgbClr val="1C1C1C"/>
                </a:solidFill>
                <a:latin typeface="Helvetica World"/>
                <a:ea typeface="Helvetica World"/>
                <a:cs typeface="Helvetica World"/>
                <a:sym typeface="Helvetica World"/>
              </a:rPr>
              <a:t>Comparing the two searches, linear search has a time complexity of O(n), while binary search operates at O(log n), highlighting the significant efficiency gained through the divide-and-conquer strategy of binary search.</a:t>
            </a:r>
          </a:p>
        </p:txBody>
      </p:sp>
      <p:sp>
        <p:nvSpPr>
          <p:cNvPr id="8" name="AutoShape 8"/>
          <p:cNvSpPr/>
          <p:nvPr/>
        </p:nvSpPr>
        <p:spPr>
          <a:xfrm>
            <a:off x="992968" y="4410075"/>
            <a:ext cx="17607376" cy="0"/>
          </a:xfrm>
          <a:prstGeom prst="line">
            <a:avLst/>
          </a:prstGeom>
          <a:ln w="19050" cap="flat">
            <a:solidFill>
              <a:srgbClr val="2A3A66"/>
            </a:solidFill>
            <a:prstDash val="solid"/>
            <a:headEnd type="none" w="sm" len="sm"/>
            <a:tailEnd type="none" w="sm" len="sm"/>
          </a:ln>
        </p:spPr>
      </p:sp>
      <p:grpSp>
        <p:nvGrpSpPr>
          <p:cNvPr id="9" name="Group 9"/>
          <p:cNvGrpSpPr/>
          <p:nvPr/>
        </p:nvGrpSpPr>
        <p:grpSpPr>
          <a:xfrm>
            <a:off x="669118" y="4248150"/>
            <a:ext cx="323850" cy="323850"/>
            <a:chOff x="0" y="0"/>
            <a:chExt cx="6350000" cy="6350000"/>
          </a:xfrm>
        </p:grpSpPr>
        <p:sp>
          <p:nvSpPr>
            <p:cNvPr id="10" name="Freeform 1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A3A66"/>
            </a:solidFill>
          </p:spPr>
        </p:sp>
      </p:grpSp>
      <p:grpSp>
        <p:nvGrpSpPr>
          <p:cNvPr id="11" name="Group 11"/>
          <p:cNvGrpSpPr/>
          <p:nvPr/>
        </p:nvGrpSpPr>
        <p:grpSpPr>
          <a:xfrm>
            <a:off x="6421966" y="4248150"/>
            <a:ext cx="323850" cy="323850"/>
            <a:chOff x="0" y="0"/>
            <a:chExt cx="6350000" cy="6350000"/>
          </a:xfrm>
        </p:grpSpPr>
        <p:sp>
          <p:nvSpPr>
            <p:cNvPr id="12" name="Freeform 1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A3A66"/>
            </a:solidFill>
          </p:spPr>
        </p:sp>
      </p:grpSp>
      <p:grpSp>
        <p:nvGrpSpPr>
          <p:cNvPr id="13" name="Group 13"/>
          <p:cNvGrpSpPr/>
          <p:nvPr/>
        </p:nvGrpSpPr>
        <p:grpSpPr>
          <a:xfrm>
            <a:off x="12172950" y="4248150"/>
            <a:ext cx="323850" cy="323850"/>
            <a:chOff x="0" y="0"/>
            <a:chExt cx="6350000" cy="6350000"/>
          </a:xfrm>
        </p:grpSpPr>
        <p:sp>
          <p:nvSpPr>
            <p:cNvPr id="14" name="Freeform 14"/>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A3A66"/>
            </a:solidFill>
          </p:spPr>
        </p:sp>
      </p:grpSp>
      <p:sp>
        <p:nvSpPr>
          <p:cNvPr id="15" name="TextBox 15"/>
          <p:cNvSpPr txBox="1"/>
          <p:nvPr/>
        </p:nvSpPr>
        <p:spPr>
          <a:xfrm>
            <a:off x="666750" y="809625"/>
            <a:ext cx="16954500" cy="1069976"/>
          </a:xfrm>
          <a:prstGeom prst="rect">
            <a:avLst/>
          </a:prstGeom>
        </p:spPr>
        <p:txBody>
          <a:bodyPr lIns="0" tIns="0" rIns="0" bIns="0" rtlCol="0" anchor="t">
            <a:spAutoFit/>
          </a:bodyPr>
          <a:lstStyle/>
          <a:p>
            <a:pPr marL="0" lvl="0" indent="0" algn="l">
              <a:lnSpc>
                <a:spcPts val="8000"/>
              </a:lnSpc>
            </a:pPr>
            <a:r>
              <a:rPr lang="en-US" sz="8000">
                <a:solidFill>
                  <a:srgbClr val="2A3A66"/>
                </a:solidFill>
                <a:latin typeface="Georgia Pro Condensed"/>
                <a:ea typeface="Georgia Pro Condensed"/>
                <a:cs typeface="Georgia Pro Condensed"/>
                <a:sym typeface="Georgia Pro Condensed"/>
              </a:rPr>
              <a:t>Algorithm Tracing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sp>
        <p:nvSpPr>
          <p:cNvPr id="2" name="TextBox 2"/>
          <p:cNvSpPr txBox="1"/>
          <p:nvPr/>
        </p:nvSpPr>
        <p:spPr>
          <a:xfrm>
            <a:off x="17259300" y="9201150"/>
            <a:ext cx="152400" cy="209550"/>
          </a:xfrm>
          <a:prstGeom prst="rect">
            <a:avLst/>
          </a:prstGeom>
        </p:spPr>
        <p:txBody>
          <a:bodyPr wrap="none" lIns="0" tIns="0" rIns="0" bIns="0" rtlCol="0" anchor="t">
            <a:spAutoFit/>
          </a:bodyPr>
          <a:lstStyle/>
          <a:p>
            <a:pPr marL="0" lvl="0" indent="0" algn="ctr">
              <a:lnSpc>
                <a:spcPts val="2800"/>
              </a:lnSpc>
              <a:spcBef>
                <a:spcPct val="0"/>
              </a:spcBef>
            </a:pPr>
            <a:r>
              <a:rPr lang="en-US" sz="2000">
                <a:solidFill>
                  <a:srgbClr val="1C1C1C"/>
                </a:solidFill>
                <a:latin typeface="Helvetica World"/>
                <a:ea typeface="Helvetica World"/>
                <a:cs typeface="Helvetica World"/>
                <a:sym typeface="Helvetica World"/>
              </a:rPr>
              <a:t>8</a:t>
            </a:r>
          </a:p>
        </p:txBody>
      </p:sp>
      <p:grpSp>
        <p:nvGrpSpPr>
          <p:cNvPr id="3" name="Group 3"/>
          <p:cNvGrpSpPr/>
          <p:nvPr/>
        </p:nvGrpSpPr>
        <p:grpSpPr>
          <a:xfrm>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BCCFFE"/>
            </a:solidFill>
            <a:ln cap="rnd">
              <a:noFill/>
              <a:prstDash val="solid"/>
              <a:round/>
            </a:ln>
          </p:spPr>
        </p:sp>
        <p:sp>
          <p:nvSpPr>
            <p:cNvPr id="5" name="TextBox 5"/>
            <p:cNvSpPr txBox="1"/>
            <p:nvPr/>
          </p:nvSpPr>
          <p:spPr>
            <a:xfrm>
              <a:off x="0" y="-57150"/>
              <a:ext cx="4465383" cy="2415273"/>
            </a:xfrm>
            <a:prstGeom prst="rect">
              <a:avLst/>
            </a:prstGeom>
          </p:spPr>
          <p:txBody>
            <a:bodyPr lIns="50800" tIns="50800" rIns="50800" bIns="50800" rtlCol="0" anchor="ctr"/>
            <a:lstStyle/>
            <a:p>
              <a:pPr marL="0" lvl="0" indent="0" algn="ctr">
                <a:lnSpc>
                  <a:spcPts val="3359"/>
                </a:lnSpc>
              </a:pPr>
              <a:endParaRPr/>
            </a:p>
          </p:txBody>
        </p:sp>
      </p:grpSp>
      <p:grpSp>
        <p:nvGrpSpPr>
          <p:cNvPr id="6" name="Group 6"/>
          <p:cNvGrpSpPr/>
          <p:nvPr/>
        </p:nvGrpSpPr>
        <p:grpSpPr>
          <a:xfrm>
            <a:off x="1800225" y="1562100"/>
            <a:ext cx="12944475" cy="2067009"/>
            <a:chOff x="0" y="0"/>
            <a:chExt cx="17259300" cy="2756012"/>
          </a:xfrm>
        </p:grpSpPr>
        <p:sp>
          <p:nvSpPr>
            <p:cNvPr id="7" name="TextBox 7"/>
            <p:cNvSpPr txBox="1"/>
            <p:nvPr/>
          </p:nvSpPr>
          <p:spPr>
            <a:xfrm>
              <a:off x="0" y="-85725"/>
              <a:ext cx="17259300" cy="1702858"/>
            </a:xfrm>
            <a:prstGeom prst="rect">
              <a:avLst/>
            </a:prstGeom>
          </p:spPr>
          <p:txBody>
            <a:bodyPr lIns="0" tIns="0" rIns="0" bIns="0" rtlCol="0" anchor="t">
              <a:spAutoFit/>
            </a:bodyPr>
            <a:lstStyle/>
            <a:p>
              <a:pPr marL="0" lvl="0" indent="0" algn="l">
                <a:lnSpc>
                  <a:spcPts val="10400"/>
                </a:lnSpc>
              </a:pPr>
              <a:r>
                <a:rPr lang="en-US" sz="8000" spc="-240">
                  <a:solidFill>
                    <a:srgbClr val="2A3A66"/>
                  </a:solidFill>
                  <a:latin typeface="Georgia Pro Condensed"/>
                  <a:ea typeface="Georgia Pro Condensed"/>
                  <a:cs typeface="Georgia Pro Condensed"/>
                  <a:sym typeface="Georgia Pro Condensed"/>
                </a:rPr>
                <a:t>Bubble Sort</a:t>
              </a:r>
            </a:p>
          </p:txBody>
        </p:sp>
        <p:sp>
          <p:nvSpPr>
            <p:cNvPr id="8" name="TextBox 8"/>
            <p:cNvSpPr txBox="1"/>
            <p:nvPr/>
          </p:nvSpPr>
          <p:spPr>
            <a:xfrm>
              <a:off x="0" y="2187687"/>
              <a:ext cx="17259300" cy="568325"/>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2A3A66"/>
                  </a:solidFill>
                  <a:latin typeface="Helvetica World Bold"/>
                  <a:ea typeface="Helvetica World Bold"/>
                  <a:cs typeface="Helvetica World Bold"/>
                  <a:sym typeface="Helvetica World Bold"/>
                </a:rPr>
                <a:t>Introducing Sorting Algorithms and Their Importance</a:t>
              </a:r>
            </a:p>
          </p:txBody>
        </p:sp>
      </p:grpSp>
      <p:sp>
        <p:nvSpPr>
          <p:cNvPr id="9" name="Freeform 9"/>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A3A66"/>
        </a:solidFill>
        <a:effectLst/>
      </p:bgPr>
    </p:bg>
    <p:spTree>
      <p:nvGrpSpPr>
        <p:cNvPr id="1" name=""/>
        <p:cNvGrpSpPr/>
        <p:nvPr/>
      </p:nvGrpSpPr>
      <p:grpSpPr>
        <a:xfrm>
          <a:off x="0" y="0"/>
          <a:ext cx="0" cy="0"/>
          <a:chOff x="0" y="0"/>
          <a:chExt cx="0" cy="0"/>
        </a:xfrm>
      </p:grpSpPr>
      <p:grpSp>
        <p:nvGrpSpPr>
          <p:cNvPr id="2" name="Group 2"/>
          <p:cNvGrpSpPr/>
          <p:nvPr/>
        </p:nvGrpSpPr>
        <p:grpSpPr>
          <a:xfrm>
            <a:off x="666750" y="2908300"/>
            <a:ext cx="5448300" cy="6711950"/>
            <a:chOff x="0" y="0"/>
            <a:chExt cx="1434943" cy="1767756"/>
          </a:xfrm>
        </p:grpSpPr>
        <p:sp>
          <p:nvSpPr>
            <p:cNvPr id="3" name="Freeform 3"/>
            <p:cNvSpPr/>
            <p:nvPr/>
          </p:nvSpPr>
          <p:spPr>
            <a:xfrm>
              <a:off x="0" y="0"/>
              <a:ext cx="1434943" cy="1767756"/>
            </a:xfrm>
            <a:custGeom>
              <a:avLst/>
              <a:gdLst/>
              <a:ahLst/>
              <a:cxnLst/>
              <a:rect l="l" t="t" r="r" b="b"/>
              <a:pathLst>
                <a:path w="1434943" h="1767756">
                  <a:moveTo>
                    <a:pt x="28420" y="0"/>
                  </a:moveTo>
                  <a:lnTo>
                    <a:pt x="1406524" y="0"/>
                  </a:lnTo>
                  <a:cubicBezTo>
                    <a:pt x="1422219" y="0"/>
                    <a:pt x="1434943" y="12724"/>
                    <a:pt x="1434943" y="28420"/>
                  </a:cubicBezTo>
                  <a:lnTo>
                    <a:pt x="1434943" y="1739337"/>
                  </a:lnTo>
                  <a:cubicBezTo>
                    <a:pt x="1434943" y="1755033"/>
                    <a:pt x="1422219" y="1767756"/>
                    <a:pt x="1406524" y="1767756"/>
                  </a:cubicBezTo>
                  <a:lnTo>
                    <a:pt x="28420" y="1767756"/>
                  </a:lnTo>
                  <a:cubicBezTo>
                    <a:pt x="12724" y="1767756"/>
                    <a:pt x="0" y="1755033"/>
                    <a:pt x="0" y="1739337"/>
                  </a:cubicBezTo>
                  <a:lnTo>
                    <a:pt x="0" y="28420"/>
                  </a:lnTo>
                  <a:cubicBezTo>
                    <a:pt x="0" y="12724"/>
                    <a:pt x="12724" y="0"/>
                    <a:pt x="28420" y="0"/>
                  </a:cubicBezTo>
                  <a:close/>
                </a:path>
              </a:pathLst>
            </a:custGeom>
            <a:solidFill>
              <a:srgbClr val="F4F6F8"/>
            </a:solidFill>
          </p:spPr>
        </p:sp>
        <p:sp>
          <p:nvSpPr>
            <p:cNvPr id="4" name="TextBox 4"/>
            <p:cNvSpPr txBox="1"/>
            <p:nvPr/>
          </p:nvSpPr>
          <p:spPr>
            <a:xfrm>
              <a:off x="0" y="-38100"/>
              <a:ext cx="1434943" cy="1805856"/>
            </a:xfrm>
            <a:prstGeom prst="rect">
              <a:avLst/>
            </a:prstGeom>
          </p:spPr>
          <p:txBody>
            <a:bodyPr lIns="50800" tIns="50800" rIns="50800" bIns="50800" rtlCol="0" anchor="ctr"/>
            <a:lstStyle/>
            <a:p>
              <a:pPr marL="0" lvl="0" indent="0" algn="ctr">
                <a:lnSpc>
                  <a:spcPts val="1923"/>
                </a:lnSpc>
              </a:pPr>
              <a:endParaRPr/>
            </a:p>
          </p:txBody>
        </p:sp>
      </p:grpSp>
      <p:grpSp>
        <p:nvGrpSpPr>
          <p:cNvPr id="5" name="Group 5"/>
          <p:cNvGrpSpPr/>
          <p:nvPr/>
        </p:nvGrpSpPr>
        <p:grpSpPr>
          <a:xfrm>
            <a:off x="6419850" y="2908300"/>
            <a:ext cx="5448300" cy="6711950"/>
            <a:chOff x="0" y="0"/>
            <a:chExt cx="1434943" cy="1767756"/>
          </a:xfrm>
        </p:grpSpPr>
        <p:sp>
          <p:nvSpPr>
            <p:cNvPr id="6" name="Freeform 6"/>
            <p:cNvSpPr/>
            <p:nvPr/>
          </p:nvSpPr>
          <p:spPr>
            <a:xfrm>
              <a:off x="0" y="0"/>
              <a:ext cx="1434943" cy="1767756"/>
            </a:xfrm>
            <a:custGeom>
              <a:avLst/>
              <a:gdLst/>
              <a:ahLst/>
              <a:cxnLst/>
              <a:rect l="l" t="t" r="r" b="b"/>
              <a:pathLst>
                <a:path w="1434943" h="1767756">
                  <a:moveTo>
                    <a:pt x="28420" y="0"/>
                  </a:moveTo>
                  <a:lnTo>
                    <a:pt x="1406524" y="0"/>
                  </a:lnTo>
                  <a:cubicBezTo>
                    <a:pt x="1422219" y="0"/>
                    <a:pt x="1434943" y="12724"/>
                    <a:pt x="1434943" y="28420"/>
                  </a:cubicBezTo>
                  <a:lnTo>
                    <a:pt x="1434943" y="1739337"/>
                  </a:lnTo>
                  <a:cubicBezTo>
                    <a:pt x="1434943" y="1755033"/>
                    <a:pt x="1422219" y="1767756"/>
                    <a:pt x="1406524" y="1767756"/>
                  </a:cubicBezTo>
                  <a:lnTo>
                    <a:pt x="28420" y="1767756"/>
                  </a:lnTo>
                  <a:cubicBezTo>
                    <a:pt x="12724" y="1767756"/>
                    <a:pt x="0" y="1755033"/>
                    <a:pt x="0" y="1739337"/>
                  </a:cubicBezTo>
                  <a:lnTo>
                    <a:pt x="0" y="28420"/>
                  </a:lnTo>
                  <a:cubicBezTo>
                    <a:pt x="0" y="12724"/>
                    <a:pt x="12724" y="0"/>
                    <a:pt x="28420" y="0"/>
                  </a:cubicBezTo>
                  <a:close/>
                </a:path>
              </a:pathLst>
            </a:custGeom>
            <a:solidFill>
              <a:srgbClr val="F4F6F8"/>
            </a:solidFill>
          </p:spPr>
        </p:sp>
        <p:sp>
          <p:nvSpPr>
            <p:cNvPr id="7" name="TextBox 7"/>
            <p:cNvSpPr txBox="1"/>
            <p:nvPr/>
          </p:nvSpPr>
          <p:spPr>
            <a:xfrm>
              <a:off x="0" y="-38100"/>
              <a:ext cx="1434943" cy="1805856"/>
            </a:xfrm>
            <a:prstGeom prst="rect">
              <a:avLst/>
            </a:prstGeom>
          </p:spPr>
          <p:txBody>
            <a:bodyPr lIns="50800" tIns="50800" rIns="50800" bIns="50800" rtlCol="0" anchor="ctr"/>
            <a:lstStyle/>
            <a:p>
              <a:pPr marL="0" lvl="0" indent="0" algn="ctr">
                <a:lnSpc>
                  <a:spcPts val="1923"/>
                </a:lnSpc>
              </a:pPr>
              <a:endParaRPr/>
            </a:p>
          </p:txBody>
        </p:sp>
      </p:grpSp>
      <p:grpSp>
        <p:nvGrpSpPr>
          <p:cNvPr id="8" name="Group 8"/>
          <p:cNvGrpSpPr/>
          <p:nvPr/>
        </p:nvGrpSpPr>
        <p:grpSpPr>
          <a:xfrm>
            <a:off x="12172950" y="2908300"/>
            <a:ext cx="5448300" cy="6711950"/>
            <a:chOff x="0" y="0"/>
            <a:chExt cx="1434943" cy="1767756"/>
          </a:xfrm>
        </p:grpSpPr>
        <p:sp>
          <p:nvSpPr>
            <p:cNvPr id="9" name="Freeform 9"/>
            <p:cNvSpPr/>
            <p:nvPr/>
          </p:nvSpPr>
          <p:spPr>
            <a:xfrm>
              <a:off x="0" y="0"/>
              <a:ext cx="1434943" cy="1767756"/>
            </a:xfrm>
            <a:custGeom>
              <a:avLst/>
              <a:gdLst/>
              <a:ahLst/>
              <a:cxnLst/>
              <a:rect l="l" t="t" r="r" b="b"/>
              <a:pathLst>
                <a:path w="1434943" h="1767756">
                  <a:moveTo>
                    <a:pt x="28420" y="0"/>
                  </a:moveTo>
                  <a:lnTo>
                    <a:pt x="1406524" y="0"/>
                  </a:lnTo>
                  <a:cubicBezTo>
                    <a:pt x="1422219" y="0"/>
                    <a:pt x="1434943" y="12724"/>
                    <a:pt x="1434943" y="28420"/>
                  </a:cubicBezTo>
                  <a:lnTo>
                    <a:pt x="1434943" y="1739337"/>
                  </a:lnTo>
                  <a:cubicBezTo>
                    <a:pt x="1434943" y="1755033"/>
                    <a:pt x="1422219" y="1767756"/>
                    <a:pt x="1406524" y="1767756"/>
                  </a:cubicBezTo>
                  <a:lnTo>
                    <a:pt x="28420" y="1767756"/>
                  </a:lnTo>
                  <a:cubicBezTo>
                    <a:pt x="12724" y="1767756"/>
                    <a:pt x="0" y="1755033"/>
                    <a:pt x="0" y="1739337"/>
                  </a:cubicBezTo>
                  <a:lnTo>
                    <a:pt x="0" y="28420"/>
                  </a:lnTo>
                  <a:cubicBezTo>
                    <a:pt x="0" y="12724"/>
                    <a:pt x="12724" y="0"/>
                    <a:pt x="28420" y="0"/>
                  </a:cubicBezTo>
                  <a:close/>
                </a:path>
              </a:pathLst>
            </a:custGeom>
            <a:solidFill>
              <a:srgbClr val="F4F6F8"/>
            </a:solidFill>
          </p:spPr>
        </p:sp>
        <p:sp>
          <p:nvSpPr>
            <p:cNvPr id="10" name="TextBox 10"/>
            <p:cNvSpPr txBox="1"/>
            <p:nvPr/>
          </p:nvSpPr>
          <p:spPr>
            <a:xfrm>
              <a:off x="0" y="-38100"/>
              <a:ext cx="1434943" cy="1805856"/>
            </a:xfrm>
            <a:prstGeom prst="rect">
              <a:avLst/>
            </a:prstGeom>
          </p:spPr>
          <p:txBody>
            <a:bodyPr lIns="50800" tIns="50800" rIns="50800" bIns="50800" rtlCol="0" anchor="ctr"/>
            <a:lstStyle/>
            <a:p>
              <a:pPr marL="0" lvl="0" indent="0" algn="ctr">
                <a:lnSpc>
                  <a:spcPts val="1923"/>
                </a:lnSpc>
              </a:pPr>
              <a:endParaRPr/>
            </a:p>
          </p:txBody>
        </p:sp>
      </p:grpSp>
      <p:grpSp>
        <p:nvGrpSpPr>
          <p:cNvPr id="11" name="Group 11"/>
          <p:cNvGrpSpPr/>
          <p:nvPr/>
        </p:nvGrpSpPr>
        <p:grpSpPr>
          <a:xfrm>
            <a:off x="1066053" y="4248150"/>
            <a:ext cx="4649694" cy="3581400"/>
            <a:chOff x="0" y="0"/>
            <a:chExt cx="1259398" cy="970044"/>
          </a:xfrm>
        </p:grpSpPr>
        <p:sp>
          <p:nvSpPr>
            <p:cNvPr id="12" name="Freeform 12"/>
            <p:cNvSpPr/>
            <p:nvPr/>
          </p:nvSpPr>
          <p:spPr>
            <a:xfrm>
              <a:off x="0" y="0"/>
              <a:ext cx="1259398" cy="970044"/>
            </a:xfrm>
            <a:custGeom>
              <a:avLst/>
              <a:gdLst/>
              <a:ahLst/>
              <a:cxnLst/>
              <a:rect l="l" t="t" r="r" b="b"/>
              <a:pathLst>
                <a:path w="1259398" h="970044">
                  <a:moveTo>
                    <a:pt x="33301" y="0"/>
                  </a:moveTo>
                  <a:lnTo>
                    <a:pt x="1226097" y="0"/>
                  </a:lnTo>
                  <a:cubicBezTo>
                    <a:pt x="1244489" y="0"/>
                    <a:pt x="1259398" y="14909"/>
                    <a:pt x="1259398" y="33301"/>
                  </a:cubicBezTo>
                  <a:lnTo>
                    <a:pt x="1259398" y="936743"/>
                  </a:lnTo>
                  <a:cubicBezTo>
                    <a:pt x="1259398" y="955135"/>
                    <a:pt x="1244489" y="970044"/>
                    <a:pt x="1226097" y="970044"/>
                  </a:cubicBezTo>
                  <a:lnTo>
                    <a:pt x="33301" y="970044"/>
                  </a:lnTo>
                  <a:cubicBezTo>
                    <a:pt x="24469" y="970044"/>
                    <a:pt x="15999" y="966535"/>
                    <a:pt x="9754" y="960290"/>
                  </a:cubicBezTo>
                  <a:cubicBezTo>
                    <a:pt x="3508" y="954045"/>
                    <a:pt x="0" y="945575"/>
                    <a:pt x="0" y="936743"/>
                  </a:cubicBezTo>
                  <a:lnTo>
                    <a:pt x="0" y="33301"/>
                  </a:lnTo>
                  <a:cubicBezTo>
                    <a:pt x="0" y="24469"/>
                    <a:pt x="3508" y="15999"/>
                    <a:pt x="9754" y="9754"/>
                  </a:cubicBezTo>
                  <a:cubicBezTo>
                    <a:pt x="15999" y="3508"/>
                    <a:pt x="24469" y="0"/>
                    <a:pt x="33301" y="0"/>
                  </a:cubicBezTo>
                  <a:close/>
                </a:path>
              </a:pathLst>
            </a:custGeom>
            <a:blipFill>
              <a:blip r:embed="rId2"/>
              <a:stretch>
                <a:fillRect l="-342" r="-342"/>
              </a:stretch>
            </a:blipFill>
          </p:spPr>
        </p:sp>
      </p:grpSp>
      <p:grpSp>
        <p:nvGrpSpPr>
          <p:cNvPr id="13" name="Group 13"/>
          <p:cNvGrpSpPr/>
          <p:nvPr/>
        </p:nvGrpSpPr>
        <p:grpSpPr>
          <a:xfrm>
            <a:off x="6819153" y="4248150"/>
            <a:ext cx="4649694" cy="3581400"/>
            <a:chOff x="0" y="0"/>
            <a:chExt cx="1259398" cy="970044"/>
          </a:xfrm>
        </p:grpSpPr>
        <p:sp>
          <p:nvSpPr>
            <p:cNvPr id="14" name="Freeform 14"/>
            <p:cNvSpPr/>
            <p:nvPr/>
          </p:nvSpPr>
          <p:spPr>
            <a:xfrm>
              <a:off x="0" y="0"/>
              <a:ext cx="1259398" cy="970044"/>
            </a:xfrm>
            <a:custGeom>
              <a:avLst/>
              <a:gdLst/>
              <a:ahLst/>
              <a:cxnLst/>
              <a:rect l="l" t="t" r="r" b="b"/>
              <a:pathLst>
                <a:path w="1259398" h="970044">
                  <a:moveTo>
                    <a:pt x="33301" y="0"/>
                  </a:moveTo>
                  <a:lnTo>
                    <a:pt x="1226097" y="0"/>
                  </a:lnTo>
                  <a:cubicBezTo>
                    <a:pt x="1244489" y="0"/>
                    <a:pt x="1259398" y="14909"/>
                    <a:pt x="1259398" y="33301"/>
                  </a:cubicBezTo>
                  <a:lnTo>
                    <a:pt x="1259398" y="936743"/>
                  </a:lnTo>
                  <a:cubicBezTo>
                    <a:pt x="1259398" y="955135"/>
                    <a:pt x="1244489" y="970044"/>
                    <a:pt x="1226097" y="970044"/>
                  </a:cubicBezTo>
                  <a:lnTo>
                    <a:pt x="33301" y="970044"/>
                  </a:lnTo>
                  <a:cubicBezTo>
                    <a:pt x="24469" y="970044"/>
                    <a:pt x="15999" y="966535"/>
                    <a:pt x="9754" y="960290"/>
                  </a:cubicBezTo>
                  <a:cubicBezTo>
                    <a:pt x="3508" y="954045"/>
                    <a:pt x="0" y="945575"/>
                    <a:pt x="0" y="936743"/>
                  </a:cubicBezTo>
                  <a:lnTo>
                    <a:pt x="0" y="33301"/>
                  </a:lnTo>
                  <a:cubicBezTo>
                    <a:pt x="0" y="24469"/>
                    <a:pt x="3508" y="15999"/>
                    <a:pt x="9754" y="9754"/>
                  </a:cubicBezTo>
                  <a:cubicBezTo>
                    <a:pt x="15999" y="3508"/>
                    <a:pt x="24469" y="0"/>
                    <a:pt x="33301" y="0"/>
                  </a:cubicBezTo>
                  <a:close/>
                </a:path>
              </a:pathLst>
            </a:custGeom>
            <a:blipFill>
              <a:blip r:embed="rId3"/>
              <a:stretch>
                <a:fillRect l="-342" r="-342"/>
              </a:stretch>
            </a:blipFill>
          </p:spPr>
        </p:sp>
      </p:grpSp>
      <p:grpSp>
        <p:nvGrpSpPr>
          <p:cNvPr id="15" name="Group 15"/>
          <p:cNvGrpSpPr/>
          <p:nvPr/>
        </p:nvGrpSpPr>
        <p:grpSpPr>
          <a:xfrm>
            <a:off x="12572253" y="4248150"/>
            <a:ext cx="4649694" cy="3581400"/>
            <a:chOff x="0" y="0"/>
            <a:chExt cx="1259398" cy="970044"/>
          </a:xfrm>
        </p:grpSpPr>
        <p:sp>
          <p:nvSpPr>
            <p:cNvPr id="16" name="Freeform 16"/>
            <p:cNvSpPr/>
            <p:nvPr/>
          </p:nvSpPr>
          <p:spPr>
            <a:xfrm>
              <a:off x="0" y="0"/>
              <a:ext cx="1259398" cy="970044"/>
            </a:xfrm>
            <a:custGeom>
              <a:avLst/>
              <a:gdLst/>
              <a:ahLst/>
              <a:cxnLst/>
              <a:rect l="l" t="t" r="r" b="b"/>
              <a:pathLst>
                <a:path w="1259398" h="970044">
                  <a:moveTo>
                    <a:pt x="33301" y="0"/>
                  </a:moveTo>
                  <a:lnTo>
                    <a:pt x="1226097" y="0"/>
                  </a:lnTo>
                  <a:cubicBezTo>
                    <a:pt x="1244489" y="0"/>
                    <a:pt x="1259398" y="14909"/>
                    <a:pt x="1259398" y="33301"/>
                  </a:cubicBezTo>
                  <a:lnTo>
                    <a:pt x="1259398" y="936743"/>
                  </a:lnTo>
                  <a:cubicBezTo>
                    <a:pt x="1259398" y="955135"/>
                    <a:pt x="1244489" y="970044"/>
                    <a:pt x="1226097" y="970044"/>
                  </a:cubicBezTo>
                  <a:lnTo>
                    <a:pt x="33301" y="970044"/>
                  </a:lnTo>
                  <a:cubicBezTo>
                    <a:pt x="24469" y="970044"/>
                    <a:pt x="15999" y="966535"/>
                    <a:pt x="9754" y="960290"/>
                  </a:cubicBezTo>
                  <a:cubicBezTo>
                    <a:pt x="3508" y="954045"/>
                    <a:pt x="0" y="945575"/>
                    <a:pt x="0" y="936743"/>
                  </a:cubicBezTo>
                  <a:lnTo>
                    <a:pt x="0" y="33301"/>
                  </a:lnTo>
                  <a:cubicBezTo>
                    <a:pt x="0" y="24469"/>
                    <a:pt x="3508" y="15999"/>
                    <a:pt x="9754" y="9754"/>
                  </a:cubicBezTo>
                  <a:cubicBezTo>
                    <a:pt x="15999" y="3508"/>
                    <a:pt x="24469" y="0"/>
                    <a:pt x="33301" y="0"/>
                  </a:cubicBezTo>
                  <a:close/>
                </a:path>
              </a:pathLst>
            </a:custGeom>
            <a:blipFill>
              <a:blip r:embed="rId4"/>
              <a:stretch>
                <a:fillRect l="-342" r="-342"/>
              </a:stretch>
            </a:blipFill>
          </p:spPr>
        </p:sp>
      </p:grpSp>
      <p:sp>
        <p:nvSpPr>
          <p:cNvPr id="17" name="TextBox 17"/>
          <p:cNvSpPr txBox="1"/>
          <p:nvPr/>
        </p:nvSpPr>
        <p:spPr>
          <a:xfrm>
            <a:off x="1021783" y="8273471"/>
            <a:ext cx="4738234" cy="683577"/>
          </a:xfrm>
          <a:prstGeom prst="rect">
            <a:avLst/>
          </a:prstGeom>
        </p:spPr>
        <p:txBody>
          <a:bodyPr lIns="0" tIns="0" rIns="0" bIns="0" rtlCol="0" anchor="t">
            <a:spAutoFit/>
          </a:bodyPr>
          <a:lstStyle/>
          <a:p>
            <a:pPr marL="0" lvl="0" indent="0" algn="ctr">
              <a:lnSpc>
                <a:spcPts val="2747"/>
              </a:lnSpc>
            </a:pPr>
            <a:r>
              <a:rPr lang="en-US" sz="1962" spc="-29">
                <a:solidFill>
                  <a:srgbClr val="1C1C1C"/>
                </a:solidFill>
                <a:latin typeface="Helvetica World"/>
                <a:ea typeface="Helvetica World"/>
                <a:cs typeface="Helvetica World"/>
                <a:sym typeface="Helvetica World"/>
              </a:rPr>
              <a:t>Compare adjacent elements to determine if they need swapping for sorting.</a:t>
            </a:r>
          </a:p>
        </p:txBody>
      </p:sp>
      <p:sp>
        <p:nvSpPr>
          <p:cNvPr id="18" name="TextBox 18"/>
          <p:cNvSpPr txBox="1"/>
          <p:nvPr/>
        </p:nvSpPr>
        <p:spPr>
          <a:xfrm>
            <a:off x="1041066" y="3381375"/>
            <a:ext cx="4699667" cy="543561"/>
          </a:xfrm>
          <a:prstGeom prst="rect">
            <a:avLst/>
          </a:prstGeom>
        </p:spPr>
        <p:txBody>
          <a:bodyPr lIns="0" tIns="0" rIns="0" bIns="0" rtlCol="0" anchor="t">
            <a:spAutoFit/>
          </a:bodyPr>
          <a:lstStyle/>
          <a:p>
            <a:pPr marL="0" lvl="0" indent="0" algn="ctr">
              <a:lnSpc>
                <a:spcPts val="4180"/>
              </a:lnSpc>
              <a:spcBef>
                <a:spcPct val="0"/>
              </a:spcBef>
            </a:pPr>
            <a:r>
              <a:rPr lang="en-US" sz="3800" u="none" strike="noStrike" spc="-95">
                <a:solidFill>
                  <a:srgbClr val="2A3A66"/>
                </a:solidFill>
                <a:latin typeface="Georgia Pro Condensed"/>
                <a:ea typeface="Georgia Pro Condensed"/>
                <a:cs typeface="Georgia Pro Condensed"/>
                <a:sym typeface="Georgia Pro Condensed"/>
              </a:rPr>
              <a:t>Compare Elements</a:t>
            </a:r>
          </a:p>
        </p:txBody>
      </p:sp>
      <p:sp>
        <p:nvSpPr>
          <p:cNvPr id="19" name="TextBox 19"/>
          <p:cNvSpPr txBox="1"/>
          <p:nvPr/>
        </p:nvSpPr>
        <p:spPr>
          <a:xfrm>
            <a:off x="6773192" y="8273471"/>
            <a:ext cx="4741615" cy="683577"/>
          </a:xfrm>
          <a:prstGeom prst="rect">
            <a:avLst/>
          </a:prstGeom>
        </p:spPr>
        <p:txBody>
          <a:bodyPr lIns="0" tIns="0" rIns="0" bIns="0" rtlCol="0" anchor="t">
            <a:spAutoFit/>
          </a:bodyPr>
          <a:lstStyle/>
          <a:p>
            <a:pPr marL="0" lvl="0" indent="0" algn="ctr">
              <a:lnSpc>
                <a:spcPts val="2747"/>
              </a:lnSpc>
            </a:pPr>
            <a:r>
              <a:rPr lang="en-US" sz="1962" spc="-29">
                <a:solidFill>
                  <a:srgbClr val="1C1C1C"/>
                </a:solidFill>
                <a:latin typeface="Helvetica World"/>
                <a:ea typeface="Helvetica World"/>
                <a:cs typeface="Helvetica World"/>
                <a:sym typeface="Helvetica World"/>
              </a:rPr>
              <a:t>Elements are swapped if they are in the wrong order, ensuring sorting progress.</a:t>
            </a:r>
          </a:p>
        </p:txBody>
      </p:sp>
      <p:sp>
        <p:nvSpPr>
          <p:cNvPr id="20" name="TextBox 20"/>
          <p:cNvSpPr txBox="1"/>
          <p:nvPr/>
        </p:nvSpPr>
        <p:spPr>
          <a:xfrm>
            <a:off x="6773192" y="3381375"/>
            <a:ext cx="4741615" cy="543561"/>
          </a:xfrm>
          <a:prstGeom prst="rect">
            <a:avLst/>
          </a:prstGeom>
        </p:spPr>
        <p:txBody>
          <a:bodyPr lIns="0" tIns="0" rIns="0" bIns="0" rtlCol="0" anchor="t">
            <a:spAutoFit/>
          </a:bodyPr>
          <a:lstStyle/>
          <a:p>
            <a:pPr marL="0" lvl="0" indent="0" algn="ctr">
              <a:lnSpc>
                <a:spcPts val="4180"/>
              </a:lnSpc>
              <a:spcBef>
                <a:spcPct val="0"/>
              </a:spcBef>
            </a:pPr>
            <a:r>
              <a:rPr lang="en-US" sz="3800" u="none" strike="noStrike" spc="-95">
                <a:solidFill>
                  <a:srgbClr val="2A3A66"/>
                </a:solidFill>
                <a:latin typeface="Georgia Pro Condensed"/>
                <a:ea typeface="Georgia Pro Condensed"/>
                <a:cs typeface="Georgia Pro Condensed"/>
                <a:sym typeface="Georgia Pro Condensed"/>
              </a:rPr>
              <a:t>Swap if Needed</a:t>
            </a:r>
          </a:p>
        </p:txBody>
      </p:sp>
      <p:sp>
        <p:nvSpPr>
          <p:cNvPr id="21" name="TextBox 21"/>
          <p:cNvSpPr txBox="1"/>
          <p:nvPr/>
        </p:nvSpPr>
        <p:spPr>
          <a:xfrm>
            <a:off x="12551109" y="8272319"/>
            <a:ext cx="4691983" cy="683577"/>
          </a:xfrm>
          <a:prstGeom prst="rect">
            <a:avLst/>
          </a:prstGeom>
        </p:spPr>
        <p:txBody>
          <a:bodyPr lIns="0" tIns="0" rIns="0" bIns="0" rtlCol="0" anchor="t">
            <a:spAutoFit/>
          </a:bodyPr>
          <a:lstStyle/>
          <a:p>
            <a:pPr marL="0" lvl="0" indent="0" algn="ctr">
              <a:lnSpc>
                <a:spcPts val="2747"/>
              </a:lnSpc>
            </a:pPr>
            <a:r>
              <a:rPr lang="en-US" sz="1962" spc="-29">
                <a:solidFill>
                  <a:srgbClr val="1C1C1C"/>
                </a:solidFill>
                <a:latin typeface="Helvetica World"/>
                <a:ea typeface="Helvetica World"/>
                <a:cs typeface="Helvetica World"/>
                <a:sym typeface="Helvetica World"/>
              </a:rPr>
              <a:t>The sorting process continues with repeated passes until the entire list is sorted.</a:t>
            </a:r>
          </a:p>
        </p:txBody>
      </p:sp>
      <p:sp>
        <p:nvSpPr>
          <p:cNvPr id="22" name="TextBox 22"/>
          <p:cNvSpPr txBox="1"/>
          <p:nvPr/>
        </p:nvSpPr>
        <p:spPr>
          <a:xfrm>
            <a:off x="12551109" y="3381375"/>
            <a:ext cx="4691983" cy="543561"/>
          </a:xfrm>
          <a:prstGeom prst="rect">
            <a:avLst/>
          </a:prstGeom>
        </p:spPr>
        <p:txBody>
          <a:bodyPr lIns="0" tIns="0" rIns="0" bIns="0" rtlCol="0" anchor="t">
            <a:spAutoFit/>
          </a:bodyPr>
          <a:lstStyle/>
          <a:p>
            <a:pPr marL="0" lvl="0" indent="0" algn="ctr">
              <a:lnSpc>
                <a:spcPts val="4180"/>
              </a:lnSpc>
            </a:pPr>
            <a:r>
              <a:rPr lang="en-US" sz="3800" spc="-95">
                <a:solidFill>
                  <a:srgbClr val="2A3A66"/>
                </a:solidFill>
                <a:latin typeface="Georgia Pro Condensed"/>
                <a:ea typeface="Georgia Pro Condensed"/>
                <a:cs typeface="Georgia Pro Condensed"/>
                <a:sym typeface="Georgia Pro Condensed"/>
              </a:rPr>
              <a:t>Repeat Passes</a:t>
            </a:r>
          </a:p>
        </p:txBody>
      </p:sp>
      <p:sp>
        <p:nvSpPr>
          <p:cNvPr id="23" name="TextBox 23"/>
          <p:cNvSpPr txBox="1"/>
          <p:nvPr/>
        </p:nvSpPr>
        <p:spPr>
          <a:xfrm>
            <a:off x="666750" y="809625"/>
            <a:ext cx="16954500" cy="1069976"/>
          </a:xfrm>
          <a:prstGeom prst="rect">
            <a:avLst/>
          </a:prstGeom>
        </p:spPr>
        <p:txBody>
          <a:bodyPr lIns="0" tIns="0" rIns="0" bIns="0" rtlCol="0" anchor="t">
            <a:spAutoFit/>
          </a:bodyPr>
          <a:lstStyle/>
          <a:p>
            <a:pPr marL="0" lvl="0" indent="0" algn="ctr">
              <a:lnSpc>
                <a:spcPts val="8000"/>
              </a:lnSpc>
            </a:pPr>
            <a:r>
              <a:rPr lang="en-US" sz="8000" spc="-200">
                <a:solidFill>
                  <a:srgbClr val="F4F6F8"/>
                </a:solidFill>
                <a:latin typeface="Georgia Pro Condensed"/>
                <a:ea typeface="Georgia Pro Condensed"/>
                <a:cs typeface="Georgia Pro Condensed"/>
                <a:sym typeface="Georgia Pro Condensed"/>
              </a:rPr>
              <a:t>Bubble Sort Steps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A3A66"/>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457450"/>
            <a:chOff x="0" y="0"/>
            <a:chExt cx="4816593" cy="647230"/>
          </a:xfrm>
        </p:grpSpPr>
        <p:sp>
          <p:nvSpPr>
            <p:cNvPr id="3" name="Freeform 3"/>
            <p:cNvSpPr/>
            <p:nvPr/>
          </p:nvSpPr>
          <p:spPr>
            <a:xfrm>
              <a:off x="0" y="0"/>
              <a:ext cx="4816592" cy="647230"/>
            </a:xfrm>
            <a:custGeom>
              <a:avLst/>
              <a:gdLst/>
              <a:ahLst/>
              <a:cxnLst/>
              <a:rect l="l" t="t" r="r" b="b"/>
              <a:pathLst>
                <a:path w="4816592" h="647230">
                  <a:moveTo>
                    <a:pt x="0" y="0"/>
                  </a:moveTo>
                  <a:lnTo>
                    <a:pt x="4816592" y="0"/>
                  </a:lnTo>
                  <a:lnTo>
                    <a:pt x="4816592" y="647230"/>
                  </a:lnTo>
                  <a:lnTo>
                    <a:pt x="0" y="647230"/>
                  </a:lnTo>
                  <a:close/>
                </a:path>
              </a:pathLst>
            </a:custGeom>
            <a:solidFill>
              <a:srgbClr val="F4F6F8"/>
            </a:solidFill>
          </p:spPr>
        </p:sp>
        <p:sp>
          <p:nvSpPr>
            <p:cNvPr id="4" name="TextBox 4"/>
            <p:cNvSpPr txBox="1"/>
            <p:nvPr/>
          </p:nvSpPr>
          <p:spPr>
            <a:xfrm>
              <a:off x="0" y="-57150"/>
              <a:ext cx="4816593" cy="704380"/>
            </a:xfrm>
            <a:prstGeom prst="rect">
              <a:avLst/>
            </a:prstGeom>
          </p:spPr>
          <p:txBody>
            <a:bodyPr lIns="50800" tIns="50800" rIns="50800" bIns="50800" rtlCol="0" anchor="ctr"/>
            <a:lstStyle/>
            <a:p>
              <a:pPr marL="0" lvl="0" indent="0" algn="ctr">
                <a:lnSpc>
                  <a:spcPts val="2800"/>
                </a:lnSpc>
              </a:pPr>
              <a:endParaRPr/>
            </a:p>
          </p:txBody>
        </p:sp>
      </p:grpSp>
      <p:grpSp>
        <p:nvGrpSpPr>
          <p:cNvPr id="5" name="Group 5"/>
          <p:cNvGrpSpPr/>
          <p:nvPr/>
        </p:nvGrpSpPr>
        <p:grpSpPr>
          <a:xfrm>
            <a:off x="666750" y="3352800"/>
            <a:ext cx="11201400" cy="6267450"/>
            <a:chOff x="0" y="0"/>
            <a:chExt cx="1471052" cy="823089"/>
          </a:xfrm>
        </p:grpSpPr>
        <p:sp>
          <p:nvSpPr>
            <p:cNvPr id="6" name="Freeform 6"/>
            <p:cNvSpPr/>
            <p:nvPr/>
          </p:nvSpPr>
          <p:spPr>
            <a:xfrm>
              <a:off x="0" y="0"/>
              <a:ext cx="1471052" cy="823089"/>
            </a:xfrm>
            <a:custGeom>
              <a:avLst/>
              <a:gdLst/>
              <a:ahLst/>
              <a:cxnLst/>
              <a:rect l="l" t="t" r="r" b="b"/>
              <a:pathLst>
                <a:path w="1471052" h="823089">
                  <a:moveTo>
                    <a:pt x="13823" y="0"/>
                  </a:moveTo>
                  <a:lnTo>
                    <a:pt x="1457229" y="0"/>
                  </a:lnTo>
                  <a:cubicBezTo>
                    <a:pt x="1460895" y="0"/>
                    <a:pt x="1464411" y="1456"/>
                    <a:pt x="1467004" y="4049"/>
                  </a:cubicBezTo>
                  <a:cubicBezTo>
                    <a:pt x="1469596" y="6641"/>
                    <a:pt x="1471052" y="10157"/>
                    <a:pt x="1471052" y="13823"/>
                  </a:cubicBezTo>
                  <a:lnTo>
                    <a:pt x="1471052" y="809266"/>
                  </a:lnTo>
                  <a:cubicBezTo>
                    <a:pt x="1471052" y="812932"/>
                    <a:pt x="1469596" y="816448"/>
                    <a:pt x="1467004" y="819040"/>
                  </a:cubicBezTo>
                  <a:cubicBezTo>
                    <a:pt x="1464411" y="821632"/>
                    <a:pt x="1460895" y="823089"/>
                    <a:pt x="1457229" y="823089"/>
                  </a:cubicBezTo>
                  <a:lnTo>
                    <a:pt x="13823" y="823089"/>
                  </a:lnTo>
                  <a:cubicBezTo>
                    <a:pt x="10157" y="823089"/>
                    <a:pt x="6641" y="821632"/>
                    <a:pt x="4049" y="819040"/>
                  </a:cubicBezTo>
                  <a:cubicBezTo>
                    <a:pt x="1456" y="816448"/>
                    <a:pt x="0" y="812932"/>
                    <a:pt x="0" y="809266"/>
                  </a:cubicBezTo>
                  <a:lnTo>
                    <a:pt x="0" y="13823"/>
                  </a:lnTo>
                  <a:cubicBezTo>
                    <a:pt x="0" y="10157"/>
                    <a:pt x="1456" y="6641"/>
                    <a:pt x="4049" y="4049"/>
                  </a:cubicBezTo>
                  <a:cubicBezTo>
                    <a:pt x="6641" y="1456"/>
                    <a:pt x="10157" y="0"/>
                    <a:pt x="13823" y="0"/>
                  </a:cubicBezTo>
                  <a:close/>
                </a:path>
              </a:pathLst>
            </a:custGeom>
            <a:blipFill>
              <a:blip r:embed="rId2"/>
              <a:stretch>
                <a:fillRect l="-521" r="-521"/>
              </a:stretch>
            </a:blipFill>
          </p:spPr>
        </p:sp>
      </p:grpSp>
      <p:grpSp>
        <p:nvGrpSpPr>
          <p:cNvPr id="7" name="Group 7"/>
          <p:cNvGrpSpPr/>
          <p:nvPr/>
        </p:nvGrpSpPr>
        <p:grpSpPr>
          <a:xfrm>
            <a:off x="12172950" y="3352800"/>
            <a:ext cx="5448300" cy="6267450"/>
            <a:chOff x="0" y="0"/>
            <a:chExt cx="715512" cy="823089"/>
          </a:xfrm>
        </p:grpSpPr>
        <p:sp>
          <p:nvSpPr>
            <p:cNvPr id="8" name="Freeform 8"/>
            <p:cNvSpPr/>
            <p:nvPr/>
          </p:nvSpPr>
          <p:spPr>
            <a:xfrm>
              <a:off x="0" y="0"/>
              <a:ext cx="715512" cy="823089"/>
            </a:xfrm>
            <a:custGeom>
              <a:avLst/>
              <a:gdLst/>
              <a:ahLst/>
              <a:cxnLst/>
              <a:rect l="l" t="t" r="r" b="b"/>
              <a:pathLst>
                <a:path w="715512" h="823089">
                  <a:moveTo>
                    <a:pt x="28420" y="0"/>
                  </a:moveTo>
                  <a:lnTo>
                    <a:pt x="687092" y="0"/>
                  </a:lnTo>
                  <a:cubicBezTo>
                    <a:pt x="702788" y="0"/>
                    <a:pt x="715512" y="12724"/>
                    <a:pt x="715512" y="28420"/>
                  </a:cubicBezTo>
                  <a:lnTo>
                    <a:pt x="715512" y="794669"/>
                  </a:lnTo>
                  <a:cubicBezTo>
                    <a:pt x="715512" y="802206"/>
                    <a:pt x="712518" y="809435"/>
                    <a:pt x="707188" y="814765"/>
                  </a:cubicBezTo>
                  <a:cubicBezTo>
                    <a:pt x="701858" y="820095"/>
                    <a:pt x="694630" y="823089"/>
                    <a:pt x="687092" y="823089"/>
                  </a:cubicBezTo>
                  <a:lnTo>
                    <a:pt x="28420" y="823089"/>
                  </a:lnTo>
                  <a:cubicBezTo>
                    <a:pt x="12724" y="823089"/>
                    <a:pt x="0" y="810365"/>
                    <a:pt x="0" y="794669"/>
                  </a:cubicBezTo>
                  <a:lnTo>
                    <a:pt x="0" y="28420"/>
                  </a:lnTo>
                  <a:cubicBezTo>
                    <a:pt x="0" y="12724"/>
                    <a:pt x="12724" y="0"/>
                    <a:pt x="28420" y="0"/>
                  </a:cubicBezTo>
                  <a:close/>
                </a:path>
              </a:pathLst>
            </a:custGeom>
            <a:blipFill>
              <a:blip r:embed="rId3"/>
              <a:stretch>
                <a:fillRect t="-103" b="-103"/>
              </a:stretch>
            </a:blipFill>
          </p:spPr>
        </p:sp>
      </p:grpSp>
      <p:sp>
        <p:nvSpPr>
          <p:cNvPr id="9" name="TextBox 9"/>
          <p:cNvSpPr txBox="1"/>
          <p:nvPr/>
        </p:nvSpPr>
        <p:spPr>
          <a:xfrm>
            <a:off x="666750" y="809625"/>
            <a:ext cx="16954500" cy="1069976"/>
          </a:xfrm>
          <a:prstGeom prst="rect">
            <a:avLst/>
          </a:prstGeom>
        </p:spPr>
        <p:txBody>
          <a:bodyPr lIns="0" tIns="0" rIns="0" bIns="0" rtlCol="0" anchor="t">
            <a:spAutoFit/>
          </a:bodyPr>
          <a:lstStyle/>
          <a:p>
            <a:pPr marL="0" lvl="0" indent="0" algn="l">
              <a:lnSpc>
                <a:spcPts val="8000"/>
              </a:lnSpc>
            </a:pPr>
            <a:r>
              <a:rPr lang="en-US" sz="8000" spc="-240">
                <a:solidFill>
                  <a:srgbClr val="2A3A66"/>
                </a:solidFill>
                <a:latin typeface="Georgia Pro Condensed"/>
                <a:ea typeface="Georgia Pro Condensed"/>
                <a:cs typeface="Georgia Pro Condensed"/>
                <a:sym typeface="Georgia Pro Condensed"/>
              </a:rPr>
              <a:t>Tracing Bubble Sort Steps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7858125" cy="10287000"/>
            <a:chOff x="0" y="0"/>
            <a:chExt cx="2069630" cy="2709333"/>
          </a:xfrm>
        </p:grpSpPr>
        <p:sp>
          <p:nvSpPr>
            <p:cNvPr id="3" name="Freeform 3"/>
            <p:cNvSpPr/>
            <p:nvPr/>
          </p:nvSpPr>
          <p:spPr>
            <a:xfrm>
              <a:off x="0" y="0"/>
              <a:ext cx="2069630" cy="2709333"/>
            </a:xfrm>
            <a:custGeom>
              <a:avLst/>
              <a:gdLst/>
              <a:ahLst/>
              <a:cxnLst/>
              <a:rect l="l" t="t" r="r" b="b"/>
              <a:pathLst>
                <a:path w="2069630" h="2709333">
                  <a:moveTo>
                    <a:pt x="0" y="0"/>
                  </a:moveTo>
                  <a:lnTo>
                    <a:pt x="2069630" y="0"/>
                  </a:lnTo>
                  <a:lnTo>
                    <a:pt x="2069630" y="2709333"/>
                  </a:lnTo>
                  <a:lnTo>
                    <a:pt x="0" y="2709333"/>
                  </a:lnTo>
                  <a:close/>
                </a:path>
              </a:pathLst>
            </a:custGeom>
            <a:solidFill>
              <a:srgbClr val="A9BCEB"/>
            </a:solidFill>
            <a:ln cap="sq">
              <a:noFill/>
              <a:prstDash val="solid"/>
              <a:miter/>
            </a:ln>
          </p:spPr>
        </p:sp>
        <p:sp>
          <p:nvSpPr>
            <p:cNvPr id="4" name="TextBox 4"/>
            <p:cNvSpPr txBox="1"/>
            <p:nvPr/>
          </p:nvSpPr>
          <p:spPr>
            <a:xfrm>
              <a:off x="0" y="-57150"/>
              <a:ext cx="2069630" cy="2766483"/>
            </a:xfrm>
            <a:prstGeom prst="rect">
              <a:avLst/>
            </a:prstGeom>
          </p:spPr>
          <p:txBody>
            <a:bodyPr lIns="50800" tIns="50800" rIns="50800" bIns="50800" rtlCol="0" anchor="ctr"/>
            <a:lstStyle/>
            <a:p>
              <a:pPr marL="0" lvl="0" indent="0" algn="ctr">
                <a:lnSpc>
                  <a:spcPts val="3359"/>
                </a:lnSpc>
              </a:pPr>
              <a:endParaRPr/>
            </a:p>
          </p:txBody>
        </p:sp>
      </p:grpSp>
      <p:sp>
        <p:nvSpPr>
          <p:cNvPr id="5" name="TextBox 5"/>
          <p:cNvSpPr txBox="1"/>
          <p:nvPr/>
        </p:nvSpPr>
        <p:spPr>
          <a:xfrm>
            <a:off x="666750" y="809625"/>
            <a:ext cx="5448300" cy="3089279"/>
          </a:xfrm>
          <a:prstGeom prst="rect">
            <a:avLst/>
          </a:prstGeom>
        </p:spPr>
        <p:txBody>
          <a:bodyPr lIns="0" tIns="0" rIns="0" bIns="0" rtlCol="0" anchor="t">
            <a:spAutoFit/>
          </a:bodyPr>
          <a:lstStyle/>
          <a:p>
            <a:pPr marL="0" lvl="0" indent="0" algn="l">
              <a:lnSpc>
                <a:spcPts val="8000"/>
              </a:lnSpc>
            </a:pPr>
            <a:r>
              <a:rPr lang="en-US" sz="8000">
                <a:solidFill>
                  <a:srgbClr val="2A3A66"/>
                </a:solidFill>
                <a:latin typeface="Georgia Pro Condensed"/>
                <a:ea typeface="Georgia Pro Condensed"/>
                <a:cs typeface="Georgia Pro Condensed"/>
                <a:sym typeface="Georgia Pro Condensed"/>
              </a:rPr>
              <a:t>Key Takeaways and Insights</a:t>
            </a:r>
          </a:p>
        </p:txBody>
      </p:sp>
      <p:sp>
        <p:nvSpPr>
          <p:cNvPr id="6" name="Freeform 6"/>
          <p:cNvSpPr/>
          <p:nvPr/>
        </p:nvSpPr>
        <p:spPr>
          <a:xfrm>
            <a:off x="708153" y="7606302"/>
            <a:ext cx="2112604" cy="1859092"/>
          </a:xfrm>
          <a:custGeom>
            <a:avLst/>
            <a:gdLst/>
            <a:ahLst/>
            <a:cxnLst/>
            <a:rect l="l" t="t" r="r" b="b"/>
            <a:pathLst>
              <a:path w="2112604" h="1859092">
                <a:moveTo>
                  <a:pt x="0" y="0"/>
                </a:moveTo>
                <a:lnTo>
                  <a:pt x="2112604" y="0"/>
                </a:lnTo>
                <a:lnTo>
                  <a:pt x="2112604" y="1859092"/>
                </a:lnTo>
                <a:lnTo>
                  <a:pt x="0" y="185909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7" name="Group 7"/>
          <p:cNvGrpSpPr/>
          <p:nvPr/>
        </p:nvGrpSpPr>
        <p:grpSpPr>
          <a:xfrm>
            <a:off x="10734675" y="6944836"/>
            <a:ext cx="6886575" cy="1837373"/>
            <a:chOff x="0" y="0"/>
            <a:chExt cx="9182100" cy="2449830"/>
          </a:xfrm>
        </p:grpSpPr>
        <p:sp>
          <p:nvSpPr>
            <p:cNvPr id="8" name="TextBox 8"/>
            <p:cNvSpPr txBox="1"/>
            <p:nvPr/>
          </p:nvSpPr>
          <p:spPr>
            <a:xfrm>
              <a:off x="0" y="-9525"/>
              <a:ext cx="9182100" cy="669925"/>
            </a:xfrm>
            <a:prstGeom prst="rect">
              <a:avLst/>
            </a:prstGeom>
          </p:spPr>
          <p:txBody>
            <a:bodyPr lIns="0" tIns="0" rIns="0" bIns="0" rtlCol="0" anchor="t">
              <a:spAutoFit/>
            </a:bodyPr>
            <a:lstStyle/>
            <a:p>
              <a:pPr marL="0" lvl="0" indent="0" algn="l">
                <a:lnSpc>
                  <a:spcPts val="3600"/>
                </a:lnSpc>
                <a:spcBef>
                  <a:spcPct val="0"/>
                </a:spcBef>
              </a:pPr>
              <a:r>
                <a:rPr lang="en-US" sz="3000" b="1" spc="-44">
                  <a:solidFill>
                    <a:srgbClr val="2A3A66"/>
                  </a:solidFill>
                  <a:latin typeface="Helvetica World Bold"/>
                  <a:ea typeface="Helvetica World Bold"/>
                  <a:cs typeface="Helvetica World Bold"/>
                  <a:sym typeface="Helvetica World Bold"/>
                </a:rPr>
                <a:t>Tracing Importance</a:t>
              </a:r>
            </a:p>
          </p:txBody>
        </p:sp>
        <p:sp>
          <p:nvSpPr>
            <p:cNvPr id="9" name="TextBox 9"/>
            <p:cNvSpPr txBox="1"/>
            <p:nvPr/>
          </p:nvSpPr>
          <p:spPr>
            <a:xfrm>
              <a:off x="0" y="1295189"/>
              <a:ext cx="9182100" cy="1154642"/>
            </a:xfrm>
            <a:prstGeom prst="rect">
              <a:avLst/>
            </a:prstGeom>
          </p:spPr>
          <p:txBody>
            <a:bodyPr lIns="0" tIns="0" rIns="0" bIns="0" rtlCol="0" anchor="t">
              <a:spAutoFit/>
            </a:bodyPr>
            <a:lstStyle/>
            <a:p>
              <a:pPr marL="0" lvl="0" indent="0" algn="l">
                <a:lnSpc>
                  <a:spcPts val="3249"/>
                </a:lnSpc>
                <a:spcBef>
                  <a:spcPct val="0"/>
                </a:spcBef>
              </a:pPr>
              <a:r>
                <a:rPr lang="en-US" sz="2499" u="none" strike="noStrike" spc="-37">
                  <a:solidFill>
                    <a:srgbClr val="1C1C1C"/>
                  </a:solidFill>
                  <a:latin typeface="Helvetica World"/>
                  <a:ea typeface="Helvetica World"/>
                  <a:cs typeface="Helvetica World"/>
                  <a:sym typeface="Helvetica World"/>
                </a:rPr>
                <a:t>Understanding algorithms requires </a:t>
              </a:r>
              <a:r>
                <a:rPr lang="en-US" sz="2499" b="1" u="none" strike="noStrike" spc="-37">
                  <a:solidFill>
                    <a:srgbClr val="1C1C1C"/>
                  </a:solidFill>
                  <a:latin typeface="Helvetica World Bold"/>
                  <a:ea typeface="Helvetica World Bold"/>
                  <a:cs typeface="Helvetica World Bold"/>
                  <a:sym typeface="Helvetica World Bold"/>
                </a:rPr>
                <a:t>step-by-step tracing practice.</a:t>
              </a:r>
            </a:p>
          </p:txBody>
        </p:sp>
      </p:grpSp>
      <p:sp>
        <p:nvSpPr>
          <p:cNvPr id="10" name="TextBox 10"/>
          <p:cNvSpPr txBox="1"/>
          <p:nvPr/>
        </p:nvSpPr>
        <p:spPr>
          <a:xfrm>
            <a:off x="9296400" y="4250055"/>
            <a:ext cx="864987" cy="428625"/>
          </a:xfrm>
          <a:prstGeom prst="rect">
            <a:avLst/>
          </a:prstGeom>
        </p:spPr>
        <p:txBody>
          <a:bodyPr lIns="0" tIns="0" rIns="0" bIns="0" rtlCol="0" anchor="t">
            <a:spAutoFit/>
          </a:bodyPr>
          <a:lstStyle/>
          <a:p>
            <a:pPr marL="0" lvl="0" indent="0" algn="l">
              <a:lnSpc>
                <a:spcPts val="3359"/>
              </a:lnSpc>
              <a:spcBef>
                <a:spcPct val="0"/>
              </a:spcBef>
            </a:pPr>
            <a:r>
              <a:rPr lang="en-US" sz="2799" u="none">
                <a:solidFill>
                  <a:srgbClr val="1C1C1C"/>
                </a:solidFill>
                <a:latin typeface="Georgia Pro Condensed"/>
                <a:ea typeface="Georgia Pro Condensed"/>
                <a:cs typeface="Georgia Pro Condensed"/>
                <a:sym typeface="Georgia Pro Condensed"/>
              </a:rPr>
              <a:t>02</a:t>
            </a:r>
          </a:p>
        </p:txBody>
      </p:sp>
      <p:sp>
        <p:nvSpPr>
          <p:cNvPr id="11" name="TextBox 11"/>
          <p:cNvSpPr txBox="1"/>
          <p:nvPr/>
        </p:nvSpPr>
        <p:spPr>
          <a:xfrm>
            <a:off x="9296400" y="1553369"/>
            <a:ext cx="864987" cy="428625"/>
          </a:xfrm>
          <a:prstGeom prst="rect">
            <a:avLst/>
          </a:prstGeom>
        </p:spPr>
        <p:txBody>
          <a:bodyPr lIns="0" tIns="0" rIns="0" bIns="0" rtlCol="0" anchor="t">
            <a:spAutoFit/>
          </a:bodyPr>
          <a:lstStyle/>
          <a:p>
            <a:pPr marL="0" lvl="0" indent="0" algn="l">
              <a:lnSpc>
                <a:spcPts val="3359"/>
              </a:lnSpc>
              <a:spcBef>
                <a:spcPct val="0"/>
              </a:spcBef>
            </a:pPr>
            <a:r>
              <a:rPr lang="en-US" sz="2799" u="none">
                <a:solidFill>
                  <a:srgbClr val="1C1C1C"/>
                </a:solidFill>
                <a:latin typeface="Georgia Pro Condensed"/>
                <a:ea typeface="Georgia Pro Condensed"/>
                <a:cs typeface="Georgia Pro Condensed"/>
                <a:sym typeface="Georgia Pro Condensed"/>
              </a:rPr>
              <a:t>01</a:t>
            </a:r>
          </a:p>
        </p:txBody>
      </p:sp>
      <p:sp>
        <p:nvSpPr>
          <p:cNvPr id="12" name="TextBox 12"/>
          <p:cNvSpPr txBox="1"/>
          <p:nvPr/>
        </p:nvSpPr>
        <p:spPr>
          <a:xfrm>
            <a:off x="9296400" y="6936105"/>
            <a:ext cx="864987" cy="428625"/>
          </a:xfrm>
          <a:prstGeom prst="rect">
            <a:avLst/>
          </a:prstGeom>
        </p:spPr>
        <p:txBody>
          <a:bodyPr lIns="0" tIns="0" rIns="0" bIns="0" rtlCol="0" anchor="t">
            <a:spAutoFit/>
          </a:bodyPr>
          <a:lstStyle/>
          <a:p>
            <a:pPr marL="0" lvl="0" indent="0" algn="l">
              <a:lnSpc>
                <a:spcPts val="3359"/>
              </a:lnSpc>
              <a:spcBef>
                <a:spcPct val="0"/>
              </a:spcBef>
            </a:pPr>
            <a:r>
              <a:rPr lang="en-US" sz="2799" u="none">
                <a:solidFill>
                  <a:srgbClr val="1C1C1C"/>
                </a:solidFill>
                <a:latin typeface="Georgia Pro Condensed"/>
                <a:ea typeface="Georgia Pro Condensed"/>
                <a:cs typeface="Georgia Pro Condensed"/>
                <a:sym typeface="Georgia Pro Condensed"/>
              </a:rPr>
              <a:t>03</a:t>
            </a:r>
          </a:p>
        </p:txBody>
      </p:sp>
      <p:grpSp>
        <p:nvGrpSpPr>
          <p:cNvPr id="13" name="Group 13"/>
          <p:cNvGrpSpPr/>
          <p:nvPr/>
        </p:nvGrpSpPr>
        <p:grpSpPr>
          <a:xfrm>
            <a:off x="10734675" y="4248150"/>
            <a:ext cx="6886575" cy="1808798"/>
            <a:chOff x="0" y="0"/>
            <a:chExt cx="9182100" cy="2411730"/>
          </a:xfrm>
        </p:grpSpPr>
        <p:sp>
          <p:nvSpPr>
            <p:cNvPr id="14" name="TextBox 14"/>
            <p:cNvSpPr txBox="1"/>
            <p:nvPr/>
          </p:nvSpPr>
          <p:spPr>
            <a:xfrm>
              <a:off x="0" y="-9525"/>
              <a:ext cx="9182100" cy="669925"/>
            </a:xfrm>
            <a:prstGeom prst="rect">
              <a:avLst/>
            </a:prstGeom>
          </p:spPr>
          <p:txBody>
            <a:bodyPr lIns="0" tIns="0" rIns="0" bIns="0" rtlCol="0" anchor="t">
              <a:spAutoFit/>
            </a:bodyPr>
            <a:lstStyle/>
            <a:p>
              <a:pPr marL="0" lvl="0" indent="0" algn="l">
                <a:lnSpc>
                  <a:spcPts val="3600"/>
                </a:lnSpc>
                <a:spcBef>
                  <a:spcPct val="0"/>
                </a:spcBef>
              </a:pPr>
              <a:r>
                <a:rPr lang="en-US" sz="3000" b="1" u="none" strike="noStrike" spc="-44">
                  <a:solidFill>
                    <a:srgbClr val="2A3A66"/>
                  </a:solidFill>
                  <a:latin typeface="Helvetica World Bold"/>
                  <a:ea typeface="Helvetica World Bold"/>
                  <a:cs typeface="Helvetica World Bold"/>
                  <a:sym typeface="Helvetica World Bold"/>
                </a:rPr>
                <a:t>Sorting Concepts</a:t>
              </a:r>
            </a:p>
          </p:txBody>
        </p:sp>
        <p:sp>
          <p:nvSpPr>
            <p:cNvPr id="15" name="TextBox 15"/>
            <p:cNvSpPr txBox="1"/>
            <p:nvPr/>
          </p:nvSpPr>
          <p:spPr>
            <a:xfrm>
              <a:off x="0" y="1295189"/>
              <a:ext cx="9182100" cy="1116542"/>
            </a:xfrm>
            <a:prstGeom prst="rect">
              <a:avLst/>
            </a:prstGeom>
          </p:spPr>
          <p:txBody>
            <a:bodyPr lIns="0" tIns="0" rIns="0" bIns="0" rtlCol="0" anchor="t">
              <a:spAutoFit/>
            </a:bodyPr>
            <a:lstStyle/>
            <a:p>
              <a:pPr marL="0" lvl="0" indent="0" algn="l">
                <a:lnSpc>
                  <a:spcPts val="3249"/>
                </a:lnSpc>
                <a:spcBef>
                  <a:spcPct val="0"/>
                </a:spcBef>
              </a:pPr>
              <a:r>
                <a:rPr lang="en-US" sz="2499" b="1" u="none" strike="noStrike" spc="-37">
                  <a:solidFill>
                    <a:srgbClr val="1C1C1C"/>
                  </a:solidFill>
                  <a:latin typeface="Helvetica World Bold"/>
                  <a:ea typeface="Helvetica World Bold"/>
                  <a:cs typeface="Helvetica World Bold"/>
                  <a:sym typeface="Helvetica World Bold"/>
                </a:rPr>
                <a:t>Bubble sort</a:t>
              </a:r>
              <a:r>
                <a:rPr lang="en-US" sz="2499" u="none" strike="noStrike" spc="-37">
                  <a:solidFill>
                    <a:srgbClr val="1C1C1C"/>
                  </a:solidFill>
                  <a:latin typeface="Helvetica World"/>
                  <a:ea typeface="Helvetica World"/>
                  <a:cs typeface="Helvetica World"/>
                  <a:sym typeface="Helvetica World"/>
                </a:rPr>
                <a:t> is an essential foundational sorting algorithm.</a:t>
              </a:r>
            </a:p>
          </p:txBody>
        </p:sp>
      </p:grpSp>
      <p:grpSp>
        <p:nvGrpSpPr>
          <p:cNvPr id="16" name="Group 16"/>
          <p:cNvGrpSpPr/>
          <p:nvPr/>
        </p:nvGrpSpPr>
        <p:grpSpPr>
          <a:xfrm>
            <a:off x="10734675" y="1562100"/>
            <a:ext cx="6886575" cy="1808798"/>
            <a:chOff x="0" y="0"/>
            <a:chExt cx="9182100" cy="2411730"/>
          </a:xfrm>
        </p:grpSpPr>
        <p:sp>
          <p:nvSpPr>
            <p:cNvPr id="17" name="TextBox 17"/>
            <p:cNvSpPr txBox="1"/>
            <p:nvPr/>
          </p:nvSpPr>
          <p:spPr>
            <a:xfrm>
              <a:off x="0" y="-9525"/>
              <a:ext cx="9182100" cy="669925"/>
            </a:xfrm>
            <a:prstGeom prst="rect">
              <a:avLst/>
            </a:prstGeom>
          </p:spPr>
          <p:txBody>
            <a:bodyPr lIns="0" tIns="0" rIns="0" bIns="0" rtlCol="0" anchor="t">
              <a:spAutoFit/>
            </a:bodyPr>
            <a:lstStyle/>
            <a:p>
              <a:pPr marL="0" lvl="0" indent="0" algn="l">
                <a:lnSpc>
                  <a:spcPts val="3600"/>
                </a:lnSpc>
                <a:spcBef>
                  <a:spcPct val="0"/>
                </a:spcBef>
              </a:pPr>
              <a:r>
                <a:rPr lang="en-US" sz="3000" b="1" spc="-44">
                  <a:solidFill>
                    <a:srgbClr val="2A3A66"/>
                  </a:solidFill>
                  <a:latin typeface="Helvetica World Bold"/>
                  <a:ea typeface="Helvetica World Bold"/>
                  <a:cs typeface="Helvetica World Bold"/>
                  <a:sym typeface="Helvetica World Bold"/>
                </a:rPr>
                <a:t>Search Algorithms</a:t>
              </a:r>
            </a:p>
          </p:txBody>
        </p:sp>
        <p:sp>
          <p:nvSpPr>
            <p:cNvPr id="18" name="TextBox 18"/>
            <p:cNvSpPr txBox="1"/>
            <p:nvPr/>
          </p:nvSpPr>
          <p:spPr>
            <a:xfrm>
              <a:off x="0" y="1295189"/>
              <a:ext cx="9182100" cy="1116542"/>
            </a:xfrm>
            <a:prstGeom prst="rect">
              <a:avLst/>
            </a:prstGeom>
          </p:spPr>
          <p:txBody>
            <a:bodyPr lIns="0" tIns="0" rIns="0" bIns="0" rtlCol="0" anchor="t">
              <a:spAutoFit/>
            </a:bodyPr>
            <a:lstStyle/>
            <a:p>
              <a:pPr marL="0" lvl="0" indent="0" algn="l">
                <a:lnSpc>
                  <a:spcPts val="3249"/>
                </a:lnSpc>
                <a:spcBef>
                  <a:spcPct val="0"/>
                </a:spcBef>
              </a:pPr>
              <a:r>
                <a:rPr lang="en-US" sz="2499" b="1" u="none" strike="noStrike" spc="-37">
                  <a:solidFill>
                    <a:srgbClr val="1C1C1C"/>
                  </a:solidFill>
                  <a:latin typeface="Helvetica World Bold"/>
                  <a:ea typeface="Helvetica World Bold"/>
                  <a:cs typeface="Helvetica World Bold"/>
                  <a:sym typeface="Helvetica World Bold"/>
                </a:rPr>
                <a:t>Linear and binary searches</a:t>
              </a:r>
              <a:r>
                <a:rPr lang="en-US" sz="2499" u="none" strike="noStrike" spc="-37">
                  <a:solidFill>
                    <a:srgbClr val="1C1C1C"/>
                  </a:solidFill>
                  <a:latin typeface="Helvetica World"/>
                  <a:ea typeface="Helvetica World"/>
                  <a:cs typeface="Helvetica World"/>
                  <a:sym typeface="Helvetica World"/>
                </a:rPr>
                <a:t> each have distinct strengths.</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BCCFF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7858125" cy="10287000"/>
            <a:chOff x="0" y="0"/>
            <a:chExt cx="1031988" cy="1350966"/>
          </a:xfrm>
        </p:grpSpPr>
        <p:sp>
          <p:nvSpPr>
            <p:cNvPr id="3" name="Freeform 3"/>
            <p:cNvSpPr/>
            <p:nvPr/>
          </p:nvSpPr>
          <p:spPr>
            <a:xfrm>
              <a:off x="0" y="0"/>
              <a:ext cx="1031988" cy="1350966"/>
            </a:xfrm>
            <a:custGeom>
              <a:avLst/>
              <a:gdLst/>
              <a:ahLst/>
              <a:cxnLst/>
              <a:rect l="l" t="t" r="r" b="b"/>
              <a:pathLst>
                <a:path w="1031988" h="1350966">
                  <a:moveTo>
                    <a:pt x="0" y="0"/>
                  </a:moveTo>
                  <a:lnTo>
                    <a:pt x="1031988" y="0"/>
                  </a:lnTo>
                  <a:lnTo>
                    <a:pt x="1031988" y="1350966"/>
                  </a:lnTo>
                  <a:lnTo>
                    <a:pt x="0" y="1350966"/>
                  </a:lnTo>
                  <a:close/>
                </a:path>
              </a:pathLst>
            </a:custGeom>
            <a:solidFill>
              <a:srgbClr val="2A3A66"/>
            </a:solidFill>
            <a:ln w="12700">
              <a:solidFill>
                <a:srgbClr val="000000"/>
              </a:solidFill>
            </a:ln>
          </p:spPr>
        </p:sp>
      </p:grpSp>
      <p:grpSp>
        <p:nvGrpSpPr>
          <p:cNvPr id="4" name="Group 4"/>
          <p:cNvGrpSpPr/>
          <p:nvPr/>
        </p:nvGrpSpPr>
        <p:grpSpPr>
          <a:xfrm>
            <a:off x="1052512" y="666750"/>
            <a:ext cx="5753100" cy="8953500"/>
            <a:chOff x="0" y="0"/>
            <a:chExt cx="814724" cy="1267949"/>
          </a:xfrm>
        </p:grpSpPr>
        <p:sp>
          <p:nvSpPr>
            <p:cNvPr id="5" name="Freeform 5"/>
            <p:cNvSpPr/>
            <p:nvPr/>
          </p:nvSpPr>
          <p:spPr>
            <a:xfrm>
              <a:off x="0" y="0"/>
              <a:ext cx="814724" cy="1267949"/>
            </a:xfrm>
            <a:custGeom>
              <a:avLst/>
              <a:gdLst/>
              <a:ahLst/>
              <a:cxnLst/>
              <a:rect l="l" t="t" r="r" b="b"/>
              <a:pathLst>
                <a:path w="814724" h="1267949">
                  <a:moveTo>
                    <a:pt x="26914" y="0"/>
                  </a:moveTo>
                  <a:lnTo>
                    <a:pt x="787810" y="0"/>
                  </a:lnTo>
                  <a:cubicBezTo>
                    <a:pt x="802675" y="0"/>
                    <a:pt x="814724" y="12050"/>
                    <a:pt x="814724" y="26914"/>
                  </a:cubicBezTo>
                  <a:lnTo>
                    <a:pt x="814724" y="1241035"/>
                  </a:lnTo>
                  <a:cubicBezTo>
                    <a:pt x="814724" y="1255899"/>
                    <a:pt x="802675" y="1267949"/>
                    <a:pt x="787810" y="1267949"/>
                  </a:cubicBezTo>
                  <a:lnTo>
                    <a:pt x="26914" y="1267949"/>
                  </a:lnTo>
                  <a:cubicBezTo>
                    <a:pt x="12050" y="1267949"/>
                    <a:pt x="0" y="1255899"/>
                    <a:pt x="0" y="1241035"/>
                  </a:cubicBezTo>
                  <a:lnTo>
                    <a:pt x="0" y="26914"/>
                  </a:lnTo>
                  <a:cubicBezTo>
                    <a:pt x="0" y="12050"/>
                    <a:pt x="12050" y="0"/>
                    <a:pt x="26914" y="0"/>
                  </a:cubicBezTo>
                  <a:close/>
                </a:path>
              </a:pathLst>
            </a:custGeom>
            <a:blipFill>
              <a:blip r:embed="rId2"/>
              <a:stretch>
                <a:fillRect t="-199" b="-199"/>
              </a:stretch>
            </a:blipFill>
          </p:spPr>
        </p:sp>
      </p:grpSp>
      <p:sp>
        <p:nvSpPr>
          <p:cNvPr id="6" name="TextBox 6"/>
          <p:cNvSpPr txBox="1"/>
          <p:nvPr/>
        </p:nvSpPr>
        <p:spPr>
          <a:xfrm>
            <a:off x="9296400" y="9001760"/>
            <a:ext cx="8324850" cy="618490"/>
          </a:xfrm>
          <a:prstGeom prst="rect">
            <a:avLst/>
          </a:prstGeom>
        </p:spPr>
        <p:txBody>
          <a:bodyPr lIns="0" tIns="0" rIns="0" bIns="0" rtlCol="0" anchor="t">
            <a:spAutoFit/>
          </a:bodyPr>
          <a:lstStyle/>
          <a:p>
            <a:pPr marL="0" lvl="0" indent="0" algn="l">
              <a:lnSpc>
                <a:spcPts val="4940"/>
              </a:lnSpc>
            </a:pPr>
            <a:r>
              <a:rPr lang="en-US" sz="3800" spc="-57">
                <a:solidFill>
                  <a:srgbClr val="1C1C1C"/>
                </a:solidFill>
                <a:latin typeface="Helvetica World"/>
                <a:ea typeface="Helvetica World"/>
                <a:cs typeface="Helvetica World"/>
                <a:sym typeface="Helvetica World"/>
              </a:rPr>
              <a:t>Practice tracing algorithms today!</a:t>
            </a:r>
          </a:p>
        </p:txBody>
      </p:sp>
      <p:sp>
        <p:nvSpPr>
          <p:cNvPr id="7" name="TextBox 7"/>
          <p:cNvSpPr txBox="1"/>
          <p:nvPr/>
        </p:nvSpPr>
        <p:spPr>
          <a:xfrm>
            <a:off x="9303759" y="942975"/>
            <a:ext cx="8317491" cy="3894609"/>
          </a:xfrm>
          <a:prstGeom prst="rect">
            <a:avLst/>
          </a:prstGeom>
        </p:spPr>
        <p:txBody>
          <a:bodyPr lIns="0" tIns="0" rIns="0" bIns="0" rtlCol="0" anchor="t">
            <a:spAutoFit/>
          </a:bodyPr>
          <a:lstStyle/>
          <a:p>
            <a:pPr marL="0" lvl="0" indent="0" algn="l">
              <a:lnSpc>
                <a:spcPts val="14956"/>
              </a:lnSpc>
            </a:pPr>
            <a:r>
              <a:rPr lang="en-US" sz="14956" spc="-523">
                <a:solidFill>
                  <a:srgbClr val="2A3A66"/>
                </a:solidFill>
                <a:latin typeface="Georgia Pro Condensed"/>
                <a:ea typeface="Georgia Pro Condensed"/>
                <a:cs typeface="Georgia Pro Condensed"/>
                <a:sym typeface="Georgia Pro Condensed"/>
              </a:rPr>
              <a:t>Continue Learning</a:t>
            </a:r>
          </a:p>
        </p:txBody>
      </p:sp>
      <p:sp>
        <p:nvSpPr>
          <p:cNvPr id="8" name="Freeform 8"/>
          <p:cNvSpPr/>
          <p:nvPr/>
        </p:nvSpPr>
        <p:spPr>
          <a:xfrm rot="-3117037">
            <a:off x="5418783" y="7952721"/>
            <a:ext cx="2112604" cy="1859092"/>
          </a:xfrm>
          <a:custGeom>
            <a:avLst/>
            <a:gdLst/>
            <a:ahLst/>
            <a:cxnLst/>
            <a:rect l="l" t="t" r="r" b="b"/>
            <a:pathLst>
              <a:path w="2112604" h="1859092">
                <a:moveTo>
                  <a:pt x="0" y="0"/>
                </a:moveTo>
                <a:lnTo>
                  <a:pt x="2112604" y="0"/>
                </a:lnTo>
                <a:lnTo>
                  <a:pt x="2112604" y="1859092"/>
                </a:lnTo>
                <a:lnTo>
                  <a:pt x="0" y="1859092"/>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Lesson on AI and Prompt Engineering for Year 8 students</a:t>
            </a:r>
          </a:p>
        </p:txBody>
      </p:sp>
      <p:sp>
        <p:nvSpPr>
          <p:cNvPr id="3" name="Subtitle 2"/>
          <p:cNvSpPr>
            <a:spLocks noGrp="1"/>
          </p:cNvSpPr>
          <p:nvPr>
            <p:ph type="subTitle" idx="1"/>
          </p:nvPr>
        </p:nvSpPr>
        <p:spPr/>
        <p:txBody>
          <a:bodyPr/>
          <a:lstStyle/>
          <a:p>
            <a:r>
              <a:t>AI-Generated Teaching Slides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Okay, this is an exciting and highly relevant topic for Year 8s! As an expert te</a:t>
            </a:r>
          </a:p>
        </p:txBody>
      </p:sp>
      <p:sp>
        <p:nvSpPr>
          <p:cNvPr id="3" name="Content Placeholder 2"/>
          <p:cNvSpPr>
            <a:spLocks noGrp="1"/>
          </p:cNvSpPr>
          <p:nvPr>
            <p:ph idx="1"/>
          </p:nvPr>
        </p:nvSpPr>
        <p:spPr/>
        <p:txBody>
          <a:bodyPr/>
          <a:lstStyle/>
          <a:p>
            <a:r>
              <a:rPr sz="2000"/>
              <a:t>---</a:t>
            </a:r>
          </a:p>
          <a:p/>
          <a:p>
            <a:r>
              <a:rPr sz="2000"/>
              <a:t>## Lesson Pack: AI and Prompt Engineering for Year 8 Students</a:t>
            </a:r>
          </a:p>
          <a:p/>
          <a:p>
            <a:r>
              <a:rPr sz="2000"/>
              <a:t>**Topic:** Understanding AI and Mastering Prompt Engineering</a:t>
            </a:r>
          </a:p>
          <a:p>
            <a:r>
              <a:rPr sz="2000"/>
              <a:t>**Target Audience:** Year 8 Students</a:t>
            </a:r>
          </a:p>
          <a:p>
            <a:r>
              <a:rPr sz="2000"/>
              <a:t>**Duration:** 60-75 minutes (adaptable)</a:t>
            </a:r>
          </a:p>
          <a:p/>
          <a:p>
            <a:r>
              <a:rPr sz="2000"/>
              <a:t>---</a:t>
            </a:r>
          </a:p>
          <a:p/>
          <a:p>
            <a:r>
              <a:rPr sz="2000"/>
              <a:t>### 1. Lesson Objectives</a:t>
            </a:r>
          </a:p>
          <a:p/>
          <a:p>
            <a:r>
              <a:rPr sz="2000"/>
              <a:t>By the end of this lesson, students will be able to:</a:t>
            </a:r>
          </a:p>
          <a:p/>
          <a:p>
            <a:r>
              <a:rPr sz="2000"/>
              <a:t>*   **Define** Artificial Intelligence (AI) and provide examples of its use in everyday life.</a:t>
            </a:r>
          </a:p>
          <a:p>
            <a:r>
              <a:rPr sz="2000"/>
              <a:t>*   **Explain** what "prompt engineering" is and why it's important when interacting with AI.</a:t>
            </a:r>
          </a:p>
          <a:p>
            <a:r>
              <a:rPr sz="2000"/>
              <a:t>*   **Identify** the key elements of an effective AI prompt (e.g., clarity, specificity, context, role).</a:t>
            </a:r>
          </a:p>
          <a:p>
            <a:r>
              <a:rPr sz="2000"/>
              <a:t>*   **Construct** simple, clear, and effective prompts for various AI tasks.</a:t>
            </a:r>
          </a:p>
          <a:p>
            <a:r>
              <a:rPr sz="2000"/>
              <a:t>*   **Recognize** the importance of critically evaluating AI outputs and considering ethical implications.</a:t>
            </a:r>
          </a:p>
          <a:p/>
          <a:p>
            <a:r>
              <a:rPr sz="2000"/>
              <a:t>---</a:t>
            </a:r>
          </a:p>
          <a:p/>
          <a:p>
            <a:r>
              <a:rPr sz="2000"/>
              <a:t>### 2. Introduction / Starter Activity (10-15 minutes)</a:t>
            </a:r>
          </a:p>
          <a:p/>
          <a:p>
            <a:r>
              <a:rPr sz="2000"/>
              <a:t>**Activity: "Human AI" Challenge**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**Welcome &amp; Brainstorm (5 mins):**</a:t>
            </a:r>
          </a:p>
        </p:txBody>
      </p:sp>
      <p:sp>
        <p:nvSpPr>
          <p:cNvPr id="3" name="Content Placeholder 2"/>
          <p:cNvSpPr>
            <a:spLocks noGrp="1"/>
          </p:cNvSpPr>
          <p:nvPr>
            <p:ph idx="1"/>
          </p:nvPr>
        </p:nvSpPr>
        <p:spPr/>
        <p:txBody>
          <a:bodyPr/>
          <a:lstStyle/>
          <a:p>
            <a:r>
              <a:rPr sz="2000"/>
              <a:t>*   "Good morning/afternoon everyone! Today, we're going to talk about something that's becoming super important in our world: Artificial Intelligence, or AI. You've probably heard of it, but what do *you* think AI is?"</a:t>
            </a:r>
          </a:p>
          <a:p>
            <a:r>
              <a:rPr sz="2000"/>
              <a:t>    *   Open floor for student ideas. Jot down keywords on the board (e.g., robots, smart, computers, Siri, games).</a:t>
            </a:r>
          </a:p>
          <a:p>
            <a:r>
              <a:rPr sz="2000"/>
              <a:t>    *   "Great ideas! AI is essentially about making computers smart enough to do tasks that normally require human intelligence."</a:t>
            </a:r>
          </a:p>
          <a:p>
            <a:r>
              <a:rPr sz="2000"/>
              <a:t>    *   "Can you think of any examples of AI you use or see every day?" (e.g., Netflix recommendations, Google Maps, Snapchat filters, Siri/Alexa, game NPCs, spam filters, face recognition on phones).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**The "Draw This!" Challenge (5-7 mins):**</a:t>
            </a:r>
          </a:p>
        </p:txBody>
      </p:sp>
      <p:sp>
        <p:nvSpPr>
          <p:cNvPr id="3" name="Content Placeholder 2"/>
          <p:cNvSpPr>
            <a:spLocks noGrp="1"/>
          </p:cNvSpPr>
          <p:nvPr>
            <p:ph idx="1"/>
          </p:nvPr>
        </p:nvSpPr>
        <p:spPr/>
        <p:txBody>
          <a:bodyPr/>
          <a:lstStyle/>
          <a:p>
            <a:r>
              <a:rPr sz="2000"/>
              <a:t>*   "Now, let's play a game. I'm going to give one of you (or a small group) a set of instructions, and your job is to draw exactly what I describe. The rest of you will observe how clear my instructions are."</a:t>
            </a:r>
          </a:p>
          <a:p>
            <a:r>
              <a:rPr sz="2000"/>
              <a:t>    *   **Volunteer 1 (Receiver):** Come to the board/have a paper.</a:t>
            </a:r>
          </a:p>
          <a:p>
            <a:r>
              <a:rPr sz="2000"/>
              <a:t>    *   **Teacher (AI-User):** Give these instructions: "Draw a house." (Very vague)</a:t>
            </a:r>
          </a:p>
          <a:p>
            <a:r>
              <a:rPr sz="2000"/>
              <a:t>    *   **Teacher (Observation):** "What happened? Did everyone imagine the same house? No! We got different roof shapes, window numbers, even door positions. Why do you think that happened?" (Because the instructions weren't clear enough).</a:t>
            </a:r>
          </a:p>
          <a:p>
            <a:r>
              <a:rPr sz="2000"/>
              <a:t>    *   **Teacher (AI-User - trying again):** Give these instructions: "Draw a two-story house with a red-tiled gabled roof, a blue front door, two square windows on the top floor, and one large rectangular window on the ground floor next to the door. Add a small green bush to the left of the door." (Much more specific)</a:t>
            </a:r>
          </a:p>
          <a:p>
            <a:r>
              <a:rPr sz="2000"/>
              <a:t>    *   **Teacher (Observation):** "How was that different? Was the drawing closer to what I imagined? Yes! Why?" (Because the instructions were detailed and specific).</a:t>
            </a:r>
          </a:p>
          <a:p>
            <a:r>
              <a:rPr sz="2000"/>
              <a:t>    *   **Link to AI:** "This is exactly how it works with AI. AI is like a super-smart assistant, but it can only do what you tell it to do. If your instructions are vague, the results will be vague or not what you wanted. If your instructions are clear and detailed, you're more likely to get brilliant results. This skill of giving clear instructions to AI is called **Prompt Engineering** – and that's what we're going to learn about today!"</a:t>
            </a:r>
          </a:p>
          <a:p/>
          <a:p>
            <a:r>
              <a:rPr sz="2000"/>
              <a:t>---</a:t>
            </a:r>
          </a:p>
          <a:p/>
          <a:p>
            <a:r>
              <a:rPr sz="2000"/>
              <a:t>### 3. Key Teaching Points (20-25 minutes)</a:t>
            </a:r>
          </a:p>
          <a:p/>
          <a:p>
            <a:r>
              <a:rPr sz="2000"/>
              <a:t>**A. What is AI? (Recap &amp; Deeper Dive)**</a:t>
            </a:r>
          </a:p>
          <a:p>
            <a:r>
              <a:rPr sz="2000"/>
              <a:t>*   **Definition:** AI stands for Artificial Intelligence. It's when computers can perform tasks that usually require human thinking and intelligence.</a:t>
            </a:r>
          </a:p>
          <a:p>
            <a:r>
              <a:rPr sz="2000"/>
              <a:t>*   **How it "learns":** AI learns from *data*. It looks for patterns in vast amounts of information (text, images, sounds) to understand how things work and make predictions or generate new content.</a:t>
            </a:r>
          </a:p>
          <a:p>
            <a:r>
              <a:rPr sz="2000"/>
              <a:t>*   **Examples:**</a:t>
            </a:r>
          </a:p>
          <a:p>
            <a:r>
              <a:rPr sz="2000"/>
              <a:t>    *   **Voice Assistants:** Siri, Alexa, Google Assistant (understand speech, answer questions).</a:t>
            </a:r>
          </a:p>
          <a:p>
            <a:r>
              <a:rPr sz="2000"/>
              <a:t>    *   **Recommendation Systems:** Netflix, YouTube, Spotify (suggest what you might like based on what you've watched/listened to).</a:t>
            </a:r>
          </a:p>
          <a:p>
            <a:r>
              <a:rPr sz="2000"/>
              <a:t>    *   **Generative AI:** Tools that can create new things like stories, poems, images, or even music based on your instructions. (e.g., ChatGPT, DALL-E). This is what we'll focus on today!</a:t>
            </a:r>
          </a:p>
          <a:p/>
          <a:p>
            <a:r>
              <a:rPr sz="2000"/>
              <a:t>**B. Introducing Prompt Engineering**</a:t>
            </a:r>
          </a:p>
          <a:p>
            <a:r>
              <a:rPr sz="2000"/>
              <a:t>*   **What is a "Prompt"?** A prompt is simply the instruction, question, or command you give to an AI.</a:t>
            </a:r>
          </a:p>
          <a:p>
            <a:r>
              <a:rPr sz="2000"/>
              <a:t>*   **What is "Prompt Engineering"?** It's the art and science of crafting the best possible prompts to get the best possible results from an AI. It's about being a great communicator with a very powerful computer.</a:t>
            </a:r>
          </a:p>
          <a:p>
            <a:r>
              <a:rPr sz="2000"/>
              <a:t>*   **Why is it important?**</a:t>
            </a:r>
          </a:p>
          <a:p>
            <a:r>
              <a:rPr sz="2000"/>
              <a:t>    *   **Garbage In, Garbage Out:** If your prompt is bad, the AI's output will likely be bad.</a:t>
            </a:r>
          </a:p>
          <a:p>
            <a:r>
              <a:rPr sz="2000"/>
              <a:t>    *   **Unlock AI's Potential:** Good prompts help you get the most creative, accurate, and useful responses from AI.</a:t>
            </a:r>
          </a:p>
          <a:p>
            <a:r>
              <a:rPr sz="2000"/>
              <a:t>    *   **Future Skill:** As AI becomes more common, knowing how to talk to it effectively will be a vital skill in many jobs and in everyday life.</a:t>
            </a:r>
          </a:p>
          <a:p/>
          <a:p>
            <a:r>
              <a:rPr sz="2000"/>
              <a:t>**C. Elements of a Great Prompt**</a:t>
            </a:r>
          </a:p>
          <a:p>
            <a:r>
              <a:rPr sz="2000"/>
              <a:t>Think of these as ingredients for a perfect recipe!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**Clarity &amp; Specificity:** Be super clear and avoid vague language. Don't assume</a:t>
            </a:r>
          </a:p>
        </p:txBody>
      </p:sp>
      <p:sp>
        <p:nvSpPr>
          <p:cNvPr id="3" name="Content Placeholder 2"/>
          <p:cNvSpPr>
            <a:spLocks noGrp="1"/>
          </p:cNvSpPr>
          <p:nvPr>
            <p:ph idx="1"/>
          </p:nvPr>
        </p:nvSpPr>
        <p:spPr/>
        <p:txBody>
          <a:bodyPr/>
          <a:lstStyle/>
          <a:p>
            <a:r>
              <a:rPr sz="2000"/>
              <a:t>*   *Bad:* "Write about a dog."</a:t>
            </a:r>
          </a:p>
          <a:p>
            <a:r>
              <a:rPr sz="2000"/>
              <a:t>    *   *Good:* "Write a short story (200 words) about a brave golden retriever named Max who saves a lost kitten from a thunderstorm."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**Role/Persona (Optional but Powerful):** Tell the AI *who* it should act as. Th</a:t>
            </a:r>
          </a:p>
        </p:txBody>
      </p:sp>
      <p:sp>
        <p:nvSpPr>
          <p:cNvPr id="3" name="Content Placeholder 2"/>
          <p:cNvSpPr>
            <a:spLocks noGrp="1"/>
          </p:cNvSpPr>
          <p:nvPr>
            <p:ph idx="1"/>
          </p:nvPr>
        </p:nvSpPr>
        <p:spPr/>
        <p:txBody>
          <a:bodyPr/>
          <a:lstStyle/>
          <a:p>
            <a:r>
              <a:rPr sz="2000"/>
              <a:t>*   *Example:* "Act as a helpful science teacher..." or "You are a famous children's author..."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**Context/Background:** Give the AI any necessary information it needs to unders</a:t>
            </a:r>
          </a:p>
        </p:txBody>
      </p:sp>
      <p:sp>
        <p:nvSpPr>
          <p:cNvPr id="3" name="Content Placeholder 2"/>
          <p:cNvSpPr>
            <a:spLocks noGrp="1"/>
          </p:cNvSpPr>
          <p:nvPr>
            <p:ph idx="1"/>
          </p:nvPr>
        </p:nvSpPr>
        <p:spPr/>
        <p:txBody>
          <a:bodyPr/>
          <a:lstStyle/>
          <a:p>
            <a:r>
              <a:rPr sz="2000"/>
              <a:t>*   *Example:* "I'm planning a birthday party for my 10-year-old cousin who loves superheroes. Suggest 5 game ideas..."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**Task/Goal:** Clearly state what you want the AI to *do*. (e.g., "Summarize," "</a:t>
            </a:r>
          </a:p>
        </p:txBody>
      </p:sp>
      <p:sp>
        <p:nvSpPr>
          <p:cNvPr id="3" name="Content Placeholder 2"/>
          <p:cNvSpPr>
            <a:spLocks noGrp="1"/>
          </p:cNvSpPr>
          <p:nvPr>
            <p:ph idx="1"/>
          </p:nvPr>
        </p:nvSpPr>
        <p:spPr/>
        <p:txBody>
          <a:bodyPr/>
          <a:lstStyle/>
          <a:p>
            <a:r>
              <a:rPr sz="2000"/>
              <a:t>*   *Example:* "List 10 facts about outer space."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**Format/Output Constraints:** Tell the AI how you want the answer structured (e</a:t>
            </a:r>
          </a:p>
        </p:txBody>
      </p:sp>
      <p:sp>
        <p:nvSpPr>
          <p:cNvPr id="3" name="Content Placeholder 2"/>
          <p:cNvSpPr>
            <a:spLocks noGrp="1"/>
          </p:cNvSpPr>
          <p:nvPr>
            <p:ph idx="1"/>
          </p:nvPr>
        </p:nvSpPr>
        <p:spPr/>
        <p:txBody>
          <a:bodyPr/>
          <a:lstStyle/>
          <a:p>
            <a:r>
              <a:rPr sz="2000"/>
              <a:t>*   *Example:* "Present the information as a bulleted list of three main points." or "Write a haiku about autumn."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**Tone (Optional):** Specify the desired tone (e.g., funny, formal, informal, en</a:t>
            </a:r>
          </a:p>
        </p:txBody>
      </p:sp>
      <p:sp>
        <p:nvSpPr>
          <p:cNvPr id="3" name="Content Placeholder 2"/>
          <p:cNvSpPr>
            <a:spLocks noGrp="1"/>
          </p:cNvSpPr>
          <p:nvPr>
            <p:ph idx="1"/>
          </p:nvPr>
        </p:nvSpPr>
        <p:spPr/>
        <p:txBody>
          <a:bodyPr/>
          <a:lstStyle/>
          <a:p>
            <a:r>
              <a:rPr sz="2000"/>
              <a:t>*   *Example:* "Write a humorous letter from a cat to its owner, complaining about the food."</a:t>
            </a:r>
          </a:p>
          <a:p/>
          <a:p>
            <a:r>
              <a:rPr sz="2000"/>
              <a:t>**D. Iteration: The Art of Refining Prompts**</a:t>
            </a:r>
          </a:p>
          <a:p>
            <a:r>
              <a:rPr sz="2000"/>
              <a:t>*   **Rarely Perfect First Time:** It's okay if your first prompt doesn't get exactly what you want.</a:t>
            </a:r>
          </a:p>
          <a:p>
            <a:r>
              <a:rPr sz="2000"/>
              <a:t>*   **Refine &amp; Improve:** Look at the AI's response and think:</a:t>
            </a:r>
          </a:p>
          <a:p>
            <a:r>
              <a:rPr sz="2000"/>
              <a:t>    *   What worked well?</a:t>
            </a:r>
          </a:p>
          <a:p>
            <a:r>
              <a:rPr sz="2000"/>
              <a:t>    *   What didn't work?</a:t>
            </a:r>
          </a:p>
          <a:p>
            <a:r>
              <a:rPr sz="2000"/>
              <a:t>    *   What information was missing from my prompt?</a:t>
            </a:r>
          </a:p>
          <a:p>
            <a:r>
              <a:rPr sz="2000"/>
              <a:t>    *   How can I be more specific next time?</a:t>
            </a:r>
          </a:p>
          <a:p>
            <a:r>
              <a:rPr sz="2000"/>
              <a:t>*   **Think of it like a conversation!** You give an instruction, the AI responds, you clarify or add more details, and so on.</a:t>
            </a:r>
          </a:p>
          <a:p/>
          <a:p>
            <a:r>
              <a:rPr sz="2000"/>
              <a:t>---</a:t>
            </a:r>
          </a:p>
          <a:p/>
          <a:p>
            <a:r>
              <a:rPr sz="2000"/>
              <a:t>### 4. Guided Practice or Activities (20-25 minutes)</a:t>
            </a:r>
          </a:p>
          <a:p/>
          <a:p>
            <a:r>
              <a:rPr sz="2000"/>
              <a:t>**Activity 1: Prompt Power-Up Challenge (Individual/Pairs - 10-12 mins)**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**Teacher Input:** Display a "Bad Prompt" and guide students to collectively "Po</a:t>
            </a:r>
          </a:p>
        </p:txBody>
      </p:sp>
      <p:sp>
        <p:nvSpPr>
          <p:cNvPr id="3" name="Content Placeholder 2"/>
          <p:cNvSpPr>
            <a:spLocks noGrp="1"/>
          </p:cNvSpPr>
          <p:nvPr>
            <p:ph idx="1"/>
          </p:nvPr>
        </p:nvSpPr>
        <p:spPr/>
        <p:txBody>
          <a:bodyPr/>
          <a:lstStyle/>
          <a:p>
            <a:r>
              <a:rPr sz="2000"/>
              <a:t>*   *Bad Prompt Example:* "Write about space."</a:t>
            </a:r>
          </a:p>
          <a:p>
            <a:r>
              <a:rPr sz="2000"/>
              <a:t>    *   *Teacher guides:* "What's missing? (Specifics, task, format, tone). Let's make it better! Who should the AI be? What kind of space info? How long? How should it be presented?"</a:t>
            </a:r>
          </a:p>
          <a:p>
            <a:r>
              <a:rPr sz="2000"/>
              <a:t>    *   *Improved Example (Teacher-led):* "Act as an astrophysicist. Write a short, exciting paragraph (50 words) explaining the Big Bang theory to a Year 8 student, using an encouraging and clear tone."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**Student Challenge:** Provide students with a task and a "basic prompt." Their </a:t>
            </a:r>
          </a:p>
        </p:txBody>
      </p:sp>
      <p:sp>
        <p:nvSpPr>
          <p:cNvPr id="3" name="Content Placeholder 2"/>
          <p:cNvSpPr>
            <a:spLocks noGrp="1"/>
          </p:cNvSpPr>
          <p:nvPr>
            <p:ph idx="1"/>
          </p:nvPr>
        </p:nvSpPr>
        <p:spPr/>
        <p:txBody>
          <a:bodyPr/>
          <a:lstStyle/>
          <a:p>
            <a:r>
              <a:rPr sz="2000"/>
              <a:t>*   **Task 1:** "You need a recipe for dinner."</a:t>
            </a:r>
          </a:p>
          <a:p>
            <a:r>
              <a:rPr sz="2000"/>
              <a:t>        *   *Basic Prompt:* "Give me a recipe."</a:t>
            </a:r>
          </a:p>
          <a:p>
            <a:r>
              <a:rPr sz="2000"/>
              <a:t>        *   *Your Powerful Prompt:* (Students write this)</a:t>
            </a:r>
          </a:p>
          <a:p>
            <a:r>
              <a:rPr sz="2000"/>
              <a:t>            *   *Possible Answer:* "Act as a professional chef. Create a simple, healthy dinner recipe that uses chicken and vegetables. The recipe should be for 4 people, list ingredients and step-by-step instructions clearly, and suggest a cooking time of under 30 minutes."</a:t>
            </a:r>
          </a:p>
          <a:p>
            <a:r>
              <a:rPr sz="2000"/>
              <a:t>    *   **Task 2:** "You want to write a poem about animals."</a:t>
            </a:r>
          </a:p>
          <a:p>
            <a:r>
              <a:rPr sz="2000"/>
              <a:t>        *   *Basic Prompt:* "Write a poem about animals."</a:t>
            </a:r>
          </a:p>
          <a:p>
            <a:r>
              <a:rPr sz="2000"/>
              <a:t>        *   *Your Powerful Prompt:* (Students write this)</a:t>
            </a:r>
          </a:p>
          <a:p>
            <a:r>
              <a:rPr sz="2000"/>
              <a:t>            *   *Possible Answer:* "You are a poet inspired by nature. Write a four-stanza rhyming poem about the friendship between a fox and a rabbit, describing their adventures in a magical forest. Use a whimsical and hopeful tone."</a:t>
            </a:r>
          </a:p>
          <a:p/>
          <a:p>
            <a:r>
              <a:rPr sz="2000"/>
              <a:t>**Activity 2: AI Interaction Simulation (Optional, if time/resources allow - 8-10 mins)**</a:t>
            </a:r>
          </a:p>
          <a:p/>
          <a:p>
            <a:r>
              <a:rPr sz="2000"/>
              <a:t>*   **Option A (No AI Tools):** Students work in pairs. One student is the "AI," the other is the "User." The user gives a prompt, and the AI student tries their best to respond exactly as instructed (within reason, verbally or written). This highlights how AI interprets prompts literally.</a:t>
            </a:r>
          </a:p>
          <a:p>
            <a:r>
              <a:rPr sz="2000"/>
              <a:t>    *   *Example Scenario:* User prompts for a "story about a magical object." AI responds. User refines prompt: "Make the magical object a talking teacup, and the story should be set in a castle."</a:t>
            </a:r>
          </a:p>
          <a:p>
            <a:r>
              <a:rPr sz="2000"/>
              <a:t>*   **Option B (With AI Tools - requires controlled environment &amp; teacher supervision):** If access to a safe, pre-approved generative AI (like a child-friendly chatbot or a very basic text generator) is available, students can try their "Powerful Prompts" and see the actual output. This is highly engaging!</a:t>
            </a:r>
          </a:p>
          <a:p>
            <a:r>
              <a:rPr sz="2000"/>
              <a:t>    *   **Important Note:** Emphasize that these tools are *assistants*, not always 100% correct, and critical thinking is still essential. Always check facts!</a:t>
            </a:r>
          </a:p>
          <a:p/>
          <a:p>
            <a:r>
              <a:rPr sz="2000"/>
              <a:t>---</a:t>
            </a:r>
          </a:p>
          <a:p/>
          <a:p>
            <a:r>
              <a:rPr sz="2000"/>
              <a:t>### 5. Assessment Ideas</a:t>
            </a:r>
          </a:p>
          <a:p/>
          <a:p>
            <a:r>
              <a:rPr sz="2000"/>
              <a:t>**Formative (During Lesson):**</a:t>
            </a:r>
          </a:p>
          <a:p/>
          <a:p>
            <a:r>
              <a:rPr sz="2000"/>
              <a:t>*   **Observation:** Monitor student participation in discussions, their ability to identify good/bad prompt elements, and their collaboration during activities.</a:t>
            </a:r>
          </a:p>
          <a:p>
            <a:r>
              <a:rPr sz="2000"/>
              <a:t>*   **"Thumbs Up/Down" or Whiteboard Response:** Ask quick check-for-understanding questions (e.g., "Give a thumbs up if you understand why specificity is important in a prompt").</a:t>
            </a:r>
          </a:p>
          <a:p>
            <a:r>
              <a:rPr sz="2000"/>
              <a:t>*   **Activity 1 Review:** Collect and review student-written "Powerful Prompts" to gauge understanding of the key elements. Provide immediate feedback.</a:t>
            </a:r>
          </a:p>
          <a:p/>
          <a:p>
            <a:r>
              <a:rPr sz="2000"/>
              <a:t>**Summative (End of Lesson / Follow-up):**</a:t>
            </a:r>
          </a:p>
          <a:p/>
          <a:p>
            <a:r>
              <a:rPr sz="2000"/>
              <a:t>*   **Exit Ticket:**</a:t>
            </a:r>
          </a:p>
          <a:p>
            <a:r>
              <a:rPr sz="2000"/>
              <a:t>    *   "1. In your own words, what is Prompt Engineering?"</a:t>
            </a:r>
          </a:p>
          <a:p>
            <a:r>
              <a:rPr sz="2000"/>
              <a:t>    *   "2. Write a prompt to an AI asking it to plan a day trip to London for you and your friends, including at least three key elements we discussed today."</a:t>
            </a:r>
          </a:p>
          <a:p>
            <a:r>
              <a:rPr sz="2000"/>
              <a:t>*   **"Prompt Improvement" Task:** Provide students with 2-3 vague prompts and ask them to rewrite them into effective, detailed prompts, highlighting the changes they made and *why* those changes improve the prompt.</a:t>
            </a:r>
          </a:p>
          <a:p>
            <a:r>
              <a:rPr sz="2000"/>
              <a:t>*   **Short Quiz:** Multiple-choice or short-answer questions covering definitions of AI and prompt engineering, and identifying elements of good prompts.</a:t>
            </a:r>
          </a:p>
          <a:p/>
          <a:p>
            <a:r>
              <a:rPr sz="2000"/>
              <a:t>---</a:t>
            </a:r>
          </a:p>
          <a:p/>
          <a:p>
            <a:r>
              <a:rPr sz="2000"/>
              <a:t>### 6. Summary / Conclusion (5 minutes)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**Recap Objectives:** "Today, we explored what AI is and learned the essential s</a:t>
            </a:r>
          </a:p>
        </p:txBody>
      </p:sp>
      <p:sp>
        <p:nvSpPr>
          <p:cNvPr id="3" name="Content Placeholder 2"/>
          <p:cNvSpPr>
            <a:spLocks noGrp="1"/>
          </p:cNvSpPr>
          <p:nvPr>
            <p:ph idx="1"/>
          </p:nvPr>
        </p:nvSpPr>
        <p:spPr/>
        <p:txBody>
          <a:bodyPr/>
          <a:lstStyle/>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**Key Takeaways:**</a:t>
            </a:r>
          </a:p>
        </p:txBody>
      </p:sp>
      <p:sp>
        <p:nvSpPr>
          <p:cNvPr id="3" name="Content Placeholder 2"/>
          <p:cNvSpPr>
            <a:spLocks noGrp="1"/>
          </p:cNvSpPr>
          <p:nvPr>
            <p:ph idx="1"/>
          </p:nvPr>
        </p:nvSpPr>
        <p:spPr/>
        <p:txBody>
          <a:bodyPr/>
          <a:lstStyle/>
          <a:p>
            <a:r>
              <a:rPr sz="2000"/>
              <a:t>*   AI is a powerful tool, but it needs clear instructions.</a:t>
            </a:r>
          </a:p>
          <a:p>
            <a:r>
              <a:rPr sz="2000"/>
              <a:t>    *   Prompt Engineering is about being a great communicator with AI.</a:t>
            </a:r>
          </a:p>
          <a:p>
            <a:r>
              <a:rPr sz="2000"/>
              <a:t>    *   Clarity, specificity, context, role, task, and format are crucial for good prompts.</a:t>
            </a:r>
          </a:p>
          <a:p>
            <a:r>
              <a:rPr sz="2000"/>
              <a:t>    *   Don't be afraid to iterate and refine your prompts!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**Critical Thinking &amp; Ethics:** "Remember, while AI is amazing, it's a tool. It </a:t>
            </a:r>
          </a:p>
        </p:txBody>
      </p:sp>
      <p:sp>
        <p:nvSpPr>
          <p:cNvPr id="3" name="Content Placeholder 2"/>
          <p:cNvSpPr>
            <a:spLocks noGrp="1"/>
          </p:cNvSpPr>
          <p:nvPr>
            <p:ph idx="1"/>
          </p:nvPr>
        </p:nvSpPr>
        <p:spPr/>
        <p:txBody>
          <a:bodyPr/>
          <a:lstStyle/>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**Future Connection:** "Knowing how to 'talk' to AI effectively is a super valua</a:t>
            </a:r>
          </a:p>
        </p:txBody>
      </p:sp>
      <p:sp>
        <p:nvSpPr>
          <p:cNvPr id="3" name="Content Placeholder 2"/>
          <p:cNvSpPr>
            <a:spLocks noGrp="1"/>
          </p:cNvSpPr>
          <p:nvPr>
            <p:ph idx="1"/>
          </p:nvPr>
        </p:nvSpPr>
        <p:spPr/>
        <p:txBody>
          <a:bodyPr/>
          <a:lstStyle/>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**Q&amp;A:** Open the floor for any final questions.</a:t>
            </a:r>
          </a:p>
        </p:txBody>
      </p:sp>
      <p:sp>
        <p:nvSpPr>
          <p:cNvPr id="3" name="Content Placeholder 2"/>
          <p:cNvSpPr>
            <a:spLocks noGrp="1"/>
          </p:cNvSpPr>
          <p:nvPr>
            <p:ph idx="1"/>
          </p:nvPr>
        </p:nvSpPr>
        <p:spPr/>
        <p:txBody>
          <a:bodyPr/>
          <a:lstStyle/>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**Thank You!**</a:t>
            </a:r>
          </a:p>
        </p:txBody>
      </p:sp>
      <p:sp>
        <p:nvSpPr>
          <p:cNvPr id="3" name="Content Placeholder 2"/>
          <p:cNvSpPr>
            <a:spLocks noGrp="1"/>
          </p:cNvSpPr>
          <p:nvPr>
            <p:ph idx="1"/>
          </p:nvPr>
        </p:nvSpPr>
        <p:spPr/>
        <p:txBody>
          <a:bodyPr/>
          <a:lstStyle/>
          <a:p>
            <a:r>
              <a:rPr sz="2000"/>
              <a:t>---</a:t>
            </a:r>
          </a:p>
          <a:p/>
          <a:p>
            <a:r>
              <a:rPr sz="2000"/>
              <a:t>### 7. PowerPoint Slide Outline</a:t>
            </a:r>
          </a:p>
          <a:p/>
          <a:p>
            <a:r>
              <a:rPr sz="2000"/>
              <a:t>**Slide 1: Title Slide**</a:t>
            </a:r>
          </a:p>
          <a:p>
            <a:r>
              <a:rPr sz="2000"/>
              <a:t>*   **Title:** AI &amp; YOU: Mastering Prompt Engineering!</a:t>
            </a:r>
          </a:p>
          <a:p>
            <a:r>
              <a:rPr sz="2000"/>
              <a:t>*   **Subtitle:** How to talk to super-smart computers</a:t>
            </a:r>
          </a:p>
          <a:p>
            <a:r>
              <a:rPr sz="2000"/>
              <a:t>*   **Image:** Fun, friendly AI/robot character or a stylized "brain" connected to a computer.</a:t>
            </a:r>
          </a:p>
          <a:p/>
          <a:p>
            <a:r>
              <a:rPr sz="2000"/>
              <a:t>**Slide 2: Lesson Objectives**</a:t>
            </a:r>
          </a:p>
          <a:p>
            <a:r>
              <a:rPr sz="2000"/>
              <a:t>*   What we'll learn today:</a:t>
            </a:r>
          </a:p>
          <a:p>
            <a:r>
              <a:rPr sz="2000"/>
              <a:t>    *   What AI is and where we see it.</a:t>
            </a:r>
          </a:p>
          <a:p>
            <a:r>
              <a:rPr sz="2000"/>
              <a:t>    *   What Prompt Engineering means.</a:t>
            </a:r>
          </a:p>
          <a:p>
            <a:r>
              <a:rPr sz="2000"/>
              <a:t>    *   How to write great prompts.</a:t>
            </a:r>
          </a:p>
          <a:p>
            <a:r>
              <a:rPr sz="2000"/>
              <a:t>    *   Practice making AI do what we want!</a:t>
            </a:r>
          </a:p>
          <a:p>
            <a:r>
              <a:rPr sz="2000"/>
              <a:t>    *   Think critically about AI.</a:t>
            </a:r>
          </a:p>
          <a:p/>
          <a:p>
            <a:r>
              <a:rPr sz="2000"/>
              <a:t>**Slide 3: Starter Activity: AI in Our Lives!**</a:t>
            </a:r>
          </a:p>
          <a:p>
            <a:r>
              <a:rPr sz="2000"/>
              <a:t>*   What is AI? (Quick brainstorm)</a:t>
            </a:r>
          </a:p>
          <a:p>
            <a:r>
              <a:rPr sz="2000"/>
              <a:t>*   Where do you see/use AI every day?</a:t>
            </a:r>
          </a:p>
          <a:p>
            <a:r>
              <a:rPr sz="2000"/>
              <a:t>*   **Image:** Collage of everyday AI examples (Siri, Netflix, Google Maps, Snapchat filter).</a:t>
            </a:r>
          </a:p>
          <a:p/>
          <a:p>
            <a:r>
              <a:rPr sz="2000"/>
              <a:t>**Slide 4: Starter Activity: The "Human AI" Challenge!**</a:t>
            </a:r>
          </a:p>
          <a:p>
            <a:r>
              <a:rPr sz="2000"/>
              <a:t>*   Instructions: Draw a house. (Discussion: Vague!)</a:t>
            </a:r>
          </a:p>
          <a:p>
            <a:r>
              <a:rPr sz="2000"/>
              <a:t>*   Instructions: Draw a specific house. (Discussion: Clear!)</a:t>
            </a:r>
          </a:p>
          <a:p>
            <a:r>
              <a:rPr sz="2000"/>
              <a:t>*   **Key Idea:** Clear instructions get clear results!</a:t>
            </a:r>
          </a:p>
          <a:p>
            <a:r>
              <a:rPr sz="2000"/>
              <a:t>*   **Image:** Stick figure drawings of varied houses, then a more specific one.</a:t>
            </a:r>
          </a:p>
          <a:p/>
          <a:p>
            <a:r>
              <a:rPr sz="2000"/>
              <a:t>**Slide 5: What IS Artificial Intelligence (AI)?**</a:t>
            </a:r>
          </a:p>
          <a:p>
            <a:r>
              <a:rPr sz="2000"/>
              <a:t>*   **Definition:** Computers doing smart tasks like humans.</a:t>
            </a:r>
          </a:p>
          <a:p>
            <a:r>
              <a:rPr sz="2000"/>
              <a:t>*   **How it works (briefly):** Learns from DATA to find patterns.</a:t>
            </a:r>
          </a:p>
          <a:p>
            <a:r>
              <a:rPr sz="2000"/>
              <a:t>*   **Examples:**</a:t>
            </a:r>
          </a:p>
          <a:p>
            <a:r>
              <a:rPr sz="2000"/>
              <a:t>    *   Siri/Alexa</a:t>
            </a:r>
          </a:p>
          <a:p>
            <a:r>
              <a:rPr sz="2000"/>
              <a:t>    *   Netflix recommendations</a:t>
            </a:r>
          </a:p>
          <a:p>
            <a:r>
              <a:rPr sz="2000"/>
              <a:t>    *   Generative AI (creating text, images!)</a:t>
            </a:r>
          </a:p>
          <a:p>
            <a:r>
              <a:rPr sz="2000"/>
              <a:t>*   **Image:** Brain graphic, data flow, diverse AI application icons.</a:t>
            </a:r>
          </a:p>
          <a:p/>
          <a:p>
            <a:r>
              <a:rPr sz="2000"/>
              <a:t>**Slide 6: What is a "Prompt"?**</a:t>
            </a:r>
          </a:p>
          <a:p>
            <a:r>
              <a:rPr sz="2000"/>
              <a:t>*   It's your instruction, question, or command to an AI.</a:t>
            </a:r>
          </a:p>
          <a:p>
            <a:r>
              <a:rPr sz="2000"/>
              <a:t>*   Like talking to a very clever assistant!</a:t>
            </a:r>
          </a:p>
          <a:p>
            <a:r>
              <a:rPr sz="2000"/>
              <a:t>*   **Image:** Speech bubble with a question mark, pointing to a computer.</a:t>
            </a:r>
          </a:p>
          <a:p/>
          <a:p>
            <a:r>
              <a:rPr sz="2000"/>
              <a:t>**Slide 7: Introducing Prompt Engineering**</a:t>
            </a:r>
          </a:p>
          <a:p>
            <a:r>
              <a:rPr sz="2000"/>
              <a:t>*   **Definition:** The skill of writing the BEST instructions for AI.</a:t>
            </a:r>
          </a:p>
          <a:p>
            <a:r>
              <a:rPr sz="2000"/>
              <a:t>*   **Why it's important:**</a:t>
            </a:r>
          </a:p>
          <a:p>
            <a:r>
              <a:rPr sz="2000"/>
              <a:t>    *   Good input = good output!</a:t>
            </a:r>
          </a:p>
          <a:p>
            <a:r>
              <a:rPr sz="2000"/>
              <a:t>    *   Unlock AI's full potential.</a:t>
            </a:r>
          </a:p>
          <a:p>
            <a:r>
              <a:rPr sz="2000"/>
              <a:t>    *   A vital skill for the future!</a:t>
            </a:r>
          </a:p>
          <a:p>
            <a:r>
              <a:rPr sz="2000"/>
              <a:t>*   **Image:** A magnifying glass over text, or gears turning.</a:t>
            </a:r>
          </a:p>
          <a:p/>
          <a:p>
            <a:r>
              <a:rPr sz="2000"/>
              <a:t>**Slide 8: Ingredient 1: Clarity &amp; Specificity**</a:t>
            </a:r>
          </a:p>
          <a:p>
            <a:r>
              <a:rPr sz="2000"/>
              <a:t>*   **Rule:** Be super clear, avoid vagueness!</a:t>
            </a:r>
          </a:p>
          <a:p>
            <a:r>
              <a:rPr sz="2000"/>
              <a:t>*   **Bad Example:** "Write about a dog."</a:t>
            </a:r>
          </a:p>
          <a:p>
            <a:r>
              <a:rPr sz="2000"/>
              <a:t>*   **Good Example:** "Write a short story (200 words) about a brave golden retriever named Max who saves a lost kitten from a thunderstorm."</a:t>
            </a:r>
          </a:p>
          <a:p>
            <a:r>
              <a:rPr sz="2000"/>
              <a:t>*   **Image:** A blurry photo vs. a sharp, in-focus photo.</a:t>
            </a:r>
          </a:p>
          <a:p/>
          <a:p>
            <a:r>
              <a:rPr sz="2000"/>
              <a:t>**Slide 9: Ingredient 2: Role/Persona**</a:t>
            </a:r>
          </a:p>
          <a:p>
            <a:r>
              <a:rPr sz="2000"/>
              <a:t>*   **Rule:** Tell the AI WHO to be.</a:t>
            </a:r>
          </a:p>
          <a:p>
            <a:r>
              <a:rPr sz="2000"/>
              <a:t>*   **Example:** "Act as a helpful science teacher..." or "You are a famous children's author..."</a:t>
            </a:r>
          </a:p>
          <a:p>
            <a:r>
              <a:rPr sz="2000"/>
              <a:t>*   **Image:** Different character icons (teacher, chef, author).</a:t>
            </a:r>
          </a:p>
          <a:p/>
          <a:p>
            <a:r>
              <a:rPr sz="2000"/>
              <a:t>**Slide 10: Ingredient 3: Context/Background**</a:t>
            </a:r>
          </a:p>
          <a:p>
            <a:r>
              <a:rPr sz="2000"/>
              <a:t>*   **Rule:** Give the AI necessary background info.</a:t>
            </a:r>
          </a:p>
          <a:p>
            <a:r>
              <a:rPr sz="2000"/>
              <a:t>*   **Example:** "I'm planning a birthday party for my 10-year-old cousin who loves superheroes. Suggest 5 game ideas..."</a:t>
            </a:r>
          </a:p>
          <a:p>
            <a:r>
              <a:rPr sz="2000"/>
              <a:t>*   **Image:** A party invitation, a superhero symbol.</a:t>
            </a:r>
          </a:p>
          <a:p/>
          <a:p>
            <a:r>
              <a:rPr sz="2000"/>
              <a:t>**Slide 11: Ingredient 4: Task/Goal**</a:t>
            </a:r>
          </a:p>
          <a:p>
            <a:r>
              <a:rPr sz="2000"/>
              <a:t>*   **Rule:** Clearly state WHAT you want the AI to DO.</a:t>
            </a:r>
          </a:p>
          <a:p>
            <a:r>
              <a:rPr sz="2000"/>
              <a:t>*   **Examples:** "Summarize," "Generate," "Explain," "List," "Compare."</a:t>
            </a:r>
          </a:p>
          <a:p>
            <a:r>
              <a:rPr sz="2000"/>
              <a:t>*   **Image:** Icons representing different actions (pencil for write, question mark for explain, list icon).</a:t>
            </a:r>
          </a:p>
          <a:p/>
          <a:p>
            <a:r>
              <a:rPr sz="2000"/>
              <a:t>**Slide 12: Ingredient 5: Format &amp; Constraints**</a:t>
            </a:r>
          </a:p>
          <a:p>
            <a:r>
              <a:rPr sz="2000"/>
              <a:t>*   **Rule:** Tell the AI HOW you want the answer.</a:t>
            </a:r>
          </a:p>
          <a:p>
            <a:r>
              <a:rPr sz="2000"/>
              <a:t>*   **Examples:** "Bulleted list," "a poem," "a paragraph," "under 100 words."</a:t>
            </a:r>
          </a:p>
          <a:p>
            <a:r>
              <a:rPr sz="2000"/>
              <a:t>*   **Image:** Different document types (list, poem, short story).</a:t>
            </a:r>
          </a:p>
          <a:p/>
          <a:p>
            <a:r>
              <a:rPr sz="2000"/>
              <a:t>**Slide 13: Ingredient 6: Tone**</a:t>
            </a:r>
          </a:p>
          <a:p>
            <a:r>
              <a:rPr sz="2000"/>
              <a:t>*   **Rule:** Specify the desired feeling or style.</a:t>
            </a:r>
          </a:p>
          <a:p>
            <a:r>
              <a:rPr sz="2000"/>
              <a:t>*   **Examples:** "Funny," "formal," "encouraging," "persuasive."</a:t>
            </a:r>
          </a:p>
          <a:p>
            <a:r>
              <a:rPr sz="2000"/>
              <a:t>*   **Image:** Emojis representing different emotions.</a:t>
            </a:r>
          </a:p>
          <a:p/>
          <a:p>
            <a:r>
              <a:rPr sz="2000"/>
              <a:t>**Slide 14: All Together Now! Elements of a Great Prompt**</a:t>
            </a:r>
          </a:p>
          <a:p>
            <a:r>
              <a:rPr sz="2000"/>
              <a:t>*   **CLARITY &amp; SPECIFICITY**</a:t>
            </a:r>
          </a:p>
          <a:p>
            <a:r>
              <a:rPr sz="2000"/>
              <a:t>*   **ROLE/PERSONA**</a:t>
            </a:r>
          </a:p>
          <a:p>
            <a:r>
              <a:rPr sz="2000"/>
              <a:t>*   **CONTEXT/BACKGROUND**</a:t>
            </a:r>
          </a:p>
          <a:p>
            <a:r>
              <a:rPr sz="2000"/>
              <a:t>*   **TASK/GOAL**</a:t>
            </a:r>
          </a:p>
          <a:p>
            <a:r>
              <a:rPr sz="2000"/>
              <a:t>*   **FORMAT/OUTPUT**</a:t>
            </a:r>
          </a:p>
          <a:p>
            <a:r>
              <a:rPr sz="2000"/>
              <a:t>*   **TONE**</a:t>
            </a:r>
          </a:p>
          <a:p>
            <a:r>
              <a:rPr sz="2000"/>
              <a:t>*   **Image:** A checklist or a thought bubble filled with these keywords.</a:t>
            </a:r>
          </a:p>
          <a:p/>
          <a:p>
            <a:r>
              <a:rPr sz="2000"/>
              <a:t>**Slide 15: The Art of Iteration: Refining Your Prompts**</a:t>
            </a:r>
          </a:p>
          <a:p>
            <a:r>
              <a:rPr sz="2000"/>
              <a:t>*   Your first prompt might not be perfect!</a:t>
            </a:r>
          </a:p>
          <a:p>
            <a:r>
              <a:rPr sz="2000"/>
              <a:t>*   **Review:** What worked? What didn't?</a:t>
            </a:r>
          </a:p>
          <a:p>
            <a:r>
              <a:rPr sz="2000"/>
              <a:t>*   **Refine:** Add more detail, change the role, be more specific!</a:t>
            </a:r>
          </a:p>
          <a:p>
            <a:r>
              <a:rPr sz="2000"/>
              <a:t>*   **Image:** A pencil with an eraser, or a "before &amp; after" graphic.</a:t>
            </a:r>
          </a:p>
          <a:p/>
          <a:p>
            <a:r>
              <a:rPr sz="2000"/>
              <a:t>**Slide 16: Activity 1: Prompt Power-Up Challenge!**</a:t>
            </a:r>
          </a:p>
          <a:p>
            <a:r>
              <a:rPr sz="2000"/>
              <a:t>*   Let's practice! (Teacher-led example first)</a:t>
            </a:r>
          </a:p>
          <a:p>
            <a:r>
              <a:rPr sz="2000"/>
              <a:t>*   **Your Turn (Task 1):** You need a recipe for dinner.</a:t>
            </a:r>
          </a:p>
          <a:p>
            <a:r>
              <a:rPr sz="2000"/>
              <a:t>    *   *Basic Prompt:* "Give me a recipe."</a:t>
            </a:r>
          </a:p>
          <a:p>
            <a:r>
              <a:rPr sz="2000"/>
              <a:t>    *   *Your POWERFUL Prompt:*</a:t>
            </a:r>
          </a:p>
          <a:p>
            <a:r>
              <a:rPr sz="2000"/>
              <a:t>*   **Your Turn (Task 2):** You want to write a poem about animals.</a:t>
            </a:r>
          </a:p>
          <a:p>
            <a:r>
              <a:rPr sz="2000"/>
              <a:t>    *   *Basic Prompt:* "Write a poem about animals."</a:t>
            </a:r>
          </a:p>
          <a:p>
            <a:r>
              <a:rPr sz="2000"/>
              <a:t>    *   *Your POWERFUL Prompt:*</a:t>
            </a:r>
          </a:p>
          <a:p>
            <a:r>
              <a:rPr sz="2000"/>
              <a:t>*   **Image:** A superhero "power-up" graphic.</a:t>
            </a:r>
          </a:p>
          <a:p/>
          <a:p>
            <a:r>
              <a:rPr sz="2000"/>
              <a:t>**Slide 17: Activity 2: AI Interaction Simulation**</a:t>
            </a:r>
          </a:p>
          <a:p>
            <a:r>
              <a:rPr sz="2000"/>
              <a:t>*   **Option A (Pairs):** One is "AI," one is "User." Practice giving and responding to prompts!</a:t>
            </a:r>
          </a:p>
          <a:p>
            <a:r>
              <a:rPr sz="2000"/>
              <a:t>*   **Option B (If available):** Try your "Powerful Prompts" with an actual AI tool (e.g., specific safe chatbot).</a:t>
            </a:r>
          </a:p>
          <a:p>
            <a:r>
              <a:rPr sz="2000"/>
              <a:t>*   **Remember:** AI is a tool – always think critically!</a:t>
            </a:r>
          </a:p>
          <a:p>
            <a:r>
              <a:rPr sz="2000"/>
              <a:t>*   **Image:** Two students interacting, or a person using a tablet/computer.</a:t>
            </a:r>
          </a:p>
          <a:p/>
          <a:p>
            <a:r>
              <a:rPr sz="2000"/>
              <a:t>**Slide 18: Critical Thinking &amp; Responsible AI Use**</a:t>
            </a:r>
          </a:p>
          <a:p>
            <a:r>
              <a:rPr sz="2000"/>
              <a:t>*   AI is amazing, but it's not perfect!</a:t>
            </a:r>
          </a:p>
          <a:p>
            <a:r>
              <a:rPr sz="2000"/>
              <a:t>*   **Check Facts:** AI can sometimes make mistakes or "hallucinate."</a:t>
            </a:r>
          </a:p>
          <a:p>
            <a:r>
              <a:rPr sz="2000"/>
              <a:t>*   **Bias:** AI learns from data, which can sometimes contain biases.</a:t>
            </a:r>
          </a:p>
          <a:p>
            <a:r>
              <a:rPr sz="2000"/>
              <a:t>*   **Your Role:** Use AI ethically and thoughtfully.</a:t>
            </a:r>
          </a:p>
          <a:p>
            <a:r>
              <a:rPr sz="2000"/>
              <a:t>*   **Image:** A magnifying glass over text, a "fact check" icon.</a:t>
            </a:r>
          </a:p>
          <a:p/>
          <a:p>
            <a:r>
              <a:rPr sz="2000"/>
              <a:t>**Slide 19: Summary: Key Takeaways**</a:t>
            </a:r>
          </a:p>
          <a:p>
            <a:r>
              <a:rPr sz="2000"/>
              <a:t>*   AI is computers being smart.</a:t>
            </a:r>
          </a:p>
          <a:p>
            <a:r>
              <a:rPr sz="2000"/>
              <a:t>*   Prompt Engineering = clear communication with AI.</a:t>
            </a:r>
          </a:p>
          <a:p>
            <a:r>
              <a:rPr sz="2000"/>
              <a:t>*   Great prompts have clarity, role, context, task, format, and tone.</a:t>
            </a:r>
          </a:p>
          <a:p>
            <a:r>
              <a:rPr sz="2000"/>
              <a:t>*   Refine, refine, refine!</a:t>
            </a:r>
          </a:p>
          <a:p>
            <a:r>
              <a:rPr sz="2000"/>
              <a:t>*   **Image:** Recap icons for each point.</a:t>
            </a:r>
          </a:p>
          <a:p/>
          <a:p>
            <a:r>
              <a:rPr sz="2000"/>
              <a:t>**Slide 20: Questions &amp; Discussion**</a:t>
            </a:r>
          </a:p>
          <a:p>
            <a:r>
              <a:rPr sz="2000"/>
              <a:t>*   Any questions about AI or Prompt Engineering?</a:t>
            </a:r>
          </a:p>
          <a:p>
            <a:r>
              <a:rPr sz="2000"/>
              <a:t>*   **Image:** A large question mark.</a:t>
            </a:r>
          </a:p>
          <a:p/>
          <a:p>
            <a:r>
              <a:rPr sz="2000"/>
              <a:t>**Slide 21: Thank You!**</a:t>
            </a:r>
          </a:p>
          <a:p>
            <a:r>
              <a:rPr sz="2000"/>
              <a:t>*   You're now on your way to being AI communication experts!</a:t>
            </a:r>
          </a:p>
          <a:p>
            <a:r>
              <a:rPr sz="2000"/>
              <a:t>*   **Image:** A friendly waving robot.</a:t>
            </a:r>
          </a:p>
          <a:p/>
          <a:p>
            <a:r>
              <a:rPr sz="2000"/>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142</TotalTime>
  <Words>539</Words>
  <Application>Microsoft Office PowerPoint</Application>
  <PresentationFormat>Custom</PresentationFormat>
  <Paragraphs>66</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Helvetica World</vt:lpstr>
      <vt:lpstr>Arial</vt:lpstr>
      <vt:lpstr>Helvetica World Bold</vt:lpstr>
      <vt:lpstr>Georgia Pro Condensed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Algorithms: Searching and Sorting</dc:title>
  <dc:description>Presentation - Algorithms: Searching and Sorting</dc:description>
  <cp:lastModifiedBy>user</cp:lastModifiedBy>
  <cp:revision>3</cp:revision>
  <dcterms:created xsi:type="dcterms:W3CDTF">2006-08-16T00:00:00Z</dcterms:created>
  <dcterms:modified xsi:type="dcterms:W3CDTF">2025-11-05T12:34:16Z</dcterms:modified>
  <dc:identifier>DAG3zzhZX2A</dc:identifier>
</cp:coreProperties>
</file>