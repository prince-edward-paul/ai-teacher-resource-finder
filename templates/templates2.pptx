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Afacad Flux"/>
      <p:regular r:id="rId20"/>
      <p:bold r:id="rId21"/>
    </p:embeddedFont>
    <p:embeddedFont>
      <p:font typeface="Comfortaa"/>
      <p:regular r:id="rId22"/>
      <p:bold r:id="rId23"/>
    </p:embeddedFont>
    <p:embeddedFont>
      <p:font typeface="Afacad Flux Black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808955-BB32-4E9B-874D-4795507BB266}">
  <a:tblStyle styleId="{38808955-BB32-4E9B-874D-4795507BB26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facadFlux-regular.fntdata"/><Relationship Id="rId11" Type="http://schemas.openxmlformats.org/officeDocument/2006/relationships/slide" Target="slides/slide5.xml"/><Relationship Id="rId22" Type="http://schemas.openxmlformats.org/officeDocument/2006/relationships/font" Target="fonts/Comfortaa-regular.fntdata"/><Relationship Id="rId10" Type="http://schemas.openxmlformats.org/officeDocument/2006/relationships/slide" Target="slides/slide4.xml"/><Relationship Id="rId21" Type="http://schemas.openxmlformats.org/officeDocument/2006/relationships/font" Target="fonts/AfacadFlux-bold.fntdata"/><Relationship Id="rId13" Type="http://schemas.openxmlformats.org/officeDocument/2006/relationships/slide" Target="slides/slide7.xml"/><Relationship Id="rId24" Type="http://schemas.openxmlformats.org/officeDocument/2006/relationships/font" Target="fonts/AfacadFluxBlack-bold.fntdata"/><Relationship Id="rId12" Type="http://schemas.openxmlformats.org/officeDocument/2006/relationships/slide" Target="slides/slide6.xml"/><Relationship Id="rId23" Type="http://schemas.openxmlformats.org/officeDocument/2006/relationships/font" Target="fonts/Comforta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11" Type="http://schemas.openxmlformats.org/officeDocument/2006/relationships/image" Target="../media/image17.png"/><Relationship Id="rId10" Type="http://schemas.openxmlformats.org/officeDocument/2006/relationships/image" Target="../media/image12.png"/><Relationship Id="rId12" Type="http://schemas.openxmlformats.org/officeDocument/2006/relationships/image" Target="../media/image35.png"/><Relationship Id="rId9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6.png"/><Relationship Id="rId5" Type="http://schemas.openxmlformats.org/officeDocument/2006/relationships/image" Target="../media/image16.png"/><Relationship Id="rId6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5" Type="http://schemas.openxmlformats.org/officeDocument/2006/relationships/image" Target="../media/image32.png"/><Relationship Id="rId6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31.png"/><Relationship Id="rId5" Type="http://schemas.openxmlformats.org/officeDocument/2006/relationships/image" Target="../media/image27.png"/><Relationship Id="rId6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4837" y="4718595"/>
            <a:ext cx="3362325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266950" y="1539180"/>
            <a:ext cx="7658100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rPr>
              <a:t>🎮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075497" y="2653605"/>
            <a:ext cx="804100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Game Design </a:t>
            </a:r>
            <a:r>
              <a:rPr b="1" i="0" lang="en-US" sz="6000" u="none" cap="none" strike="noStrike">
                <a:solidFill>
                  <a:srgbClr val="F97316"/>
                </a:solidFill>
                <a:latin typeface="Comfortaa"/>
                <a:ea typeface="Comfortaa"/>
                <a:cs typeface="Comfortaa"/>
                <a:sym typeface="Comfortaa"/>
              </a:rPr>
              <a:t>Logic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66950" y="3796605"/>
            <a:ext cx="76581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4748B"/>
                </a:solidFill>
                <a:latin typeface="Afacad Flux"/>
                <a:ea typeface="Afacad Flux"/>
                <a:cs typeface="Afacad Flux"/>
                <a:sym typeface="Afacad Flux"/>
              </a:rPr>
              <a:t>Level Up Your Coding Skills!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7112" y="3088927"/>
            <a:ext cx="5057775" cy="208017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5619750" y="1688752"/>
            <a:ext cx="952500" cy="9525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95275" y="2069752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Your Mission Today...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4243387" y="3546127"/>
            <a:ext cx="40767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Understand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sequence, selection, and repetition.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243387" y="3982342"/>
            <a:ext cx="40767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Apply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logical reasoning to explain algorithms.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243387" y="4418558"/>
            <a:ext cx="40767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Design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your own game logic from scratch!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71912" y="358422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71912" y="402044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71912" y="445665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192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2224087"/>
            <a:ext cx="56007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Afacad Flux"/>
                <a:ea typeface="Afacad Flux"/>
                <a:cs typeface="Afacad Flux"/>
                <a:sym typeface="Afacad Flux"/>
              </a:rPr>
              <a:t>Think-Pair-Share 🧠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2843212"/>
            <a:ext cx="5334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Look at your favourite games like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Minecraft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or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Roblox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4702373"/>
            <a:ext cx="5334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Every action is controlled by </a:t>
            </a:r>
            <a:r>
              <a:rPr b="1" i="1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Logic</a:t>
            </a:r>
            <a:r>
              <a:rPr b="0" i="1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!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66912"/>
            <a:ext cx="5238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3346102"/>
            <a:ext cx="5334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How does the game know you've clicked?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3782317"/>
            <a:ext cx="5334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What happens if you touch lava?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4218533"/>
            <a:ext cx="5334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How does it keep track of your score?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Comfortaa"/>
                <a:ea typeface="Comfortaa"/>
                <a:cs typeface="Comfortaa"/>
                <a:sym typeface="Comfortaa"/>
              </a:rPr>
              <a:t>Starter: Inside the Game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6034"/>
            <a:ext cx="3555950" cy="2996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326034"/>
            <a:ext cx="3555950" cy="2996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326034"/>
            <a:ext cx="3556099" cy="2996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630834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876300" y="3602384"/>
            <a:ext cx="309366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Afacad Flux"/>
                <a:ea typeface="Afacad Flux"/>
                <a:cs typeface="Afacad Flux"/>
                <a:sym typeface="Afacad Flux"/>
              </a:rPr>
              <a:t>Sequence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76300" y="4221509"/>
            <a:ext cx="29463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The order that things happen.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2750" y="2630834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4622750" y="3602384"/>
            <a:ext cx="309366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Afacad Flux"/>
                <a:ea typeface="Afacad Flux"/>
                <a:cs typeface="Afacad Flux"/>
                <a:sym typeface="Afacad Flux"/>
              </a:rPr>
              <a:t>Selection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4622750" y="4221509"/>
            <a:ext cx="29463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Making choices using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IF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statements.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69200" y="2630834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8369200" y="3602384"/>
            <a:ext cx="309382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Afacad Flux"/>
                <a:ea typeface="Afacad Flux"/>
                <a:cs typeface="Afacad Flux"/>
                <a:sym typeface="Afacad Flux"/>
              </a:rPr>
              <a:t>Repetition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369200" y="4221509"/>
            <a:ext cx="2946499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Doing things over and over (</a:t>
            </a:r>
            <a:r>
              <a:rPr b="1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Loops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).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6800" y="2821334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32300" y="2821334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59700" y="2821334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Comfortaa"/>
                <a:ea typeface="Comfortaa"/>
                <a:cs typeface="Comfortaa"/>
                <a:sym typeface="Comfortaa"/>
              </a:rPr>
              <a:t>The Brain of the Game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57263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548955"/>
            <a:ext cx="533400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" y="2204888"/>
            <a:ext cx="523875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6286500" y="2426940"/>
            <a:ext cx="56007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Afacad Flux"/>
                <a:ea typeface="Afacad Flux"/>
                <a:cs typeface="Afacad Flux"/>
                <a:sym typeface="Afacad Flux"/>
              </a:rPr>
              <a:t>Role-Play Activity! 🎭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286500" y="3046065"/>
            <a:ext cx="5334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 computer follows instructions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top to bottom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286500" y="4730055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Challenge: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What happens if we swap steps 1 and 2? Does the Sprite end up in the same place?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Comfortaa"/>
                <a:ea typeface="Comfortaa"/>
                <a:cs typeface="Comfortaa"/>
                <a:sym typeface="Comfortaa"/>
              </a:rPr>
              <a:t>1. Sequence: The Order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5187" y="4618583"/>
            <a:ext cx="538162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362075"/>
            <a:ext cx="11049000" cy="49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71500" y="2639317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Selection uses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IF... THEN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statements to change the game.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Comfortaa"/>
                <a:ea typeface="Comfortaa"/>
                <a:cs typeface="Comfortaa"/>
                <a:sym typeface="Comfortaa"/>
              </a:rPr>
              <a:t>2. Selection: Decision Time!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625155"/>
            <a:ext cx="5334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571500" y="2418308"/>
            <a:ext cx="5334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22C55E"/>
                </a:solidFill>
                <a:latin typeface="Afacad Flux"/>
                <a:ea typeface="Afacad Flux"/>
                <a:cs typeface="Afacad Flux"/>
                <a:sym typeface="Afacad Flux"/>
              </a:rPr>
              <a:t>∞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71500" y="4590008"/>
            <a:ext cx="53340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Infinite Power!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286500" y="2503140"/>
            <a:ext cx="56007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Afacad Flux"/>
                <a:ea typeface="Afacad Flux"/>
                <a:cs typeface="Afacad Flux"/>
                <a:sym typeface="Afacad Flux"/>
              </a:rPr>
              <a:t>Why use Loops?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286500" y="3122265"/>
            <a:ext cx="5334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Instead of writing "Walk forward" 100 times, we just write: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286500" y="4653855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Real World: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Games use loops to constantly check if you've pressed a key or reached the finish line.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505575" y="3844230"/>
            <a:ext cx="11049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facad Flux Black"/>
                <a:ea typeface="Afacad Flux Black"/>
                <a:cs typeface="Afacad Flux Black"/>
                <a:sym typeface="Afacad Flux Black"/>
              </a:rPr>
              <a:t>REPEAT 100 times: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Comfortaa"/>
                <a:ea typeface="Comfortaa"/>
                <a:cs typeface="Comfortaa"/>
                <a:sym typeface="Comfortaa"/>
              </a:rPr>
              <a:t>3. Repetition: The Loop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3140"/>
            <a:ext cx="4953000" cy="21182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907160"/>
            <a:ext cx="177165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571500" y="571500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Comfortaa"/>
                <a:ea typeface="Comfortaa"/>
                <a:cs typeface="Comfortaa"/>
                <a:sym typeface="Comfortaa"/>
              </a:rPr>
              <a:t>The Logic Doctor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1381125"/>
            <a:ext cx="52006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Afacad Flux"/>
                <a:ea typeface="Afacad Flux"/>
                <a:cs typeface="Afacad Flux"/>
                <a:sym typeface="Afacad Flux"/>
              </a:rPr>
              <a:t>Fix the Glitch! 🛠️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2000250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Debugging is finding and fixing errors in your logic.</a:t>
            </a:r>
            <a:endParaRPr/>
          </a:p>
        </p:txBody>
      </p:sp>
      <p:pic>
        <p:nvPicPr>
          <p:cNvPr descr="image.png" id="182" name="Google Shape;18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876300" y="3017490"/>
            <a:ext cx="43434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The Bug: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"Every time my player jumps, the game ends."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876300" y="3813720"/>
            <a:ext cx="43434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F4444"/>
                </a:solidFill>
                <a:latin typeface="Afacad Flux"/>
                <a:ea typeface="Afacad Flux"/>
                <a:cs typeface="Afacad Flux"/>
                <a:sym typeface="Afacad Flux"/>
              </a:rPr>
              <a:t>Why is this happening? Talk to your partner!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571500" y="2062162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Can you fill in the missing logic for these game actions?</a:t>
            </a:r>
            <a:endParaRPr/>
          </a:p>
        </p:txBody>
      </p:sp>
      <p:graphicFrame>
        <p:nvGraphicFramePr>
          <p:cNvPr id="191" name="Google Shape;191;p21"/>
          <p:cNvGraphicFramePr/>
          <p:nvPr/>
        </p:nvGraphicFramePr>
        <p:xfrm>
          <a:off x="571500" y="25650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{38808955-BB32-4E9B-874D-4795507BB266}</a:tableStyleId>
              </a:tblPr>
              <a:tblGrid>
                <a:gridCol w="4136975"/>
                <a:gridCol w="3245650"/>
                <a:gridCol w="3666375"/>
              </a:tblGrid>
              <a:tr h="80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Input / Condition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Logic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Action / Outcome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</a:tr>
              <a:tr h="8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Player collects 10 coins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Selection (IF)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Level Up!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Enemy touches player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Selection (IF)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Lose 1 Life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Game is running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Repetition (Loop)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Update Background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192;p21"/>
          <p:cNvSpPr/>
          <p:nvPr/>
        </p:nvSpPr>
        <p:spPr>
          <a:xfrm>
            <a:off x="571500" y="4113758"/>
            <a:ext cx="4136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571500" y="3429892"/>
            <a:ext cx="4136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71500" y="3429892"/>
            <a:ext cx="9525" cy="69339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4708475" y="4113758"/>
            <a:ext cx="32456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4708475" y="3429892"/>
            <a:ext cx="32456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7954119" y="4113758"/>
            <a:ext cx="3666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7954119" y="3429892"/>
            <a:ext cx="3666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11610975" y="3429892"/>
            <a:ext cx="9525" cy="69339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71500" y="4902398"/>
            <a:ext cx="4136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571500" y="4218533"/>
            <a:ext cx="4136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71500" y="4218533"/>
            <a:ext cx="9525" cy="69339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4708475" y="4902398"/>
            <a:ext cx="32456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4708475" y="4218533"/>
            <a:ext cx="32456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7954119" y="4902398"/>
            <a:ext cx="3666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7954119" y="4218533"/>
            <a:ext cx="3666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11610975" y="4218533"/>
            <a:ext cx="9525" cy="69339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71500" y="5691038"/>
            <a:ext cx="4136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571500" y="5007173"/>
            <a:ext cx="4136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71500" y="5007173"/>
            <a:ext cx="9525" cy="69339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4708475" y="5691038"/>
            <a:ext cx="32456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4708475" y="5007173"/>
            <a:ext cx="32456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7954119" y="5691038"/>
            <a:ext cx="3666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7954119" y="5007173"/>
            <a:ext cx="3666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11610975" y="5007173"/>
            <a:ext cx="9525" cy="69339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Comfortaa"/>
                <a:ea typeface="Comfortaa"/>
                <a:cs typeface="Comfortaa"/>
                <a:sym typeface="Comfortaa"/>
              </a:rPr>
              <a:t>Mini Coding Challenge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6440"/>
            <a:ext cx="3587650" cy="2386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2025" y="2236440"/>
            <a:ext cx="3587799" cy="2386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700" y="2236440"/>
            <a:ext cx="3587650" cy="238690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571500" y="4909095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Unplugged Task: Use paper &amp; pencils to draw your logic flow!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876300" y="2903190"/>
            <a:ext cx="312695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C55E"/>
                </a:solidFill>
                <a:latin typeface="Afacad Flux"/>
                <a:ea typeface="Afacad Flux"/>
                <a:cs typeface="Afacad Flux"/>
                <a:sym typeface="Afacad Flux"/>
              </a:rPr>
              <a:t>Support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876300" y="3522315"/>
            <a:ext cx="29780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Draw a flowchart for a simple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Clicker Game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4606825" y="2903190"/>
            <a:ext cx="3127109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Afacad Flux"/>
                <a:ea typeface="Afacad Flux"/>
                <a:cs typeface="Afacad Flux"/>
                <a:sym typeface="Afacad Flux"/>
              </a:rPr>
              <a:t>Core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4606825" y="3522315"/>
            <a:ext cx="2978199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Plan a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Platformer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using Sequence and Selection.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8337500" y="2903190"/>
            <a:ext cx="312695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7316"/>
                </a:solidFill>
                <a:latin typeface="Afacad Flux"/>
                <a:ea typeface="Afacad Flux"/>
                <a:cs typeface="Afacad Flux"/>
                <a:sym typeface="Afacad Flux"/>
              </a:rPr>
              <a:t>Challenge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8337500" y="3522315"/>
            <a:ext cx="29780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Design a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Boss Battle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using Loops and Variables.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Comfortaa"/>
                <a:ea typeface="Comfortaa"/>
                <a:cs typeface="Comfortaa"/>
                <a:sym typeface="Comfortaa"/>
              </a:rPr>
              <a:t>Project Alpha: Design Your Game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78609"/>
            <a:ext cx="5334000" cy="23297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878609"/>
            <a:ext cx="5334000" cy="23297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440209"/>
            <a:ext cx="11049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571500" y="2583209"/>
            <a:ext cx="11049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"Two Stars and a Wish"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758189" y="4488209"/>
            <a:ext cx="496062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Afacad Flux"/>
                <a:ea typeface="Afacad Flux"/>
                <a:cs typeface="Afacad Flux"/>
                <a:sym typeface="Afacad Flux"/>
              </a:rPr>
              <a:t>⭐⭐ Stars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876300" y="5107334"/>
            <a:ext cx="47244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What are two things you LOVE about their logic design?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6473189" y="4488209"/>
            <a:ext cx="496062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Afacad Flux"/>
                <a:ea typeface="Afacad Flux"/>
                <a:cs typeface="Afacad Flux"/>
                <a:sym typeface="Afacad Flux"/>
              </a:rPr>
              <a:t>🧞 Wish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6591300" y="5107334"/>
            <a:ext cx="47244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What is one thing they could add to make it even better?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Comfortaa"/>
                <a:ea typeface="Comfortaa"/>
                <a:cs typeface="Comfortaa"/>
                <a:sym typeface="Comfortaa"/>
              </a:rPr>
              <a:t>Level Up with Feedback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5712" y="2243137"/>
            <a:ext cx="4600575" cy="3295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295275" y="1319212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Game Over? Level Up!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4000738" y="2852737"/>
            <a:ext cx="419052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Afacad Flux"/>
                <a:ea typeface="Afacad Flux"/>
                <a:cs typeface="Afacad Flux"/>
                <a:sym typeface="Afacad Flux"/>
              </a:rPr>
              <a:t>Exit Ticket Check-In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4100512" y="3471862"/>
            <a:ext cx="39909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1. Can you explain what a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Loop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does?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2. Can you give an example of an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IF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statement?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4100512" y="4268092"/>
            <a:ext cx="39909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rPr>
              <a:t>🤩 😐 🧐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4100512" y="4868167"/>
            <a:ext cx="39909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(Choose an emoji to show how you feel about your learning!)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/>
          <p:nvPr/>
        </p:nvSpPr>
        <p:spPr>
          <a:xfrm>
            <a:off x="571500" y="26717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34432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34337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71500" y="34337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71500" y="42052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71500" y="42052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9" name="Google Shape;26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146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1666875" y="283562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https://images.pushsquare.com/4627ac878d257/large.jpg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1666875" y="305648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www.pushsquare.com</a:t>
            </a:r>
            <a:endParaRPr/>
          </a:p>
        </p:txBody>
      </p:sp>
      <p:pic>
        <p:nvPicPr>
          <p:cNvPr descr="image.png" id="272" name="Google Shape;27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861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1666875" y="360714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https://img.craftpix.net/2023/07/Side-Scroll-Character-Sprites2.webp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1666875" y="382800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craftpix.net</a:t>
            </a:r>
            <a:endParaRPr/>
          </a:p>
        </p:txBody>
      </p:sp>
      <p:pic>
        <p:nvPicPr>
          <p:cNvPr descr="image.png" id="275" name="Google Shape;27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576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1666875" y="437867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https://mediaproxy.tvtropes.org/width/1200/https://static.tvtropes.org/pmwiki/pub/images/some_things_just_should_not_be_by_spookydoom_d2lrq42_375w_2x.jpg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1666875" y="459953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tvtropes.org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Comfortaa"/>
                <a:ea typeface="Comfortaa"/>
                <a:cs typeface="Comfortaa"/>
                <a:sym typeface="Comfortaa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