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Afacad Flux Medium" panose="020B060402020202020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omfortaa" panose="020B0604020202020204" charset="0"/>
      <p:regular r:id="rId24"/>
      <p:bold r:id="rId25"/>
    </p:embeddedFont>
    <p:embeddedFont>
      <p:font typeface="Afacad Flux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FD0ABF-F9C0-48C7-8530-A19F58C1B93C}">
  <a:tblStyle styleId="{1AFD0ABF-F9C0-48C7-8530-A19F58C1B9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08952" y="1881206"/>
            <a:ext cx="10457233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Intro to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 smtClean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Programming Concepts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950139" y="4108705"/>
            <a:ext cx="5400675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tx1"/>
                </a:solidFill>
                <a:latin typeface="Afacad Flux"/>
                <a:ea typeface="Afacad Flux"/>
                <a:cs typeface="Afacad Flux"/>
                <a:sym typeface="Afacad Flux"/>
              </a:rPr>
              <a:t>Creating the Future, One Step at a Time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6899" y="732532"/>
            <a:ext cx="8382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2435572"/>
            <a:ext cx="3441650" cy="272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5100" y="2435572"/>
            <a:ext cx="3441650" cy="272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2500" y="2435572"/>
            <a:ext cx="3441650" cy="27202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343322" y="3645247"/>
            <a:ext cx="2050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Understand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28700" y="4073872"/>
            <a:ext cx="2679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What exactly is a computer program?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460771" y="3645247"/>
            <a:ext cx="127015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Identify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56100" y="4073872"/>
            <a:ext cx="2679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Find programs in your everyday life.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253180" y="3645247"/>
            <a:ext cx="114014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Create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83500" y="4073872"/>
            <a:ext cx="2679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Start coding in Scratch confidently!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30325" y="287372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287372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6551" y="287372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Our Learning Roadmap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90712"/>
            <a:ext cx="52578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47700" y="2823269"/>
            <a:ext cx="552069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Recipe Analogy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47700" y="3251894"/>
            <a:ext cx="5257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Think of a computer program like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recipe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for a pizza.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7700" y="3659534"/>
            <a:ext cx="5257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It is a specific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sequence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of instructions that a computer follows to get a job done.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7700" y="4360515"/>
            <a:ext cx="5257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Without the recipe, the computer has no idea what to do!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90712"/>
            <a:ext cx="52578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What is a Program?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1890712"/>
            <a:ext cx="35052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3400" y="1890712"/>
            <a:ext cx="35052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9100" y="1890712"/>
            <a:ext cx="35052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8700" y="4428232"/>
            <a:ext cx="2743200" cy="77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851582" y="3645247"/>
            <a:ext cx="18802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Smart Tech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8420100" y="4073872"/>
            <a:ext cx="27432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Cars, Traffic Lights, &amp; Spacecraft!</a:t>
            </a:r>
            <a:endParaRPr dirty="0"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3575" y="287372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Programs are Everywhere!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745173" y="4428233"/>
            <a:ext cx="2701654" cy="8382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928681" y="4470573"/>
            <a:ext cx="233463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smtClean="0">
                <a:latin typeface="Afacad Flux" panose="020B0604020202020204" charset="0"/>
                <a:cs typeface="Afacad Flux" panose="020B0604020202020204" charset="0"/>
              </a:rPr>
              <a:t>Entertainment</a:t>
            </a:r>
          </a:p>
          <a:p>
            <a:pPr algn="ctr"/>
            <a:endParaRPr lang="en-US" sz="300" dirty="0">
              <a:latin typeface="Afacad Flux" panose="020B0604020202020204" charset="0"/>
              <a:cs typeface="Afacad Flux" panose="020B0604020202020204" charset="0"/>
            </a:endParaRPr>
          </a:p>
          <a:p>
            <a:pPr algn="ctr"/>
            <a:r>
              <a:rPr lang="en-US" sz="1800" dirty="0" smtClean="0">
                <a:latin typeface="Afacad Flux" panose="020B0604020202020204" charset="0"/>
                <a:cs typeface="Afacad Flux" panose="020B0604020202020204" charset="0"/>
              </a:rPr>
              <a:t>Games &amp; Apps</a:t>
            </a:r>
            <a:endParaRPr lang="en-US" sz="1800" dirty="0">
              <a:latin typeface="Afacad Flux" panose="020B0604020202020204" charset="0"/>
              <a:cs typeface="Afacad Flux" panose="020B0604020202020204" charset="0"/>
            </a:endParaRPr>
          </a:p>
        </p:txBody>
      </p:sp>
      <p:pic>
        <p:nvPicPr>
          <p:cNvPr id="4" name="Picture 3" descr="Hill Climb Racing - Best iPhone Android Wphone Games and Apps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26085" y="2109898"/>
            <a:ext cx="3339830" cy="2003898"/>
          </a:xfrm>
          <a:prstGeom prst="rect">
            <a:avLst/>
          </a:prstGeom>
        </p:spPr>
      </p:pic>
      <p:pic>
        <p:nvPicPr>
          <p:cNvPr id="5" name="Picture 4" descr="Home Appliance Image Free Clipart HD Transparent HQ PNG Download ...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51" y="2148309"/>
            <a:ext cx="2812408" cy="21093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2684115"/>
            <a:ext cx="5257800" cy="2223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84115"/>
            <a:ext cx="5257800" cy="222304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047750" y="308416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Problem Solving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47750" y="3512790"/>
            <a:ext cx="44577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Programming allows us to solve massive problems, like calculating trajectories to Mars or helping doctors diagnose diseases faster.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86550" y="308416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Creative Expression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86550" y="3512790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It's an art form! You can build worlds, tell stories, and create interactive music that never existed before.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Why do we Program?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1028700" y="2005012"/>
            <a:ext cx="10515600" cy="695325"/>
          </a:xfrm>
          <a:prstGeom prst="roundRect">
            <a:avLst>
              <a:gd name="adj" fmla="val 27397"/>
            </a:avLst>
          </a:prstGeom>
          <a:solidFill>
            <a:srgbClr val="FD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1743075" y="2195512"/>
            <a:ext cx="9610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Pick a Robot: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One person is the "Robot", the other is the "Programmer".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1028700" y="2005012"/>
            <a:ext cx="76200" cy="6953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028700" y="2938462"/>
            <a:ext cx="10515600" cy="695325"/>
          </a:xfrm>
          <a:prstGeom prst="roundRect">
            <a:avLst>
              <a:gd name="adj" fmla="val 27397"/>
            </a:avLst>
          </a:prstGeom>
          <a:solidFill>
            <a:srgbClr val="FD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676400" y="3128962"/>
            <a:ext cx="9677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Guide the Robot to pick up a pen and draw a square.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1028700" y="2938462"/>
            <a:ext cx="76200" cy="6953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028700" y="3871912"/>
            <a:ext cx="10515600" cy="695325"/>
          </a:xfrm>
          <a:prstGeom prst="roundRect">
            <a:avLst>
              <a:gd name="adj" fmla="val 27397"/>
            </a:avLst>
          </a:prstGeom>
          <a:solidFill>
            <a:srgbClr val="FD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676400" y="4062412"/>
            <a:ext cx="9677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Rule: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The Robot only understands basic commands: "Step forward", "Turn 90°", "Lower arm".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1028700" y="3871912"/>
            <a:ext cx="76200" cy="6953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028700" y="4805362"/>
            <a:ext cx="10515600" cy="695325"/>
          </a:xfrm>
          <a:prstGeom prst="roundRect">
            <a:avLst>
              <a:gd name="adj" fmla="val 27397"/>
            </a:avLst>
          </a:prstGeom>
          <a:solidFill>
            <a:srgbClr val="FD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609725" y="4995862"/>
            <a:ext cx="97440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Reflection: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Was it harder than it looks? Why?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028700" y="4805362"/>
            <a:ext cx="76200" cy="6953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223837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31718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400" y="41052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95400" y="5038725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Activity: The "Human Robot"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47700" y="2733675"/>
            <a:ext cx="5257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100%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47700" y="4448175"/>
            <a:ext cx="52578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Literal Interpretation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286500" y="2880419"/>
            <a:ext cx="552069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Precision is Key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286500" y="3309044"/>
            <a:ext cx="5257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Computers don't "guess" what you mean. They do exactly what you tell them, even if it's a mistake!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286500" y="4010025"/>
            <a:ext cx="5257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If you tell a robot to "Walk through the door" without saying "Open it first", it will bump into it!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Computers are... Dumb?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>
            <a:off x="5619750" y="2923282"/>
            <a:ext cx="952500" cy="76200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70821" y="3285232"/>
            <a:ext cx="285035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Language of Code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4738687" y="3732907"/>
            <a:ext cx="27146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How we talk to machines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1381125"/>
            <a:ext cx="108966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647700" y="4306192"/>
            <a:ext cx="108966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 start with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Scratch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because blocks help us focus on logic without worrying about spelling mistakes!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Block vs. Text Languages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838200" y="647700"/>
            <a:ext cx="492061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Scratch Lab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76200"/>
            <a:ext cx="6019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647700" y="2899469"/>
            <a:ext cx="512064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Explore the Environment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47700" y="3328094"/>
            <a:ext cx="4876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1.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Stage: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Where the magic happens!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47700" y="3735734"/>
            <a:ext cx="4876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2.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Blocks Palette: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Your toolbox of commands.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47700" y="4143375"/>
            <a:ext cx="4876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3.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Scripts Area: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Drag and snap your blocks here to build your program.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189071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950" y="1985962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4838700" y="2880419"/>
            <a:ext cx="704088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What is a Sprite?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838700" y="3309044"/>
            <a:ext cx="67056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In programming,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Sprite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is any object or character that can be controlled by code.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4838700" y="4010025"/>
            <a:ext cx="67056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Scratch Cat is our first sprite. We can make him move, dance, change color, or even talk using the blocks!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Meet your Character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/>
          <p:nvPr/>
        </p:nvSpPr>
        <p:spPr>
          <a:xfrm>
            <a:off x="647700" y="3795563"/>
            <a:ext cx="10896600" cy="57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1703337" y="341560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BC84EE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587770" y="3891855"/>
            <a:ext cx="251703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1. Think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47700" y="4244280"/>
            <a:ext cx="239717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Plan your steps.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4536430" y="341560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823A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3420862" y="3891855"/>
            <a:ext cx="251703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2. Code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3480792" y="4244280"/>
            <a:ext cx="239717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Snap the blocks.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7369522" y="341560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CFD8B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6253955" y="3891855"/>
            <a:ext cx="251703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3. Test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6313884" y="4244280"/>
            <a:ext cx="239717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Click the Green Flag!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10202614" y="341560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9087047" y="3891855"/>
            <a:ext cx="251703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C84EE"/>
                </a:solidFill>
                <a:latin typeface="Comfortaa"/>
                <a:ea typeface="Comfortaa"/>
                <a:cs typeface="Comfortaa"/>
                <a:sym typeface="Comfortaa"/>
              </a:rPr>
              <a:t>4. Debug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9146976" y="4244280"/>
            <a:ext cx="239717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Fix any errors.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Programmer's Cycle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028700" y="2099369"/>
            <a:ext cx="10134600" cy="172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"Programming is 10% writing code and 90% figuring out why it doesn't work." </a:t>
            </a:r>
            <a:r>
              <a:rPr lang="en-US" sz="3750" b="0" i="0" u="none" strike="noStrike" cap="non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— Every Programmer Ever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457200" y="1242119"/>
            <a:ext cx="400050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0" i="0" u="none" strike="noStrike" cap="non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“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028700" y="3528119"/>
            <a:ext cx="1013460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— Every Programmer Ever</a:t>
            </a:r>
            <a:endParaRPr/>
          </a:p>
        </p:txBody>
      </p:sp>
      <p:pic>
        <p:nvPicPr>
          <p:cNvPr id="252" name="Google Shape;25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4437" y="4396680"/>
            <a:ext cx="21431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Mistakes are Good!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26"/>
          <p:cNvGraphicFramePr/>
          <p:nvPr/>
        </p:nvGraphicFramePr>
        <p:xfrm>
          <a:off x="647700" y="1824037"/>
          <a:ext cx="10896600" cy="3943250"/>
        </p:xfrm>
        <a:graphic>
          <a:graphicData uri="http://schemas.openxmlformats.org/drawingml/2006/table">
            <a:tbl>
              <a:tblPr firstRow="1" bandRow="1">
                <a:noFill/>
                <a:tableStyleId>{1AFD0ABF-F9C0-48C7-8530-A19F58C1B93C}</a:tableStyleId>
              </a:tblPr>
              <a:tblGrid>
                <a:gridCol w="238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Term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What it means...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A step-by-step set of instructions.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Program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An algorithm that a computer can understand.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Debug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To find and fix errors in your code.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Sequence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The order in which instructions are followed.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1" name="Google Shape;261;p26"/>
          <p:cNvSpPr txBox="1"/>
          <p:nvPr/>
        </p:nvSpPr>
        <p:spPr>
          <a:xfrm>
            <a:off x="838200" y="647700"/>
            <a:ext cx="1124140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Quick Knowledge Check</a:t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647700" y="647700"/>
            <a:ext cx="95250" cy="44767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6800" y="4649092"/>
            <a:ext cx="24384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7"/>
          <p:cNvSpPr txBox="1"/>
          <p:nvPr/>
        </p:nvSpPr>
        <p:spPr>
          <a:xfrm>
            <a:off x="4315777" y="3332857"/>
            <a:ext cx="35604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Any Questions?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4400550" y="3780532"/>
            <a:ext cx="33909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Ready to create your first script?</a:t>
            </a:r>
            <a:endParaRPr/>
          </a:p>
        </p:txBody>
      </p:sp>
      <p:pic>
        <p:nvPicPr>
          <p:cNvPr id="271" name="Google Shape;27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1625" y="1665982"/>
            <a:ext cx="142875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Widescreen</PresentationFormat>
  <Paragraphs>75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Afacad Flux Medium</vt:lpstr>
      <vt:lpstr>Calibri</vt:lpstr>
      <vt:lpstr>Comfortaa</vt:lpstr>
      <vt:lpstr>Afacad Flux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1</cp:revision>
  <dcterms:modified xsi:type="dcterms:W3CDTF">2026-01-28T21:59:29Z</dcterms:modified>
</cp:coreProperties>
</file>